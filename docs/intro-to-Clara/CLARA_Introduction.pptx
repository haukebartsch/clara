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161cd8d-cf40-1008-ce28-e66f51b172d6}">
          <p14:sldIdLst>
            <p14:sldId id="256"/>
          </p14:sldIdLst>
        </p14:section>
        <p14:section name="Why a new foundation" id="{6b43fe07-1343-f93d-1a28-a91cb5b15d1b}">
          <p14:sldIdLst>
            <p14:sldId id="257"/>
            <p14:sldId id="258"/>
            <p14:sldId id="259"/>
            <p14:sldId id="260"/>
          </p14:sldIdLst>
        </p14:section>
        <p14:section name="The silent partner" id="{d365b883-2434-5fb4-e1db-2b6de2b41a57}">
          <p14:sldIdLst>
            <p14:sldId id="261"/>
            <p14:sldId id="262"/>
            <p14:sldId id="263"/>
            <p14:sldId id="264"/>
          </p14:sldIdLst>
        </p14:section>
        <p14:section name="The web interface" id="{8debefe6-e899-da64-f89f-219fdf8b2f3a}">
          <p14:sldIdLst>
            <p14:sldId id="265"/>
            <p14:sldId id="266"/>
            <p14:sldId id="267"/>
            <p14:sldId id="268"/>
            <p14:sldId id="269"/>
            <p14:sldId id="270"/>
            <p14:sldId id="271"/>
            <p14:sldId id="272"/>
          </p14:sldIdLst>
        </p14:section>
        <p14:section name="Signing in and permissions" id="{42ba51bc-51e1-51b2-a756-2b7509ea3c0c}">
          <p14:sldIdLst>
            <p14:sldId id="273"/>
            <p14:sldId id="274"/>
            <p14:sldId id="275"/>
            <p14:sldId id="276"/>
          </p14:sldIdLst>
        </p14:section>
        <p14:section name="Summary" id="{fe5b1bae-73c8-aee2-cdf6-a60ab407e303}">
          <p14:sldIdLst>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CLARA is a logbook for clinical research data — the name comes from a lighthouse logbook. This talk explains why we built it, what it does silently for FIONA, and what study teams see in the browser. The screenshots are from a demo installation as it looks on an iPad.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part: the problem. FIONA works today; what changes is that it should serve several hospitals.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FIONA is the research information system for radiology. It receives DICOM studies from the hospital archive (PACS), registers them, and on request anonymizes them and sends them to a research project. All of FIONA's bookkeeping sits behind the REDCap API — that is the part CLARA takes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from one hospital to several changes the requirements: people from different hospitals log in differently, data must stay separated, the system must live inside the hospital network, and everything must be traceable. FIONA itself should not have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FIONA uses seven kinds of REDCap API request: project, metadata, event, formEventMapping, exportFieldNames, generateNextRecordName and record (export, import, delete). CLARA answers all of them the REDCap way, so FIONA only needs a new address and token. Reading and writing records is the busiest of the 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part: the API. Nobody sees it, but FIONA talks to it all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demo, the 'FIONA Data Transfer Registry' project is built from FIONA's real data dictionaries: incoming studies, their series, and transfer requests. FIONA fills these forms through the API; people can look at them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transfers form explains itself: a transfer starts once a date and a target project are filled in. FIONA's background process picks it up within 5 to 10 minutes, anonymizes and sends the study, and writes the transfer date back. The fields FIONA fills are read-only for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API call carries a personal project key (token) that can be rotated. Values are validated before they are stored, every change is written to an audit trail, and the whole API is documented in the Control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part: what people see. Organized by theme, not by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following slides take these six themes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signing in, people see only their own projects. Each project has a mode: in Development everything can change; in Production design changes are staged and checked; in Analysis data entry stops and only viewing and export remain. Only system administrators change the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defines the study's visits (events) and forms (instruments); Design edits the fields. Existing REDCap dictionaries import directly — the demo projects were created this way. Branching logic hides questions that do not apply; repeating forms can be filled several times per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shows each participant with a status dot per form: no data, some data, finished. Opening a form shows its fields; the small button next to each field shows its history — who entered which value and when. A form marked as survey can be filled by a participant through a personal link, without logging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person may export is part of their role. The export page shows which level applies before downloading. De-identified exports remove direct identifiers, hash personal fields and shift dates. Every download is written to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Administrators work in the Control Panel. The audit trail records every change and every view of a record, can be filtered by project, user, event and date, and exported. User accounts can carry an end date and are disabled automatically after a period without sign-in until an administrator enables them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Training page holds short illustrated guides; new guides are just folders of pictures and text. The interface is translated into Bokmål and Nynorsk; administrators can update translations with a spreadsheet.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part: how people get in, and what they may do once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signing in, people choose a name such as 'Hospital 1' or 'Hospital 2'. Behind each name the administrator connects one or more sign-in services: the hospital's single sign-on (OAuth2 / OpenID Connect), its directory (LDAP or LDAPS), or local CLARA accounts. Passwords are only sent to the services behind the chosen name, all at once; the first that says yes wins. In the demo, 'Local' stands for CLARA's own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in: the hospital's single sign-on, the hospital's directory, or a CLARA account. Two-factor sign-in (authenticator app or e-mail code) protects the directory and CLARA-account logins; single sign-on uses the hospital's own second factor. The numbers shown are the defaults; the session times and the inactivity limit can be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role is a named set of permissions inside one project, for example data-entry or controller. For every form and visit it sets a data access level and an export level, plus two extra rights: deleting a form's values and editing collected surveys. Members without a role have full rights in that project. Data access groups let several sites share one project without seeing each other's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FIONA continues unchanged on a foundation built for several hospitals; each hospital signs in its own way; study teams get a complete, auditable data capture tool. The next steps are taken from the open items in VISION_AND_REQUIREMENTS.md.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ARA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600" b="1" dirty="0">
                <a:solidFill>
                  <a:srgbClr val="0B2239"/>
                </a:solidFill>
                <a:latin typeface="Avenir Next" pitchFamily="34" charset="0"/>
                <a:ea typeface="Avenir Next" pitchFamily="34" charset="-122"/>
                <a:cs typeface="Avenir Next" pitchFamily="34" charset="-120"/>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A"/>
                </a:solidFill>
                <a:latin typeface="Helvetica Neue" pitchFamily="34" charset="0"/>
                <a:ea typeface="Helvetica Neue" pitchFamily="34" charset="-122"/>
                <a:cs typeface="Helvetica Neue" pitchFamily="34" charset="-120"/>
              </a:rPr>
              <a:t>CLARA · Introduction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Helvetica Neue"/>
                <a:ea typeface="Helvetica Neue"/>
                <a:cs typeface="Helvetica Neue"/>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ARA_DARK">
    <p:bg>
      <p:bgPr>
        <a:solidFill>
          <a:srgbClr val="0B2239"/>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ARA_SECTION">
    <p:bg>
      <p:bgPr>
        <a:solidFill>
          <a:srgbClr val="0B223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BA"/>
                </a:solidFill>
                <a:latin typeface="Helvetica Neue"/>
                <a:ea typeface="Helvetica Neue"/>
                <a:cs typeface="Helvetica Neue"/>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Helvetica Neue"/>
                <a:ea typeface="Helvetica Neue"/>
                <a:cs typeface="Helvetica Neue"/>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2.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2.png"/><Relationship Id="rId4" Type="http://schemas.openxmlformats.org/officeDocument/2006/relationships/image" Target="../media/image-19-2.png"/><Relationship Id="rId5" Type="http://schemas.openxmlformats.org/officeDocument/2006/relationships/image" Target="../media/image-19-2.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2.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building-lighthouse"/>
          <p:cNvSpPr/>
          <p:nvPr/>
        </p:nvSpPr>
        <p:spPr>
          <a:xfrm>
            <a:off x="731520" y="1097280"/>
            <a:ext cx="868680" cy="868680"/>
          </a:xfrm>
          <a:prstGeom prst="ellipse">
            <a:avLst/>
          </a:prstGeom>
          <a:solidFill>
            <a:srgbClr val="F2A93B"/>
          </a:solidFill>
          <a:ln w="12700">
            <a:solidFill>
              <a:srgbClr val="F2A93B"/>
            </a:solidFill>
            <a:prstDash val="solid"/>
          </a:ln>
        </p:spPr>
      </p:sp>
      <p:pic>
        <p:nvPicPr>
          <p:cNvPr id="3" name="Image 0" descr="building lighthouse">    </p:cNvPr>
          <p:cNvPicPr>
            <a:picLocks noChangeAspect="1"/>
          </p:cNvPicPr>
          <p:nvPr/>
        </p:nvPicPr>
        <p:blipFill>
          <a:blip r:embed="rId1"/>
          <a:stretch>
            <a:fillRect/>
          </a:stretch>
        </p:blipFill>
        <p:spPr>
          <a:xfrm>
            <a:off x="922630" y="1288390"/>
            <a:ext cx="486461" cy="486461"/>
          </a:xfrm>
          <a:prstGeom prst="rect">
            <a:avLst/>
          </a:prstGeom>
        </p:spPr>
      </p:pic>
      <p:sp>
        <p:nvSpPr>
          <p:cNvPr id="4" name="Text 1"/>
          <p:cNvSpPr txBox="1"/>
          <p:nvPr/>
        </p:nvSpPr>
        <p:spPr>
          <a:xfrm>
            <a:off x="731520" y="2103120"/>
            <a:ext cx="5669280" cy="1051560"/>
          </a:xfrm>
          <a:prstGeom prst="rect">
            <a:avLst/>
          </a:prstGeom>
          <a:noFill/>
          <a:ln/>
        </p:spPr>
        <p:txBody>
          <a:bodyPr wrap="square" lIns="0" tIns="0" rIns="0" bIns="0" rtlCol="0" anchor="ctr"/>
          <a:lstStyle/>
          <a:p>
            <a:pPr indent="0" marL="0">
              <a:buNone/>
            </a:pPr>
            <a:r>
              <a:rPr lang="en-US" sz="6600" b="1" dirty="0">
                <a:solidFill>
                  <a:srgbClr val="FFFFFF"/>
                </a:solidFill>
                <a:latin typeface="Avenir Next" pitchFamily="34" charset="0"/>
                <a:ea typeface="Avenir Next" pitchFamily="34" charset="-122"/>
                <a:cs typeface="Avenir Next" pitchFamily="34" charset="-120"/>
              </a:rPr>
              <a:t>CLARA</a:t>
            </a:r>
            <a:endParaRPr lang="en-US" sz="6600" dirty="0"/>
          </a:p>
        </p:txBody>
      </p:sp>
      <p:sp>
        <p:nvSpPr>
          <p:cNvPr id="5" name="Text 2"/>
          <p:cNvSpPr txBox="1"/>
          <p:nvPr/>
        </p:nvSpPr>
        <p:spPr>
          <a:xfrm>
            <a:off x="731520" y="3200400"/>
            <a:ext cx="5669280" cy="411480"/>
          </a:xfrm>
          <a:prstGeom prst="rect">
            <a:avLst/>
          </a:prstGeom>
          <a:noFill/>
          <a:ln/>
        </p:spPr>
        <p:txBody>
          <a:bodyPr wrap="square" lIns="0" tIns="0" rIns="0" bIns="0" rtlCol="0" anchor="t"/>
          <a:lstStyle/>
          <a:p>
            <a:pPr indent="0" marL="0">
              <a:buNone/>
            </a:pPr>
            <a:r>
              <a:rPr lang="en-US" sz="1800" dirty="0">
                <a:solidFill>
                  <a:srgbClr val="F2A93B"/>
                </a:solidFill>
                <a:latin typeface="Helvetica Neue" pitchFamily="34" charset="0"/>
                <a:ea typeface="Helvetica Neue" pitchFamily="34" charset="-122"/>
                <a:cs typeface="Helvetica Neue" pitchFamily="34" charset="-120"/>
              </a:rPr>
              <a:t>Clinical Logbook for Automated Research Assistance</a:t>
            </a:r>
            <a:endParaRPr lang="en-US" sz="1800" dirty="0"/>
          </a:p>
        </p:txBody>
      </p:sp>
      <p:sp>
        <p:nvSpPr>
          <p:cNvPr id="6" name="Text 3"/>
          <p:cNvSpPr txBox="1"/>
          <p:nvPr/>
        </p:nvSpPr>
        <p:spPr>
          <a:xfrm>
            <a:off x="731520" y="3794760"/>
            <a:ext cx="5486400" cy="914400"/>
          </a:xfrm>
          <a:prstGeom prst="rect">
            <a:avLst/>
          </a:prstGeom>
          <a:noFill/>
          <a:ln/>
        </p:spPr>
        <p:txBody>
          <a:bodyPr wrap="square" lIns="0" tIns="0" rIns="0" bIns="0" rtlCol="0" anchor="t"/>
          <a:lstStyle/>
          <a:p>
            <a:pPr indent="0" marL="0">
              <a:buNone/>
            </a:pPr>
            <a:r>
              <a:rPr lang="en-US" sz="2200" dirty="0">
                <a:solidFill>
                  <a:srgbClr val="D6E2EC"/>
                </a:solidFill>
                <a:latin typeface="Helvetica Neue" pitchFamily="34" charset="0"/>
                <a:ea typeface="Helvetica Neue" pitchFamily="34" charset="-122"/>
                <a:cs typeface="Helvetica Neue" pitchFamily="34" charset="-120"/>
              </a:rPr>
              <a:t>A new foundation for FIONA's research imaging — ready for many hospitals</a:t>
            </a:r>
            <a:endParaRPr lang="en-US" sz="2200" dirty="0"/>
          </a:p>
        </p:txBody>
      </p:sp>
      <p:sp>
        <p:nvSpPr>
          <p:cNvPr id="7" name="Text 4"/>
          <p:cNvSpPr txBox="1"/>
          <p:nvPr/>
        </p:nvSpPr>
        <p:spPr>
          <a:xfrm>
            <a:off x="731520" y="5989320"/>
            <a:ext cx="5669280" cy="320040"/>
          </a:xfrm>
          <a:prstGeom prst="rect">
            <a:avLst/>
          </a:prstGeom>
          <a:noFill/>
          <a:ln/>
        </p:spPr>
        <p:txBody>
          <a:bodyPr wrap="square" lIns="0" tIns="0" rIns="0" bIns="0" rtlCol="0" anchor="t"/>
          <a:lstStyle/>
          <a:p>
            <a:pPr indent="0" marL="0">
              <a:buNone/>
            </a:pPr>
            <a:r>
              <a:rPr lang="en-US" sz="1200" dirty="0">
                <a:solidFill>
                  <a:srgbClr val="8FA6BA"/>
                </a:solidFill>
                <a:latin typeface="Helvetica Neue" pitchFamily="34" charset="0"/>
                <a:ea typeface="Helvetica Neue" pitchFamily="34" charset="-122"/>
                <a:cs typeface="Helvetica Neue" pitchFamily="34" charset="-120"/>
              </a:rPr>
              <a:t>Introduction for a non-technical audience · October 2026</a:t>
            </a:r>
            <a:endParaRPr lang="en-US" sz="1200" dirty="0"/>
          </a:p>
        </p:txBody>
      </p:sp>
      <p:sp>
        <p:nvSpPr>
          <p:cNvPr id="8" name="iPad 02-dashboard"/>
          <p:cNvSpPr/>
          <p:nvPr/>
        </p:nvSpPr>
        <p:spPr>
          <a:xfrm>
            <a:off x="6675120" y="1534135"/>
            <a:ext cx="4937760" cy="3789731"/>
          </a:xfrm>
          <a:prstGeom prst="roundRect">
            <a:avLst>
              <a:gd name="adj" fmla="val 8208"/>
            </a:avLst>
          </a:prstGeom>
          <a:solidFill>
            <a:srgbClr val="1C1C1E"/>
          </a:solidFill>
          <a:ln w="9525">
            <a:solidFill>
              <a:srgbClr val="3A3A3C"/>
            </a:solidFill>
            <a:prstDash val="solid"/>
          </a:ln>
          <a:effectLst>
            <a:outerShdw sx="100000" sy="100000" kx="0" ky="0" algn="bl" rotWithShape="0" blurRad="127000" dist="38100" dir="5400000">
              <a:srgbClr val="000000">
                <a:alpha val="22000"/>
              </a:srgbClr>
            </a:outerShdw>
          </a:effectLst>
        </p:spPr>
      </p:sp>
      <p:pic>
        <p:nvPicPr>
          <p:cNvPr id="9" name="Image 1" descr="CLARA start page listing two demo projects">    </p:cNvPr>
          <p:cNvPicPr>
            <a:picLocks noChangeAspect="1"/>
          </p:cNvPicPr>
          <p:nvPr/>
        </p:nvPicPr>
        <p:blipFill>
          <a:blip r:embed="rId2"/>
          <a:stretch>
            <a:fillRect/>
          </a:stretch>
        </p:blipFill>
        <p:spPr>
          <a:xfrm>
            <a:off x="6847942" y="1706956"/>
            <a:ext cx="4592117" cy="3444088"/>
          </a:xfrm>
          <a:prstGeom prst="rect">
            <a:avLst/>
          </a:prstGeom>
        </p:spPr>
      </p:pic>
      <p:sp>
        <p:nvSpPr>
          <p:cNvPr id="10" name="Shape 6"/>
          <p:cNvSpPr/>
          <p:nvPr/>
        </p:nvSpPr>
        <p:spPr>
          <a:xfrm>
            <a:off x="9116568" y="1593113"/>
            <a:ext cx="54864" cy="54864"/>
          </a:xfrm>
          <a:prstGeom prst="ellipse">
            <a:avLst/>
          </a:prstGeom>
          <a:solidFill>
            <a:srgbClr val="48484A"/>
          </a:solidFill>
          <a:ln w="12700">
            <a:solidFill>
              <a:srgbClr val="48484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1463040"/>
            <a:ext cx="1828800" cy="1188720"/>
          </a:xfrm>
          <a:prstGeom prst="rect">
            <a:avLst/>
          </a:prstGeom>
          <a:noFill/>
          <a:ln/>
        </p:spPr>
        <p:txBody>
          <a:bodyPr wrap="square" lIns="0" tIns="0" rIns="0" bIns="0" rtlCol="0" anchor="t"/>
          <a:lstStyle/>
          <a:p>
            <a:pPr indent="0" marL="0">
              <a:buNone/>
            </a:pPr>
            <a:r>
              <a:rPr lang="en-US" sz="9600" b="1" dirty="0">
                <a:solidFill>
                  <a:srgbClr val="F2A93B"/>
                </a:solidFill>
                <a:latin typeface="Avenir Next" pitchFamily="34" charset="0"/>
                <a:ea typeface="Avenir Next" pitchFamily="34" charset="-122"/>
                <a:cs typeface="Avenir Next" pitchFamily="34" charset="-120"/>
              </a:rPr>
              <a:t>1</a:t>
            </a:r>
            <a:endParaRPr lang="en-US" sz="9600" dirty="0"/>
          </a:p>
        </p:txBody>
      </p:sp>
      <p:sp>
        <p:nvSpPr>
          <p:cNvPr id="3" name="Text 1"/>
          <p:cNvSpPr txBox="1"/>
          <p:nvPr/>
        </p:nvSpPr>
        <p:spPr>
          <a:xfrm>
            <a:off x="731520" y="2788920"/>
            <a:ext cx="7863840" cy="914400"/>
          </a:xfrm>
          <a:prstGeom prst="rect">
            <a:avLst/>
          </a:prstGeom>
          <a:noFill/>
          <a:ln/>
        </p:spPr>
        <p:txBody>
          <a:bodyPr wrap="square" lIns="0" tIns="0" rIns="0" bIns="0" rtlCol="0" anchor="ctr"/>
          <a:lstStyle/>
          <a:p>
            <a:pPr indent="0" marL="0">
              <a:buNone/>
            </a:pPr>
            <a:r>
              <a:rPr lang="en-US" sz="4400" b="1" dirty="0">
                <a:solidFill>
                  <a:srgbClr val="FFFFFF"/>
                </a:solidFill>
                <a:latin typeface="Avenir Next" pitchFamily="34" charset="0"/>
                <a:ea typeface="Avenir Next" pitchFamily="34" charset="-122"/>
                <a:cs typeface="Avenir Next" pitchFamily="34" charset="-120"/>
              </a:rPr>
              <a:t>Why a new foundation</a:t>
            </a:r>
            <a:endParaRPr lang="en-US" sz="4400" dirty="0"/>
          </a:p>
        </p:txBody>
      </p:sp>
      <p:sp>
        <p:nvSpPr>
          <p:cNvPr id="4" name="Text 2"/>
          <p:cNvSpPr txBox="1"/>
          <p:nvPr/>
        </p:nvSpPr>
        <p:spPr>
          <a:xfrm>
            <a:off x="731520" y="3794760"/>
            <a:ext cx="7863840" cy="822960"/>
          </a:xfrm>
          <a:prstGeom prst="rect">
            <a:avLst/>
          </a:prstGeom>
          <a:noFill/>
          <a:ln/>
        </p:spPr>
        <p:txBody>
          <a:bodyPr wrap="square" lIns="0" tIns="0" rIns="0" bIns="0" rtlCol="0" anchor="t"/>
          <a:lstStyle/>
          <a:p>
            <a:pPr indent="0" marL="0">
              <a:buNone/>
            </a:pPr>
            <a:r>
              <a:rPr lang="en-US" sz="2000" dirty="0">
                <a:solidFill>
                  <a:srgbClr val="D6E2EC"/>
                </a:solidFill>
                <a:latin typeface="Helvetica Neue" pitchFamily="34" charset="0"/>
                <a:ea typeface="Helvetica Neue" pitchFamily="34" charset="-122"/>
                <a:cs typeface="Helvetica Neue" pitchFamily="34" charset="-120"/>
              </a:rPr>
              <a:t>FIONA, its REDCap connection — and the step to several hospitals</a:t>
            </a:r>
            <a:endParaRPr lang="en-US" sz="2000" dirty="0"/>
          </a:p>
        </p:txBody>
      </p:sp>
      <p:sp>
        <p:nvSpPr>
          <p:cNvPr id="5" name="icon building-community"/>
          <p:cNvSpPr/>
          <p:nvPr/>
        </p:nvSpPr>
        <p:spPr>
          <a:xfrm>
            <a:off x="9144000" y="2148840"/>
            <a:ext cx="2103120" cy="2103120"/>
          </a:xfrm>
          <a:prstGeom prst="ellipse">
            <a:avLst/>
          </a:prstGeom>
          <a:solidFill>
            <a:srgbClr val="1F5F7A"/>
          </a:solidFill>
          <a:ln w="12700">
            <a:solidFill>
              <a:srgbClr val="1F5F7A"/>
            </a:solidFill>
            <a:prstDash val="solid"/>
          </a:ln>
        </p:spPr>
      </p:sp>
      <p:pic>
        <p:nvPicPr>
          <p:cNvPr id="6" name="Image 0" descr="building community">    </p:cNvPr>
          <p:cNvPicPr>
            <a:picLocks noChangeAspect="1"/>
          </p:cNvPicPr>
          <p:nvPr/>
        </p:nvPicPr>
        <p:blipFill>
          <a:blip r:embed="rId1"/>
          <a:stretch>
            <a:fillRect/>
          </a:stretch>
        </p:blipFill>
        <p:spPr>
          <a:xfrm>
            <a:off x="9606686" y="2611526"/>
            <a:ext cx="1177747" cy="1177747"/>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BA"/>
                </a:solidFill>
                <a:latin typeface="Helvetica Neue"/>
                <a:ea typeface="Helvetica Neue"/>
                <a:cs typeface="Helvetica Neue"/>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0B2239"/>
                </a:solidFill>
                <a:latin typeface="Avenir Next" pitchFamily="34" charset="0"/>
                <a:ea typeface="Avenir Next" pitchFamily="34" charset="-122"/>
                <a:cs typeface="Avenir Next" pitchFamily="34" charset="-120"/>
              </a:rPr>
              <a:t>FIONA brings hospital images to research projects</a:t>
            </a:r>
            <a:endParaRPr lang="en-US" sz="3600" dirty="0"/>
          </a:p>
        </p:txBody>
      </p:sp>
      <p:sp>
        <p:nvSpPr>
          <p:cNvPr id="3" name="step 1"/>
          <p:cNvSpPr/>
          <p:nvPr/>
        </p:nvSpPr>
        <p:spPr>
          <a:xfrm>
            <a:off x="548640" y="1463040"/>
            <a:ext cx="2514600" cy="3017520"/>
          </a:xfrm>
          <a:prstGeom prst="roundRect">
            <a:avLst>
              <a:gd name="adj" fmla="val 4364"/>
            </a:avLst>
          </a:prstGeom>
          <a:solidFill>
            <a:srgbClr val="EEF3F7"/>
          </a:solidFill>
          <a:ln w="12700">
            <a:solidFill>
              <a:srgbClr val="EEF3F7"/>
            </a:solidFill>
            <a:prstDash val="solid"/>
          </a:ln>
        </p:spPr>
      </p:sp>
      <p:sp>
        <p:nvSpPr>
          <p:cNvPr id="4" name="icon building-hospital"/>
          <p:cNvSpPr/>
          <p:nvPr/>
        </p:nvSpPr>
        <p:spPr>
          <a:xfrm>
            <a:off x="822960" y="1737360"/>
            <a:ext cx="777240" cy="777240"/>
          </a:xfrm>
          <a:prstGeom prst="ellipse">
            <a:avLst/>
          </a:prstGeom>
          <a:solidFill>
            <a:srgbClr val="1F5F7A"/>
          </a:solidFill>
          <a:ln w="12700">
            <a:solidFill>
              <a:srgbClr val="1F5F7A"/>
            </a:solidFill>
            <a:prstDash val="solid"/>
          </a:ln>
        </p:spPr>
      </p:sp>
      <p:pic>
        <p:nvPicPr>
          <p:cNvPr id="5" name="Image 0" descr="building hospital">    </p:cNvPr>
          <p:cNvPicPr>
            <a:picLocks noChangeAspect="1"/>
          </p:cNvPicPr>
          <p:nvPr/>
        </p:nvPicPr>
        <p:blipFill>
          <a:blip r:embed="rId1"/>
          <a:stretch>
            <a:fillRect/>
          </a:stretch>
        </p:blipFill>
        <p:spPr>
          <a:xfrm>
            <a:off x="993953" y="1908353"/>
            <a:ext cx="435254" cy="435254"/>
          </a:xfrm>
          <a:prstGeom prst="rect">
            <a:avLst/>
          </a:prstGeom>
        </p:spPr>
      </p:pic>
      <p:sp>
        <p:nvSpPr>
          <p:cNvPr id="6" name="Text 3"/>
          <p:cNvSpPr txBox="1"/>
          <p:nvPr/>
        </p:nvSpPr>
        <p:spPr>
          <a:xfrm>
            <a:off x="822960" y="2697480"/>
            <a:ext cx="2011680" cy="274320"/>
          </a:xfrm>
          <a:prstGeom prst="rect">
            <a:avLst/>
          </a:prstGeom>
          <a:noFill/>
          <a:ln/>
        </p:spPr>
        <p:txBody>
          <a:bodyPr wrap="square" lIns="0" tIns="0" rIns="0" bIns="0" rtlCol="0" anchor="t"/>
          <a:lstStyle/>
          <a:p>
            <a:pPr indent="0" marL="0">
              <a:buNone/>
            </a:pPr>
            <a:r>
              <a:rPr lang="en-US" sz="1100" b="1" spc="100" kern="0" dirty="0">
                <a:solidFill>
                  <a:srgbClr val="A85A12"/>
                </a:solidFill>
                <a:latin typeface="Helvetica Neue" pitchFamily="34" charset="0"/>
                <a:ea typeface="Helvetica Neue" pitchFamily="34" charset="-122"/>
                <a:cs typeface="Helvetica Neue" pitchFamily="34" charset="-120"/>
              </a:rPr>
              <a:t>STEP 1</a:t>
            </a:r>
            <a:endParaRPr lang="en-US" sz="1100" dirty="0"/>
          </a:p>
        </p:txBody>
      </p:sp>
      <p:sp>
        <p:nvSpPr>
          <p:cNvPr id="7" name="Text 4"/>
          <p:cNvSpPr txBox="1"/>
          <p:nvPr/>
        </p:nvSpPr>
        <p:spPr>
          <a:xfrm>
            <a:off x="822960" y="2971800"/>
            <a:ext cx="2011680" cy="41148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Images are taken</a:t>
            </a:r>
            <a:endParaRPr lang="en-US" sz="1800" dirty="0"/>
          </a:p>
        </p:txBody>
      </p:sp>
      <p:sp>
        <p:nvSpPr>
          <p:cNvPr id="8" name="Text 5"/>
          <p:cNvSpPr txBox="1"/>
          <p:nvPr/>
        </p:nvSpPr>
        <p:spPr>
          <a:xfrm>
            <a:off x="822960" y="3429000"/>
            <a:ext cx="2011680" cy="91440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The hospital's image archive sends each new study to FIONA.</a:t>
            </a:r>
            <a:endParaRPr lang="en-US" sz="1400" dirty="0"/>
          </a:p>
        </p:txBody>
      </p:sp>
      <p:sp>
        <p:nvSpPr>
          <p:cNvPr id="9" name="Shape 6"/>
          <p:cNvSpPr/>
          <p:nvPr/>
        </p:nvSpPr>
        <p:spPr>
          <a:xfrm>
            <a:off x="3127248" y="1965960"/>
            <a:ext cx="201168" cy="320040"/>
          </a:xfrm>
          <a:prstGeom prst="chevron">
            <a:avLst/>
          </a:prstGeom>
          <a:solidFill>
            <a:srgbClr val="F2A93B"/>
          </a:solidFill>
          <a:ln w="12700">
            <a:solidFill>
              <a:srgbClr val="F2A93B"/>
            </a:solidFill>
            <a:prstDash val="solid"/>
          </a:ln>
        </p:spPr>
      </p:sp>
      <p:sp>
        <p:nvSpPr>
          <p:cNvPr id="10" name="step 2"/>
          <p:cNvSpPr/>
          <p:nvPr/>
        </p:nvSpPr>
        <p:spPr>
          <a:xfrm>
            <a:off x="3401568" y="1463040"/>
            <a:ext cx="2514600" cy="3017520"/>
          </a:xfrm>
          <a:prstGeom prst="roundRect">
            <a:avLst>
              <a:gd name="adj" fmla="val 4364"/>
            </a:avLst>
          </a:prstGeom>
          <a:solidFill>
            <a:srgbClr val="EEF3F7"/>
          </a:solidFill>
          <a:ln w="12700">
            <a:solidFill>
              <a:srgbClr val="EEF3F7"/>
            </a:solidFill>
            <a:prstDash val="solid"/>
          </a:ln>
        </p:spPr>
      </p:sp>
      <p:sp>
        <p:nvSpPr>
          <p:cNvPr id="11" name="icon scan"/>
          <p:cNvSpPr/>
          <p:nvPr/>
        </p:nvSpPr>
        <p:spPr>
          <a:xfrm>
            <a:off x="3675888" y="1737360"/>
            <a:ext cx="777240" cy="777240"/>
          </a:xfrm>
          <a:prstGeom prst="ellipse">
            <a:avLst/>
          </a:prstGeom>
          <a:solidFill>
            <a:srgbClr val="1F5F7A"/>
          </a:solidFill>
          <a:ln w="12700">
            <a:solidFill>
              <a:srgbClr val="1F5F7A"/>
            </a:solidFill>
            <a:prstDash val="solid"/>
          </a:ln>
        </p:spPr>
      </p:sp>
      <p:pic>
        <p:nvPicPr>
          <p:cNvPr id="12" name="Image 1" descr="scan">    </p:cNvPr>
          <p:cNvPicPr>
            <a:picLocks noChangeAspect="1"/>
          </p:cNvPicPr>
          <p:nvPr/>
        </p:nvPicPr>
        <p:blipFill>
          <a:blip r:embed="rId2"/>
          <a:stretch>
            <a:fillRect/>
          </a:stretch>
        </p:blipFill>
        <p:spPr>
          <a:xfrm>
            <a:off x="3846881" y="1908353"/>
            <a:ext cx="435254" cy="435254"/>
          </a:xfrm>
          <a:prstGeom prst="rect">
            <a:avLst/>
          </a:prstGeom>
        </p:spPr>
      </p:pic>
      <p:sp>
        <p:nvSpPr>
          <p:cNvPr id="13" name="Text 9"/>
          <p:cNvSpPr txBox="1"/>
          <p:nvPr/>
        </p:nvSpPr>
        <p:spPr>
          <a:xfrm>
            <a:off x="3675888" y="2697480"/>
            <a:ext cx="2011680" cy="274320"/>
          </a:xfrm>
          <a:prstGeom prst="rect">
            <a:avLst/>
          </a:prstGeom>
          <a:noFill/>
          <a:ln/>
        </p:spPr>
        <p:txBody>
          <a:bodyPr wrap="square" lIns="0" tIns="0" rIns="0" bIns="0" rtlCol="0" anchor="t"/>
          <a:lstStyle/>
          <a:p>
            <a:pPr indent="0" marL="0">
              <a:buNone/>
            </a:pPr>
            <a:r>
              <a:rPr lang="en-US" sz="1100" b="1" spc="100" kern="0" dirty="0">
                <a:solidFill>
                  <a:srgbClr val="A85A12"/>
                </a:solidFill>
                <a:latin typeface="Helvetica Neue" pitchFamily="34" charset="0"/>
                <a:ea typeface="Helvetica Neue" pitchFamily="34" charset="-122"/>
                <a:cs typeface="Helvetica Neue" pitchFamily="34" charset="-120"/>
              </a:rPr>
              <a:t>STEP 2</a:t>
            </a:r>
            <a:endParaRPr lang="en-US" sz="1100" dirty="0"/>
          </a:p>
        </p:txBody>
      </p:sp>
      <p:sp>
        <p:nvSpPr>
          <p:cNvPr id="14" name="Text 10"/>
          <p:cNvSpPr txBox="1"/>
          <p:nvPr/>
        </p:nvSpPr>
        <p:spPr>
          <a:xfrm>
            <a:off x="3675888" y="2971800"/>
            <a:ext cx="2011680" cy="41148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FIONA registers</a:t>
            </a:r>
            <a:endParaRPr lang="en-US" sz="1800" dirty="0"/>
          </a:p>
        </p:txBody>
      </p:sp>
      <p:sp>
        <p:nvSpPr>
          <p:cNvPr id="15" name="Text 11"/>
          <p:cNvSpPr txBox="1"/>
          <p:nvPr/>
        </p:nvSpPr>
        <p:spPr>
          <a:xfrm>
            <a:off x="3675888" y="3429000"/>
            <a:ext cx="2011680" cy="91440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FIONA notes every incoming study and each of its image series.</a:t>
            </a:r>
            <a:endParaRPr lang="en-US" sz="1400" dirty="0"/>
          </a:p>
        </p:txBody>
      </p:sp>
      <p:sp>
        <p:nvSpPr>
          <p:cNvPr id="16" name="Shape 12"/>
          <p:cNvSpPr/>
          <p:nvPr/>
        </p:nvSpPr>
        <p:spPr>
          <a:xfrm>
            <a:off x="5980176" y="1965960"/>
            <a:ext cx="201168" cy="320040"/>
          </a:xfrm>
          <a:prstGeom prst="chevron">
            <a:avLst/>
          </a:prstGeom>
          <a:solidFill>
            <a:srgbClr val="F2A93B"/>
          </a:solidFill>
          <a:ln w="12700">
            <a:solidFill>
              <a:srgbClr val="F2A93B"/>
            </a:solidFill>
            <a:prstDash val="solid"/>
          </a:ln>
        </p:spPr>
      </p:sp>
      <p:sp>
        <p:nvSpPr>
          <p:cNvPr id="17" name="step 3"/>
          <p:cNvSpPr/>
          <p:nvPr/>
        </p:nvSpPr>
        <p:spPr>
          <a:xfrm>
            <a:off x="6254496" y="1463040"/>
            <a:ext cx="2514600" cy="3017520"/>
          </a:xfrm>
          <a:prstGeom prst="roundRect">
            <a:avLst>
              <a:gd name="adj" fmla="val 4364"/>
            </a:avLst>
          </a:prstGeom>
          <a:solidFill>
            <a:srgbClr val="EEF3F7"/>
          </a:solidFill>
          <a:ln w="12700">
            <a:solidFill>
              <a:srgbClr val="EEF3F7"/>
            </a:solidFill>
            <a:prstDash val="solid"/>
          </a:ln>
        </p:spPr>
      </p:sp>
      <p:sp>
        <p:nvSpPr>
          <p:cNvPr id="18" name="icon user-check"/>
          <p:cNvSpPr/>
          <p:nvPr/>
        </p:nvSpPr>
        <p:spPr>
          <a:xfrm>
            <a:off x="6528816" y="1737360"/>
            <a:ext cx="777240" cy="777240"/>
          </a:xfrm>
          <a:prstGeom prst="ellipse">
            <a:avLst/>
          </a:prstGeom>
          <a:solidFill>
            <a:srgbClr val="1F5F7A"/>
          </a:solidFill>
          <a:ln w="12700">
            <a:solidFill>
              <a:srgbClr val="1F5F7A"/>
            </a:solidFill>
            <a:prstDash val="solid"/>
          </a:ln>
        </p:spPr>
      </p:sp>
      <p:pic>
        <p:nvPicPr>
          <p:cNvPr id="19" name="Image 2" descr="user check">    </p:cNvPr>
          <p:cNvPicPr>
            <a:picLocks noChangeAspect="1"/>
          </p:cNvPicPr>
          <p:nvPr/>
        </p:nvPicPr>
        <p:blipFill>
          <a:blip r:embed="rId3"/>
          <a:stretch>
            <a:fillRect/>
          </a:stretch>
        </p:blipFill>
        <p:spPr>
          <a:xfrm>
            <a:off x="6699809" y="1908353"/>
            <a:ext cx="435254" cy="435254"/>
          </a:xfrm>
          <a:prstGeom prst="rect">
            <a:avLst/>
          </a:prstGeom>
        </p:spPr>
      </p:pic>
      <p:sp>
        <p:nvSpPr>
          <p:cNvPr id="20" name="Text 15"/>
          <p:cNvSpPr txBox="1"/>
          <p:nvPr/>
        </p:nvSpPr>
        <p:spPr>
          <a:xfrm>
            <a:off x="6528816" y="2697480"/>
            <a:ext cx="2011680" cy="274320"/>
          </a:xfrm>
          <a:prstGeom prst="rect">
            <a:avLst/>
          </a:prstGeom>
          <a:noFill/>
          <a:ln/>
        </p:spPr>
        <p:txBody>
          <a:bodyPr wrap="square" lIns="0" tIns="0" rIns="0" bIns="0" rtlCol="0" anchor="t"/>
          <a:lstStyle/>
          <a:p>
            <a:pPr indent="0" marL="0">
              <a:buNone/>
            </a:pPr>
            <a:r>
              <a:rPr lang="en-US" sz="1100" b="1" spc="100" kern="0" dirty="0">
                <a:solidFill>
                  <a:srgbClr val="A85A12"/>
                </a:solidFill>
                <a:latin typeface="Helvetica Neue" pitchFamily="34" charset="0"/>
                <a:ea typeface="Helvetica Neue" pitchFamily="34" charset="-122"/>
                <a:cs typeface="Helvetica Neue" pitchFamily="34" charset="-120"/>
              </a:rPr>
              <a:t>STEP 3</a:t>
            </a:r>
            <a:endParaRPr lang="en-US" sz="1100" dirty="0"/>
          </a:p>
        </p:txBody>
      </p:sp>
      <p:sp>
        <p:nvSpPr>
          <p:cNvPr id="21" name="Text 16"/>
          <p:cNvSpPr txBox="1"/>
          <p:nvPr/>
        </p:nvSpPr>
        <p:spPr>
          <a:xfrm>
            <a:off x="6528816" y="2971800"/>
            <a:ext cx="2011680" cy="41148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A researcher asks</a:t>
            </a:r>
            <a:endParaRPr lang="en-US" sz="1800" dirty="0"/>
          </a:p>
        </p:txBody>
      </p:sp>
      <p:sp>
        <p:nvSpPr>
          <p:cNvPr id="22" name="Text 17"/>
          <p:cNvSpPr txBox="1"/>
          <p:nvPr/>
        </p:nvSpPr>
        <p:spPr>
          <a:xfrm>
            <a:off x="6528816" y="3429000"/>
            <a:ext cx="2011680" cy="91440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A study is requested for a specific research project.</a:t>
            </a:r>
            <a:endParaRPr lang="en-US" sz="1400" dirty="0"/>
          </a:p>
        </p:txBody>
      </p:sp>
      <p:sp>
        <p:nvSpPr>
          <p:cNvPr id="23" name="Shape 18"/>
          <p:cNvSpPr/>
          <p:nvPr/>
        </p:nvSpPr>
        <p:spPr>
          <a:xfrm>
            <a:off x="8833104" y="1965960"/>
            <a:ext cx="201168" cy="320040"/>
          </a:xfrm>
          <a:prstGeom prst="chevron">
            <a:avLst/>
          </a:prstGeom>
          <a:solidFill>
            <a:srgbClr val="F2A93B"/>
          </a:solidFill>
          <a:ln w="12700">
            <a:solidFill>
              <a:srgbClr val="F2A93B"/>
            </a:solidFill>
            <a:prstDash val="solid"/>
          </a:ln>
        </p:spPr>
      </p:sp>
      <p:sp>
        <p:nvSpPr>
          <p:cNvPr id="24" name="step 4"/>
          <p:cNvSpPr/>
          <p:nvPr/>
        </p:nvSpPr>
        <p:spPr>
          <a:xfrm>
            <a:off x="9107424" y="1463040"/>
            <a:ext cx="2514600" cy="3017520"/>
          </a:xfrm>
          <a:prstGeom prst="roundRect">
            <a:avLst>
              <a:gd name="adj" fmla="val 4364"/>
            </a:avLst>
          </a:prstGeom>
          <a:solidFill>
            <a:srgbClr val="EEF3F7"/>
          </a:solidFill>
          <a:ln w="12700">
            <a:solidFill>
              <a:srgbClr val="EEF3F7"/>
            </a:solidFill>
            <a:prstDash val="solid"/>
          </a:ln>
        </p:spPr>
      </p:sp>
      <p:sp>
        <p:nvSpPr>
          <p:cNvPr id="25" name="icon send"/>
          <p:cNvSpPr/>
          <p:nvPr/>
        </p:nvSpPr>
        <p:spPr>
          <a:xfrm>
            <a:off x="9381744" y="1737360"/>
            <a:ext cx="777240" cy="777240"/>
          </a:xfrm>
          <a:prstGeom prst="ellipse">
            <a:avLst/>
          </a:prstGeom>
          <a:solidFill>
            <a:srgbClr val="1F5F7A"/>
          </a:solidFill>
          <a:ln w="12700">
            <a:solidFill>
              <a:srgbClr val="1F5F7A"/>
            </a:solidFill>
            <a:prstDash val="solid"/>
          </a:ln>
        </p:spPr>
      </p:sp>
      <p:pic>
        <p:nvPicPr>
          <p:cNvPr id="26" name="Image 3" descr="send">    </p:cNvPr>
          <p:cNvPicPr>
            <a:picLocks noChangeAspect="1"/>
          </p:cNvPicPr>
          <p:nvPr/>
        </p:nvPicPr>
        <p:blipFill>
          <a:blip r:embed="rId4"/>
          <a:stretch>
            <a:fillRect/>
          </a:stretch>
        </p:blipFill>
        <p:spPr>
          <a:xfrm>
            <a:off x="9552737" y="1908353"/>
            <a:ext cx="435254" cy="435254"/>
          </a:xfrm>
          <a:prstGeom prst="rect">
            <a:avLst/>
          </a:prstGeom>
        </p:spPr>
      </p:pic>
      <p:sp>
        <p:nvSpPr>
          <p:cNvPr id="27" name="Text 21"/>
          <p:cNvSpPr txBox="1"/>
          <p:nvPr/>
        </p:nvSpPr>
        <p:spPr>
          <a:xfrm>
            <a:off x="9381744" y="2697480"/>
            <a:ext cx="2011680" cy="274320"/>
          </a:xfrm>
          <a:prstGeom prst="rect">
            <a:avLst/>
          </a:prstGeom>
          <a:noFill/>
          <a:ln/>
        </p:spPr>
        <p:txBody>
          <a:bodyPr wrap="square" lIns="0" tIns="0" rIns="0" bIns="0" rtlCol="0" anchor="t"/>
          <a:lstStyle/>
          <a:p>
            <a:pPr indent="0" marL="0">
              <a:buNone/>
            </a:pPr>
            <a:r>
              <a:rPr lang="en-US" sz="1100" b="1" spc="100" kern="0" dirty="0">
                <a:solidFill>
                  <a:srgbClr val="A85A12"/>
                </a:solidFill>
                <a:latin typeface="Helvetica Neue" pitchFamily="34" charset="0"/>
                <a:ea typeface="Helvetica Neue" pitchFamily="34" charset="-122"/>
                <a:cs typeface="Helvetica Neue" pitchFamily="34" charset="-120"/>
              </a:rPr>
              <a:t>STEP 4</a:t>
            </a:r>
            <a:endParaRPr lang="en-US" sz="1100" dirty="0"/>
          </a:p>
        </p:txBody>
      </p:sp>
      <p:sp>
        <p:nvSpPr>
          <p:cNvPr id="28" name="Text 22"/>
          <p:cNvSpPr txBox="1"/>
          <p:nvPr/>
        </p:nvSpPr>
        <p:spPr>
          <a:xfrm>
            <a:off x="9381744" y="2971800"/>
            <a:ext cx="2011680" cy="41148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FIONA delivers</a:t>
            </a:r>
            <a:endParaRPr lang="en-US" sz="1800" dirty="0"/>
          </a:p>
        </p:txBody>
      </p:sp>
      <p:sp>
        <p:nvSpPr>
          <p:cNvPr id="29" name="Text 23"/>
          <p:cNvSpPr txBox="1"/>
          <p:nvPr/>
        </p:nvSpPr>
        <p:spPr>
          <a:xfrm>
            <a:off x="9381744" y="3429000"/>
            <a:ext cx="2011680" cy="91440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FIONA removes the patient's identity and delivers the images.</a:t>
            </a:r>
            <a:endParaRPr lang="en-US" sz="1400" dirty="0"/>
          </a:p>
        </p:txBody>
      </p:sp>
      <p:sp>
        <p:nvSpPr>
          <p:cNvPr id="30" name="behind the scenes"/>
          <p:cNvSpPr/>
          <p:nvPr/>
        </p:nvSpPr>
        <p:spPr>
          <a:xfrm>
            <a:off x="548640" y="4754880"/>
            <a:ext cx="11073384" cy="1280160"/>
          </a:xfrm>
          <a:prstGeom prst="roundRect">
            <a:avLst>
              <a:gd name="adj" fmla="val 8571"/>
            </a:avLst>
          </a:prstGeom>
          <a:solidFill>
            <a:srgbClr val="0B2239"/>
          </a:solidFill>
          <a:ln w="12700">
            <a:solidFill>
              <a:srgbClr val="0B2239"/>
            </a:solidFill>
            <a:prstDash val="solid"/>
          </a:ln>
        </p:spPr>
      </p:sp>
      <p:sp>
        <p:nvSpPr>
          <p:cNvPr id="31" name="icon database"/>
          <p:cNvSpPr/>
          <p:nvPr/>
        </p:nvSpPr>
        <p:spPr>
          <a:xfrm>
            <a:off x="868680" y="5029200"/>
            <a:ext cx="731520" cy="731520"/>
          </a:xfrm>
          <a:prstGeom prst="ellipse">
            <a:avLst/>
          </a:prstGeom>
          <a:solidFill>
            <a:srgbClr val="F2A93B"/>
          </a:solidFill>
          <a:ln w="12700">
            <a:solidFill>
              <a:srgbClr val="F2A93B"/>
            </a:solidFill>
            <a:prstDash val="solid"/>
          </a:ln>
        </p:spPr>
      </p:sp>
      <p:pic>
        <p:nvPicPr>
          <p:cNvPr id="32" name="Image 4" descr="database">    </p:cNvPr>
          <p:cNvPicPr>
            <a:picLocks noChangeAspect="1"/>
          </p:cNvPicPr>
          <p:nvPr/>
        </p:nvPicPr>
        <p:blipFill>
          <a:blip r:embed="rId5"/>
          <a:stretch>
            <a:fillRect/>
          </a:stretch>
        </p:blipFill>
        <p:spPr>
          <a:xfrm>
            <a:off x="1029614" y="5190134"/>
            <a:ext cx="409651" cy="409651"/>
          </a:xfrm>
          <a:prstGeom prst="rect">
            <a:avLst/>
          </a:prstGeom>
        </p:spPr>
      </p:pic>
      <p:sp>
        <p:nvSpPr>
          <p:cNvPr id="33" name="Text 26"/>
          <p:cNvSpPr txBox="1"/>
          <p:nvPr/>
        </p:nvSpPr>
        <p:spPr>
          <a:xfrm>
            <a:off x="1874520" y="4892040"/>
            <a:ext cx="9509760" cy="1005840"/>
          </a:xfrm>
          <a:prstGeom prst="rect">
            <a:avLst/>
          </a:prstGeom>
          <a:noFill/>
          <a:ln/>
        </p:spPr>
        <p:txBody>
          <a:bodyPr wrap="square" lIns="0" tIns="0" rIns="0" bIns="0" rtlCol="0" anchor="ctr"/>
          <a:lstStyle/>
          <a:p>
            <a:pPr indent="0" marL="0">
              <a:buNone/>
            </a:pPr>
            <a:r>
              <a:rPr lang="en-US" sz="1600" b="1" dirty="0">
                <a:solidFill>
                  <a:srgbClr val="F2A93B"/>
                </a:solidFill>
                <a:latin typeface="Helvetica Neue" pitchFamily="34" charset="0"/>
                <a:ea typeface="Helvetica Neue" pitchFamily="34" charset="-122"/>
                <a:cs typeface="Helvetica Neue" pitchFamily="34" charset="-120"/>
              </a:rPr>
              <a:t>Behind the scenes  </a:t>
            </a:r>
            <a:pPr indent="0" marL="0">
              <a:buNone/>
            </a:pPr>
            <a:r>
              <a:rPr lang="en-US" sz="1600" dirty="0">
                <a:solidFill>
                  <a:srgbClr val="FFFFFF"/>
                </a:solidFill>
                <a:latin typeface="Helvetica Neue" pitchFamily="34" charset="0"/>
                <a:ea typeface="Helvetica Neue" pitchFamily="34" charset="-122"/>
                <a:cs typeface="Helvetica Neue" pitchFamily="34" charset="-120"/>
              </a:rPr>
              <a:t>FIONA keeps its bookkeeping — projects, incoming studies, transfer requests — in a data store it talks to through the REDCap programming interface (API). CLARA replaces that store.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Helvetica Neue"/>
                <a:ea typeface="Helvetica Neue"/>
                <a:cs typeface="Helvetica Neue"/>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0B2239"/>
                </a:solidFill>
                <a:latin typeface="Avenir Next" pitchFamily="34" charset="0"/>
                <a:ea typeface="Avenir Next" pitchFamily="34" charset="-122"/>
                <a:cs typeface="Avenir Next" pitchFamily="34" charset="-120"/>
              </a:rPr>
              <a:t>Several hospitals, one foundation</a:t>
            </a:r>
            <a:endParaRPr lang="en-US" sz="3600" dirty="0"/>
          </a:p>
        </p:txBody>
      </p:sp>
      <p:sp>
        <p:nvSpPr>
          <p:cNvPr id="3" name="Text 1"/>
          <p:cNvSpPr txBox="1"/>
          <p:nvPr/>
        </p:nvSpPr>
        <p:spPr>
          <a:xfrm>
            <a:off x="548640" y="1325880"/>
            <a:ext cx="5120640" cy="320040"/>
          </a:xfrm>
          <a:prstGeom prst="rect">
            <a:avLst/>
          </a:prstGeom>
          <a:noFill/>
          <a:ln/>
        </p:spPr>
        <p:txBody>
          <a:bodyPr wrap="square" lIns="0" tIns="0" rIns="0" bIns="0" rtlCol="0" anchor="t"/>
          <a:lstStyle/>
          <a:p>
            <a:pPr indent="0" marL="0">
              <a:buNone/>
            </a:pPr>
            <a:r>
              <a:rPr lang="en-US" sz="1400" b="1" dirty="0">
                <a:solidFill>
                  <a:srgbClr val="5B6B7A"/>
                </a:solidFill>
                <a:latin typeface="Helvetica Neue" pitchFamily="34" charset="0"/>
                <a:ea typeface="Helvetica Neue" pitchFamily="34" charset="-122"/>
                <a:cs typeface="Helvetica Neue" pitchFamily="34" charset="-120"/>
              </a:rPr>
              <a:t>What a multi-hospital FIONA needs</a:t>
            </a:r>
            <a:endParaRPr lang="en-US" sz="1400" dirty="0"/>
          </a:p>
        </p:txBody>
      </p:sp>
      <p:sp>
        <p:nvSpPr>
          <p:cNvPr id="4" name="Text 2"/>
          <p:cNvSpPr txBox="1"/>
          <p:nvPr/>
        </p:nvSpPr>
        <p:spPr>
          <a:xfrm>
            <a:off x="6309360" y="1325880"/>
            <a:ext cx="5303520" cy="320040"/>
          </a:xfrm>
          <a:prstGeom prst="rect">
            <a:avLst/>
          </a:prstGeom>
          <a:noFill/>
          <a:ln/>
        </p:spPr>
        <p:txBody>
          <a:bodyPr wrap="square" lIns="0" tIns="0" rIns="0" bIns="0" rtlCol="0" anchor="t"/>
          <a:lstStyle/>
          <a:p>
            <a:pPr indent="0" marL="0">
              <a:buNone/>
            </a:pPr>
            <a:r>
              <a:rPr lang="en-US" sz="1400" b="1" dirty="0">
                <a:solidFill>
                  <a:srgbClr val="5B6B7A"/>
                </a:solidFill>
                <a:latin typeface="Helvetica Neue" pitchFamily="34" charset="0"/>
                <a:ea typeface="Helvetica Neue" pitchFamily="34" charset="-122"/>
                <a:cs typeface="Helvetica Neue" pitchFamily="34" charset="-120"/>
              </a:rPr>
              <a:t>How CLARA provides it</a:t>
            </a:r>
            <a:endParaRPr lang="en-US" sz="1400" dirty="0"/>
          </a:p>
        </p:txBody>
      </p:sp>
      <p:sp>
        <p:nvSpPr>
          <p:cNvPr id="5" name="need 1"/>
          <p:cNvSpPr/>
          <p:nvPr/>
        </p:nvSpPr>
        <p:spPr>
          <a:xfrm>
            <a:off x="548640" y="1737360"/>
            <a:ext cx="5120640" cy="749808"/>
          </a:xfrm>
          <a:prstGeom prst="roundRect">
            <a:avLst>
              <a:gd name="adj" fmla="val 14634"/>
            </a:avLst>
          </a:prstGeom>
          <a:solidFill>
            <a:srgbClr val="EEF3F7"/>
          </a:solidFill>
          <a:ln w="12700">
            <a:solidFill>
              <a:srgbClr val="EEF3F7"/>
            </a:solidFill>
            <a:prstDash val="solid"/>
          </a:ln>
        </p:spPr>
      </p:sp>
      <p:sp>
        <p:nvSpPr>
          <p:cNvPr id="6" name="icon plug-connected"/>
          <p:cNvSpPr/>
          <p:nvPr/>
        </p:nvSpPr>
        <p:spPr>
          <a:xfrm>
            <a:off x="685800" y="1860804"/>
            <a:ext cx="502920" cy="502920"/>
          </a:xfrm>
          <a:prstGeom prst="ellipse">
            <a:avLst/>
          </a:prstGeom>
          <a:solidFill>
            <a:srgbClr val="1F5F7A"/>
          </a:solidFill>
          <a:ln w="12700">
            <a:solidFill>
              <a:srgbClr val="1F5F7A"/>
            </a:solidFill>
            <a:prstDash val="solid"/>
          </a:ln>
        </p:spPr>
      </p:sp>
      <p:pic>
        <p:nvPicPr>
          <p:cNvPr id="7" name="Image 0" descr="plug connected">    </p:cNvPr>
          <p:cNvPicPr>
            <a:picLocks noChangeAspect="1"/>
          </p:cNvPicPr>
          <p:nvPr/>
        </p:nvPicPr>
        <p:blipFill>
          <a:blip r:embed="rId1"/>
          <a:stretch>
            <a:fillRect/>
          </a:stretch>
        </p:blipFill>
        <p:spPr>
          <a:xfrm>
            <a:off x="796442" y="1971446"/>
            <a:ext cx="281635" cy="281635"/>
          </a:xfrm>
          <a:prstGeom prst="rect">
            <a:avLst/>
          </a:prstGeom>
        </p:spPr>
      </p:pic>
      <p:sp>
        <p:nvSpPr>
          <p:cNvPr id="8" name="Text 5"/>
          <p:cNvSpPr txBox="1"/>
          <p:nvPr/>
        </p:nvSpPr>
        <p:spPr>
          <a:xfrm>
            <a:off x="1325880" y="1737360"/>
            <a:ext cx="4206240" cy="749808"/>
          </a:xfrm>
          <a:prstGeom prst="rect">
            <a:avLst/>
          </a:prstGeom>
          <a:noFill/>
          <a:ln/>
        </p:spPr>
        <p:txBody>
          <a:bodyPr wrap="square" lIns="0" tIns="0" rIns="0" bIns="0" rtlCol="0" anchor="ctr"/>
          <a:lstStyle/>
          <a:p>
            <a:pPr indent="0" marL="0">
              <a:buNone/>
            </a:pPr>
            <a:r>
              <a:rPr lang="en-US" sz="1500" dirty="0">
                <a:solidFill>
                  <a:srgbClr val="1B2733"/>
                </a:solidFill>
                <a:latin typeface="Helvetica Neue" pitchFamily="34" charset="0"/>
                <a:ea typeface="Helvetica Neue" pitchFamily="34" charset="-122"/>
                <a:cs typeface="Helvetica Neue" pitchFamily="34" charset="-120"/>
              </a:rPr>
              <a:t>FIONA must keep working exactly as it does today</a:t>
            </a:r>
            <a:endParaRPr lang="en-US" sz="1500" dirty="0"/>
          </a:p>
        </p:txBody>
      </p:sp>
      <p:sp>
        <p:nvSpPr>
          <p:cNvPr id="9" name="Shape 6"/>
          <p:cNvSpPr/>
          <p:nvPr/>
        </p:nvSpPr>
        <p:spPr>
          <a:xfrm>
            <a:off x="5852160" y="1956816"/>
            <a:ext cx="228600" cy="310896"/>
          </a:xfrm>
          <a:prstGeom prst="chevron">
            <a:avLst/>
          </a:prstGeom>
          <a:solidFill>
            <a:srgbClr val="F2A93B"/>
          </a:solidFill>
          <a:ln w="12700">
            <a:solidFill>
              <a:srgbClr val="F2A93B"/>
            </a:solidFill>
            <a:prstDash val="solid"/>
          </a:ln>
        </p:spPr>
      </p:sp>
      <p:sp>
        <p:nvSpPr>
          <p:cNvPr id="10" name="answer 1"/>
          <p:cNvSpPr/>
          <p:nvPr/>
        </p:nvSpPr>
        <p:spPr>
          <a:xfrm>
            <a:off x="6309360" y="1737360"/>
            <a:ext cx="5312664" cy="749808"/>
          </a:xfrm>
          <a:prstGeom prst="roundRect">
            <a:avLst>
              <a:gd name="adj" fmla="val 14634"/>
            </a:avLst>
          </a:prstGeom>
          <a:solidFill>
            <a:srgbClr val="0B2239"/>
          </a:solidFill>
          <a:ln w="12700">
            <a:solidFill>
              <a:srgbClr val="0B2239"/>
            </a:solidFill>
            <a:prstDash val="solid"/>
          </a:ln>
        </p:spPr>
      </p:sp>
      <p:sp>
        <p:nvSpPr>
          <p:cNvPr id="11" name="Text 8"/>
          <p:cNvSpPr txBox="1"/>
          <p:nvPr/>
        </p:nvSpPr>
        <p:spPr>
          <a:xfrm>
            <a:off x="6537960" y="1737360"/>
            <a:ext cx="4937760" cy="749808"/>
          </a:xfrm>
          <a:prstGeom prst="rect">
            <a:avLst/>
          </a:prstGeom>
          <a:noFill/>
          <a:ln/>
        </p:spPr>
        <p:txBody>
          <a:bodyPr wrap="square" lIns="0" tIns="0" rIns="0" bIns="0" rtlCol="0" anchor="ctr"/>
          <a:lstStyle/>
          <a:p>
            <a:pPr indent="0" marL="0">
              <a:buNone/>
            </a:pPr>
            <a:r>
              <a:rPr lang="en-US" sz="1500" dirty="0">
                <a:solidFill>
                  <a:srgbClr val="FFFFFF"/>
                </a:solidFill>
                <a:latin typeface="Helvetica Neue" pitchFamily="34" charset="0"/>
                <a:ea typeface="Helvetica Neue" pitchFamily="34" charset="-122"/>
                <a:cs typeface="Helvetica Neue" pitchFamily="34" charset="-120"/>
              </a:rPr>
              <a:t>CLARA answers the same REDCap-style requests — no change in FIONA</a:t>
            </a:r>
            <a:endParaRPr lang="en-US" sz="1500" dirty="0"/>
          </a:p>
        </p:txBody>
      </p:sp>
      <p:sp>
        <p:nvSpPr>
          <p:cNvPr id="12" name="need 2"/>
          <p:cNvSpPr/>
          <p:nvPr/>
        </p:nvSpPr>
        <p:spPr>
          <a:xfrm>
            <a:off x="548640" y="2633472"/>
            <a:ext cx="5120640" cy="749808"/>
          </a:xfrm>
          <a:prstGeom prst="roundRect">
            <a:avLst>
              <a:gd name="adj" fmla="val 14634"/>
            </a:avLst>
          </a:prstGeom>
          <a:solidFill>
            <a:srgbClr val="EEF3F7"/>
          </a:solidFill>
          <a:ln w="12700">
            <a:solidFill>
              <a:srgbClr val="EEF3F7"/>
            </a:solidFill>
            <a:prstDash val="solid"/>
          </a:ln>
        </p:spPr>
      </p:sp>
      <p:sp>
        <p:nvSpPr>
          <p:cNvPr id="13" name="icon building-community"/>
          <p:cNvSpPr/>
          <p:nvPr/>
        </p:nvSpPr>
        <p:spPr>
          <a:xfrm>
            <a:off x="685800" y="2756916"/>
            <a:ext cx="502920" cy="502920"/>
          </a:xfrm>
          <a:prstGeom prst="ellipse">
            <a:avLst/>
          </a:prstGeom>
          <a:solidFill>
            <a:srgbClr val="1F5F7A"/>
          </a:solidFill>
          <a:ln w="12700">
            <a:solidFill>
              <a:srgbClr val="1F5F7A"/>
            </a:solidFill>
            <a:prstDash val="solid"/>
          </a:ln>
        </p:spPr>
      </p:sp>
      <p:pic>
        <p:nvPicPr>
          <p:cNvPr id="14" name="Image 1" descr="building community">    </p:cNvPr>
          <p:cNvPicPr>
            <a:picLocks noChangeAspect="1"/>
          </p:cNvPicPr>
          <p:nvPr/>
        </p:nvPicPr>
        <p:blipFill>
          <a:blip r:embed="rId2"/>
          <a:stretch>
            <a:fillRect/>
          </a:stretch>
        </p:blipFill>
        <p:spPr>
          <a:xfrm>
            <a:off x="796442" y="2867558"/>
            <a:ext cx="281635" cy="281635"/>
          </a:xfrm>
          <a:prstGeom prst="rect">
            <a:avLst/>
          </a:prstGeom>
        </p:spPr>
      </p:pic>
      <p:sp>
        <p:nvSpPr>
          <p:cNvPr id="15" name="Text 11"/>
          <p:cNvSpPr txBox="1"/>
          <p:nvPr/>
        </p:nvSpPr>
        <p:spPr>
          <a:xfrm>
            <a:off x="1325880" y="2633472"/>
            <a:ext cx="4206240" cy="749808"/>
          </a:xfrm>
          <a:prstGeom prst="rect">
            <a:avLst/>
          </a:prstGeom>
          <a:noFill/>
          <a:ln/>
        </p:spPr>
        <p:txBody>
          <a:bodyPr wrap="square" lIns="0" tIns="0" rIns="0" bIns="0" rtlCol="0" anchor="ctr"/>
          <a:lstStyle/>
          <a:p>
            <a:pPr indent="0" marL="0">
              <a:buNone/>
            </a:pPr>
            <a:r>
              <a:rPr lang="en-US" sz="1500" dirty="0">
                <a:solidFill>
                  <a:srgbClr val="1B2733"/>
                </a:solidFill>
                <a:latin typeface="Helvetica Neue" pitchFamily="34" charset="0"/>
                <a:ea typeface="Helvetica Neue" pitchFamily="34" charset="-122"/>
                <a:cs typeface="Helvetica Neue" pitchFamily="34" charset="-120"/>
              </a:rPr>
              <a:t>Staff of every hospital sign in with their own hospital account</a:t>
            </a:r>
            <a:endParaRPr lang="en-US" sz="1500" dirty="0"/>
          </a:p>
        </p:txBody>
      </p:sp>
      <p:sp>
        <p:nvSpPr>
          <p:cNvPr id="16" name="Shape 12"/>
          <p:cNvSpPr/>
          <p:nvPr/>
        </p:nvSpPr>
        <p:spPr>
          <a:xfrm>
            <a:off x="5852160" y="2852928"/>
            <a:ext cx="228600" cy="310896"/>
          </a:xfrm>
          <a:prstGeom prst="chevron">
            <a:avLst/>
          </a:prstGeom>
          <a:solidFill>
            <a:srgbClr val="F2A93B"/>
          </a:solidFill>
          <a:ln w="12700">
            <a:solidFill>
              <a:srgbClr val="F2A93B"/>
            </a:solidFill>
            <a:prstDash val="solid"/>
          </a:ln>
        </p:spPr>
      </p:sp>
      <p:sp>
        <p:nvSpPr>
          <p:cNvPr id="17" name="answer 2"/>
          <p:cNvSpPr/>
          <p:nvPr/>
        </p:nvSpPr>
        <p:spPr>
          <a:xfrm>
            <a:off x="6309360" y="2633472"/>
            <a:ext cx="5312664" cy="749808"/>
          </a:xfrm>
          <a:prstGeom prst="roundRect">
            <a:avLst>
              <a:gd name="adj" fmla="val 14634"/>
            </a:avLst>
          </a:prstGeom>
          <a:solidFill>
            <a:srgbClr val="0B2239"/>
          </a:solidFill>
          <a:ln w="12700">
            <a:solidFill>
              <a:srgbClr val="0B2239"/>
            </a:solidFill>
            <a:prstDash val="solid"/>
          </a:ln>
        </p:spPr>
      </p:sp>
      <p:sp>
        <p:nvSpPr>
          <p:cNvPr id="18" name="Text 14"/>
          <p:cNvSpPr txBox="1"/>
          <p:nvPr/>
        </p:nvSpPr>
        <p:spPr>
          <a:xfrm>
            <a:off x="6537960" y="2633472"/>
            <a:ext cx="4937760" cy="749808"/>
          </a:xfrm>
          <a:prstGeom prst="rect">
            <a:avLst/>
          </a:prstGeom>
          <a:noFill/>
          <a:ln/>
        </p:spPr>
        <p:txBody>
          <a:bodyPr wrap="square" lIns="0" tIns="0" rIns="0" bIns="0" rtlCol="0" anchor="ctr"/>
          <a:lstStyle/>
          <a:p>
            <a:pPr indent="0" marL="0">
              <a:buNone/>
            </a:pPr>
            <a:r>
              <a:rPr lang="en-US" sz="1500" dirty="0">
                <a:solidFill>
                  <a:srgbClr val="FFFFFF"/>
                </a:solidFill>
                <a:latin typeface="Helvetica Neue" pitchFamily="34" charset="0"/>
                <a:ea typeface="Helvetica Neue" pitchFamily="34" charset="-122"/>
                <a:cs typeface="Helvetica Neue" pitchFamily="34" charset="-120"/>
              </a:rPr>
              <a:t>Sign-in by hospital name, each linked to that hospital's login service</a:t>
            </a:r>
            <a:endParaRPr lang="en-US" sz="1500" dirty="0"/>
          </a:p>
        </p:txBody>
      </p:sp>
      <p:sp>
        <p:nvSpPr>
          <p:cNvPr id="19" name="need 3"/>
          <p:cNvSpPr/>
          <p:nvPr/>
        </p:nvSpPr>
        <p:spPr>
          <a:xfrm>
            <a:off x="548640" y="3529584"/>
            <a:ext cx="5120640" cy="749808"/>
          </a:xfrm>
          <a:prstGeom prst="roundRect">
            <a:avLst>
              <a:gd name="adj" fmla="val 14634"/>
            </a:avLst>
          </a:prstGeom>
          <a:solidFill>
            <a:srgbClr val="EEF3F7"/>
          </a:solidFill>
          <a:ln w="12700">
            <a:solidFill>
              <a:srgbClr val="EEF3F7"/>
            </a:solidFill>
            <a:prstDash val="solid"/>
          </a:ln>
        </p:spPr>
      </p:sp>
      <p:sp>
        <p:nvSpPr>
          <p:cNvPr id="20" name="icon lock"/>
          <p:cNvSpPr/>
          <p:nvPr/>
        </p:nvSpPr>
        <p:spPr>
          <a:xfrm>
            <a:off x="685800" y="3653028"/>
            <a:ext cx="502920" cy="502920"/>
          </a:xfrm>
          <a:prstGeom prst="ellipse">
            <a:avLst/>
          </a:prstGeom>
          <a:solidFill>
            <a:srgbClr val="1F5F7A"/>
          </a:solidFill>
          <a:ln w="12700">
            <a:solidFill>
              <a:srgbClr val="1F5F7A"/>
            </a:solidFill>
            <a:prstDash val="solid"/>
          </a:ln>
        </p:spPr>
      </p:sp>
      <p:pic>
        <p:nvPicPr>
          <p:cNvPr id="21" name="Image 2" descr="lock">    </p:cNvPr>
          <p:cNvPicPr>
            <a:picLocks noChangeAspect="1"/>
          </p:cNvPicPr>
          <p:nvPr/>
        </p:nvPicPr>
        <p:blipFill>
          <a:blip r:embed="rId3"/>
          <a:stretch>
            <a:fillRect/>
          </a:stretch>
        </p:blipFill>
        <p:spPr>
          <a:xfrm>
            <a:off x="796442" y="3763670"/>
            <a:ext cx="281635" cy="281635"/>
          </a:xfrm>
          <a:prstGeom prst="rect">
            <a:avLst/>
          </a:prstGeom>
        </p:spPr>
      </p:pic>
      <p:sp>
        <p:nvSpPr>
          <p:cNvPr id="22" name="Text 17"/>
          <p:cNvSpPr txBox="1"/>
          <p:nvPr/>
        </p:nvSpPr>
        <p:spPr>
          <a:xfrm>
            <a:off x="1325880" y="3529584"/>
            <a:ext cx="4206240" cy="749808"/>
          </a:xfrm>
          <a:prstGeom prst="rect">
            <a:avLst/>
          </a:prstGeom>
          <a:noFill/>
          <a:ln/>
        </p:spPr>
        <p:txBody>
          <a:bodyPr wrap="square" lIns="0" tIns="0" rIns="0" bIns="0" rtlCol="0" anchor="ctr"/>
          <a:lstStyle/>
          <a:p>
            <a:pPr indent="0" marL="0">
              <a:buNone/>
            </a:pPr>
            <a:r>
              <a:rPr lang="en-US" sz="1500" dirty="0">
                <a:solidFill>
                  <a:srgbClr val="1B2733"/>
                </a:solidFill>
                <a:latin typeface="Helvetica Neue" pitchFamily="34" charset="0"/>
                <a:ea typeface="Helvetica Neue" pitchFamily="34" charset="-122"/>
                <a:cs typeface="Helvetica Neue" pitchFamily="34" charset="-120"/>
              </a:rPr>
              <a:t>Projects and sites must not see each other's data</a:t>
            </a:r>
            <a:endParaRPr lang="en-US" sz="1500" dirty="0"/>
          </a:p>
        </p:txBody>
      </p:sp>
      <p:sp>
        <p:nvSpPr>
          <p:cNvPr id="23" name="Shape 18"/>
          <p:cNvSpPr/>
          <p:nvPr/>
        </p:nvSpPr>
        <p:spPr>
          <a:xfrm>
            <a:off x="5852160" y="3749040"/>
            <a:ext cx="228600" cy="310896"/>
          </a:xfrm>
          <a:prstGeom prst="chevron">
            <a:avLst/>
          </a:prstGeom>
          <a:solidFill>
            <a:srgbClr val="F2A93B"/>
          </a:solidFill>
          <a:ln w="12700">
            <a:solidFill>
              <a:srgbClr val="F2A93B"/>
            </a:solidFill>
            <a:prstDash val="solid"/>
          </a:ln>
        </p:spPr>
      </p:sp>
      <p:sp>
        <p:nvSpPr>
          <p:cNvPr id="24" name="answer 3"/>
          <p:cNvSpPr/>
          <p:nvPr/>
        </p:nvSpPr>
        <p:spPr>
          <a:xfrm>
            <a:off x="6309360" y="3529584"/>
            <a:ext cx="5312664" cy="749808"/>
          </a:xfrm>
          <a:prstGeom prst="roundRect">
            <a:avLst>
              <a:gd name="adj" fmla="val 14634"/>
            </a:avLst>
          </a:prstGeom>
          <a:solidFill>
            <a:srgbClr val="0B2239"/>
          </a:solidFill>
          <a:ln w="12700">
            <a:solidFill>
              <a:srgbClr val="0B2239"/>
            </a:solidFill>
            <a:prstDash val="solid"/>
          </a:ln>
        </p:spPr>
      </p:sp>
      <p:sp>
        <p:nvSpPr>
          <p:cNvPr id="25" name="Text 20"/>
          <p:cNvSpPr txBox="1"/>
          <p:nvPr/>
        </p:nvSpPr>
        <p:spPr>
          <a:xfrm>
            <a:off x="6537960" y="3529584"/>
            <a:ext cx="4937760" cy="749808"/>
          </a:xfrm>
          <a:prstGeom prst="rect">
            <a:avLst/>
          </a:prstGeom>
          <a:noFill/>
          <a:ln/>
        </p:spPr>
        <p:txBody>
          <a:bodyPr wrap="square" lIns="0" tIns="0" rIns="0" bIns="0" rtlCol="0" anchor="ctr"/>
          <a:lstStyle/>
          <a:p>
            <a:pPr indent="0" marL="0">
              <a:buNone/>
            </a:pPr>
            <a:r>
              <a:rPr lang="en-US" sz="1500" dirty="0">
                <a:solidFill>
                  <a:srgbClr val="FFFFFF"/>
                </a:solidFill>
                <a:latin typeface="Helvetica Neue" pitchFamily="34" charset="0"/>
                <a:ea typeface="Helvetica Neue" pitchFamily="34" charset="-122"/>
                <a:cs typeface="Helvetica Neue" pitchFamily="34" charset="-120"/>
              </a:rPr>
              <a:t>Personal access keys per project, roles, and data access groups</a:t>
            </a:r>
            <a:endParaRPr lang="en-US" sz="1500" dirty="0"/>
          </a:p>
        </p:txBody>
      </p:sp>
      <p:sp>
        <p:nvSpPr>
          <p:cNvPr id="26" name="need 4"/>
          <p:cNvSpPr/>
          <p:nvPr/>
        </p:nvSpPr>
        <p:spPr>
          <a:xfrm>
            <a:off x="548640" y="4425696"/>
            <a:ext cx="5120640" cy="749808"/>
          </a:xfrm>
          <a:prstGeom prst="roundRect">
            <a:avLst>
              <a:gd name="adj" fmla="val 14634"/>
            </a:avLst>
          </a:prstGeom>
          <a:solidFill>
            <a:srgbClr val="EEF3F7"/>
          </a:solidFill>
          <a:ln w="12700">
            <a:solidFill>
              <a:srgbClr val="EEF3F7"/>
            </a:solidFill>
            <a:prstDash val="solid"/>
          </a:ln>
        </p:spPr>
      </p:sp>
      <p:sp>
        <p:nvSpPr>
          <p:cNvPr id="27" name="icon wifi-off"/>
          <p:cNvSpPr/>
          <p:nvPr/>
        </p:nvSpPr>
        <p:spPr>
          <a:xfrm>
            <a:off x="685800" y="4549140"/>
            <a:ext cx="502920" cy="502920"/>
          </a:xfrm>
          <a:prstGeom prst="ellipse">
            <a:avLst/>
          </a:prstGeom>
          <a:solidFill>
            <a:srgbClr val="1F5F7A"/>
          </a:solidFill>
          <a:ln w="12700">
            <a:solidFill>
              <a:srgbClr val="1F5F7A"/>
            </a:solidFill>
            <a:prstDash val="solid"/>
          </a:ln>
        </p:spPr>
      </p:sp>
      <p:pic>
        <p:nvPicPr>
          <p:cNvPr id="28" name="Image 3" descr="wifi off">    </p:cNvPr>
          <p:cNvPicPr>
            <a:picLocks noChangeAspect="1"/>
          </p:cNvPicPr>
          <p:nvPr/>
        </p:nvPicPr>
        <p:blipFill>
          <a:blip r:embed="rId4"/>
          <a:stretch>
            <a:fillRect/>
          </a:stretch>
        </p:blipFill>
        <p:spPr>
          <a:xfrm>
            <a:off x="796442" y="4659782"/>
            <a:ext cx="281635" cy="281635"/>
          </a:xfrm>
          <a:prstGeom prst="rect">
            <a:avLst/>
          </a:prstGeom>
        </p:spPr>
      </p:pic>
      <p:sp>
        <p:nvSpPr>
          <p:cNvPr id="29" name="Text 23"/>
          <p:cNvSpPr txBox="1"/>
          <p:nvPr/>
        </p:nvSpPr>
        <p:spPr>
          <a:xfrm>
            <a:off x="1325880" y="4425696"/>
            <a:ext cx="4206240" cy="749808"/>
          </a:xfrm>
          <a:prstGeom prst="rect">
            <a:avLst/>
          </a:prstGeom>
          <a:noFill/>
          <a:ln/>
        </p:spPr>
        <p:txBody>
          <a:bodyPr wrap="square" lIns="0" tIns="0" rIns="0" bIns="0" rtlCol="0" anchor="ctr"/>
          <a:lstStyle/>
          <a:p>
            <a:pPr indent="0" marL="0">
              <a:buNone/>
            </a:pPr>
            <a:r>
              <a:rPr lang="en-US" sz="1500" dirty="0">
                <a:solidFill>
                  <a:srgbClr val="1B2733"/>
                </a:solidFill>
                <a:latin typeface="Helvetica Neue" pitchFamily="34" charset="0"/>
                <a:ea typeface="Helvetica Neue" pitchFamily="34" charset="-122"/>
                <a:cs typeface="Helvetica Neue" pitchFamily="34" charset="-120"/>
              </a:rPr>
              <a:t>It must run inside the hospital network</a:t>
            </a:r>
            <a:endParaRPr lang="en-US" sz="1500" dirty="0"/>
          </a:p>
        </p:txBody>
      </p:sp>
      <p:sp>
        <p:nvSpPr>
          <p:cNvPr id="30" name="Shape 24"/>
          <p:cNvSpPr/>
          <p:nvPr/>
        </p:nvSpPr>
        <p:spPr>
          <a:xfrm>
            <a:off x="5852160" y="4645152"/>
            <a:ext cx="228600" cy="310896"/>
          </a:xfrm>
          <a:prstGeom prst="chevron">
            <a:avLst/>
          </a:prstGeom>
          <a:solidFill>
            <a:srgbClr val="F2A93B"/>
          </a:solidFill>
          <a:ln w="12700">
            <a:solidFill>
              <a:srgbClr val="F2A93B"/>
            </a:solidFill>
            <a:prstDash val="solid"/>
          </a:ln>
        </p:spPr>
      </p:sp>
      <p:sp>
        <p:nvSpPr>
          <p:cNvPr id="31" name="answer 4"/>
          <p:cNvSpPr/>
          <p:nvPr/>
        </p:nvSpPr>
        <p:spPr>
          <a:xfrm>
            <a:off x="6309360" y="4425696"/>
            <a:ext cx="5312664" cy="749808"/>
          </a:xfrm>
          <a:prstGeom prst="roundRect">
            <a:avLst>
              <a:gd name="adj" fmla="val 14634"/>
            </a:avLst>
          </a:prstGeom>
          <a:solidFill>
            <a:srgbClr val="0B2239"/>
          </a:solidFill>
          <a:ln w="12700">
            <a:solidFill>
              <a:srgbClr val="0B2239"/>
            </a:solidFill>
            <a:prstDash val="solid"/>
          </a:ln>
        </p:spPr>
      </p:sp>
      <p:sp>
        <p:nvSpPr>
          <p:cNvPr id="32" name="Text 26"/>
          <p:cNvSpPr txBox="1"/>
          <p:nvPr/>
        </p:nvSpPr>
        <p:spPr>
          <a:xfrm>
            <a:off x="6537960" y="4425696"/>
            <a:ext cx="4937760" cy="749808"/>
          </a:xfrm>
          <a:prstGeom prst="rect">
            <a:avLst/>
          </a:prstGeom>
          <a:noFill/>
          <a:ln/>
        </p:spPr>
        <p:txBody>
          <a:bodyPr wrap="square" lIns="0" tIns="0" rIns="0" bIns="0" rtlCol="0" anchor="ctr"/>
          <a:lstStyle/>
          <a:p>
            <a:pPr indent="0" marL="0">
              <a:buNone/>
            </a:pPr>
            <a:r>
              <a:rPr lang="en-US" sz="1500" dirty="0">
                <a:solidFill>
                  <a:srgbClr val="FFFFFF"/>
                </a:solidFill>
                <a:latin typeface="Helvetica Neue" pitchFamily="34" charset="0"/>
                <a:ea typeface="Helvetica Neue" pitchFamily="34" charset="-122"/>
                <a:cs typeface="Helvetica Neue" pitchFamily="34" charset="-120"/>
              </a:rPr>
              <a:t>Self-contained: everything is installed locally — no internet needed</a:t>
            </a:r>
            <a:endParaRPr lang="en-US" sz="1500" dirty="0"/>
          </a:p>
        </p:txBody>
      </p:sp>
      <p:sp>
        <p:nvSpPr>
          <p:cNvPr id="33" name="need 5"/>
          <p:cNvSpPr/>
          <p:nvPr/>
        </p:nvSpPr>
        <p:spPr>
          <a:xfrm>
            <a:off x="548640" y="5321808"/>
            <a:ext cx="5120640" cy="749808"/>
          </a:xfrm>
          <a:prstGeom prst="roundRect">
            <a:avLst>
              <a:gd name="adj" fmla="val 14634"/>
            </a:avLst>
          </a:prstGeom>
          <a:solidFill>
            <a:srgbClr val="EEF3F7"/>
          </a:solidFill>
          <a:ln w="12700">
            <a:solidFill>
              <a:srgbClr val="EEF3F7"/>
            </a:solidFill>
            <a:prstDash val="solid"/>
          </a:ln>
        </p:spPr>
      </p:sp>
      <p:sp>
        <p:nvSpPr>
          <p:cNvPr id="34" name="icon history"/>
          <p:cNvSpPr/>
          <p:nvPr/>
        </p:nvSpPr>
        <p:spPr>
          <a:xfrm>
            <a:off x="685800" y="5445252"/>
            <a:ext cx="502920" cy="502920"/>
          </a:xfrm>
          <a:prstGeom prst="ellipse">
            <a:avLst/>
          </a:prstGeom>
          <a:solidFill>
            <a:srgbClr val="1F5F7A"/>
          </a:solidFill>
          <a:ln w="12700">
            <a:solidFill>
              <a:srgbClr val="1F5F7A"/>
            </a:solidFill>
            <a:prstDash val="solid"/>
          </a:ln>
        </p:spPr>
      </p:sp>
      <p:pic>
        <p:nvPicPr>
          <p:cNvPr id="35" name="Image 4" descr="history">    </p:cNvPr>
          <p:cNvPicPr>
            <a:picLocks noChangeAspect="1"/>
          </p:cNvPicPr>
          <p:nvPr/>
        </p:nvPicPr>
        <p:blipFill>
          <a:blip r:embed="rId5"/>
          <a:stretch>
            <a:fillRect/>
          </a:stretch>
        </p:blipFill>
        <p:spPr>
          <a:xfrm>
            <a:off x="796442" y="5555894"/>
            <a:ext cx="281635" cy="281635"/>
          </a:xfrm>
          <a:prstGeom prst="rect">
            <a:avLst/>
          </a:prstGeom>
        </p:spPr>
      </p:pic>
      <p:sp>
        <p:nvSpPr>
          <p:cNvPr id="36" name="Text 29"/>
          <p:cNvSpPr txBox="1"/>
          <p:nvPr/>
        </p:nvSpPr>
        <p:spPr>
          <a:xfrm>
            <a:off x="1325880" y="5321808"/>
            <a:ext cx="4206240" cy="749808"/>
          </a:xfrm>
          <a:prstGeom prst="rect">
            <a:avLst/>
          </a:prstGeom>
          <a:noFill/>
          <a:ln/>
        </p:spPr>
        <p:txBody>
          <a:bodyPr wrap="square" lIns="0" tIns="0" rIns="0" bIns="0" rtlCol="0" anchor="ctr"/>
          <a:lstStyle/>
          <a:p>
            <a:pPr indent="0" marL="0">
              <a:buNone/>
            </a:pPr>
            <a:r>
              <a:rPr lang="en-US" sz="1500" dirty="0">
                <a:solidFill>
                  <a:srgbClr val="1B2733"/>
                </a:solidFill>
                <a:latin typeface="Helvetica Neue" pitchFamily="34" charset="0"/>
                <a:ea typeface="Helvetica Neue" pitchFamily="34" charset="-122"/>
                <a:cs typeface="Helvetica Neue" pitchFamily="34" charset="-120"/>
              </a:rPr>
              <a:t>Every action must be traceable</a:t>
            </a:r>
            <a:endParaRPr lang="en-US" sz="1500" dirty="0"/>
          </a:p>
        </p:txBody>
      </p:sp>
      <p:sp>
        <p:nvSpPr>
          <p:cNvPr id="37" name="Shape 30"/>
          <p:cNvSpPr/>
          <p:nvPr/>
        </p:nvSpPr>
        <p:spPr>
          <a:xfrm>
            <a:off x="5852160" y="5541264"/>
            <a:ext cx="228600" cy="310896"/>
          </a:xfrm>
          <a:prstGeom prst="chevron">
            <a:avLst/>
          </a:prstGeom>
          <a:solidFill>
            <a:srgbClr val="F2A93B"/>
          </a:solidFill>
          <a:ln w="12700">
            <a:solidFill>
              <a:srgbClr val="F2A93B"/>
            </a:solidFill>
            <a:prstDash val="solid"/>
          </a:ln>
        </p:spPr>
      </p:sp>
      <p:sp>
        <p:nvSpPr>
          <p:cNvPr id="38" name="answer 5"/>
          <p:cNvSpPr/>
          <p:nvPr/>
        </p:nvSpPr>
        <p:spPr>
          <a:xfrm>
            <a:off x="6309360" y="5321808"/>
            <a:ext cx="5312664" cy="749808"/>
          </a:xfrm>
          <a:prstGeom prst="roundRect">
            <a:avLst>
              <a:gd name="adj" fmla="val 14634"/>
            </a:avLst>
          </a:prstGeom>
          <a:solidFill>
            <a:srgbClr val="0B2239"/>
          </a:solidFill>
          <a:ln w="12700">
            <a:solidFill>
              <a:srgbClr val="0B2239"/>
            </a:solidFill>
            <a:prstDash val="solid"/>
          </a:ln>
        </p:spPr>
      </p:sp>
      <p:sp>
        <p:nvSpPr>
          <p:cNvPr id="39" name="Text 32"/>
          <p:cNvSpPr txBox="1"/>
          <p:nvPr/>
        </p:nvSpPr>
        <p:spPr>
          <a:xfrm>
            <a:off x="6537960" y="5321808"/>
            <a:ext cx="4937760" cy="749808"/>
          </a:xfrm>
          <a:prstGeom prst="rect">
            <a:avLst/>
          </a:prstGeom>
          <a:noFill/>
          <a:ln/>
        </p:spPr>
        <p:txBody>
          <a:bodyPr wrap="square" lIns="0" tIns="0" rIns="0" bIns="0" rtlCol="0" anchor="ctr"/>
          <a:lstStyle/>
          <a:p>
            <a:pPr indent="0" marL="0">
              <a:buNone/>
            </a:pPr>
            <a:r>
              <a:rPr lang="en-US" sz="1500" dirty="0">
                <a:solidFill>
                  <a:srgbClr val="FFFFFF"/>
                </a:solidFill>
                <a:latin typeface="Helvetica Neue" pitchFamily="34" charset="0"/>
                <a:ea typeface="Helvetica Neue" pitchFamily="34" charset="-122"/>
                <a:cs typeface="Helvetica Neue" pitchFamily="34" charset="-120"/>
              </a:rPr>
              <a:t>A complete audit trail of every change and every view</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Helvetica Neue"/>
                <a:ea typeface="Helvetica Neue"/>
                <a:cs typeface="Helvetica Neue"/>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0B2239"/>
                </a:solidFill>
                <a:latin typeface="Avenir Next" pitchFamily="34" charset="0"/>
                <a:ea typeface="Avenir Next" pitchFamily="34" charset="-122"/>
                <a:cs typeface="Avenir Next" pitchFamily="34" charset="-120"/>
              </a:rPr>
              <a:t>Same requests, new engine</a:t>
            </a:r>
            <a:endParaRPr lang="en-US" sz="3600" dirty="0"/>
          </a:p>
        </p:txBody>
      </p:sp>
      <p:sp>
        <p:nvSpPr>
          <p:cNvPr id="3" name="stat 7"/>
          <p:cNvSpPr/>
          <p:nvPr/>
        </p:nvSpPr>
        <p:spPr>
          <a:xfrm>
            <a:off x="548640" y="1417320"/>
            <a:ext cx="3474720" cy="2697480"/>
          </a:xfrm>
          <a:prstGeom prst="roundRect">
            <a:avLst>
              <a:gd name="adj" fmla="val 4068"/>
            </a:avLst>
          </a:prstGeom>
          <a:solidFill>
            <a:srgbClr val="EEF3F7"/>
          </a:solidFill>
          <a:ln w="12700">
            <a:solidFill>
              <a:srgbClr val="EEF3F7"/>
            </a:solidFill>
            <a:prstDash val="solid"/>
          </a:ln>
        </p:spPr>
      </p:sp>
      <p:sp>
        <p:nvSpPr>
          <p:cNvPr id="4" name="Text 2"/>
          <p:cNvSpPr txBox="1"/>
          <p:nvPr/>
        </p:nvSpPr>
        <p:spPr>
          <a:xfrm>
            <a:off x="868680" y="1554480"/>
            <a:ext cx="2834640" cy="1097280"/>
          </a:xfrm>
          <a:prstGeom prst="rect">
            <a:avLst/>
          </a:prstGeom>
          <a:noFill/>
          <a:ln/>
        </p:spPr>
        <p:txBody>
          <a:bodyPr wrap="square" lIns="0" tIns="0" rIns="0" bIns="0" rtlCol="0" anchor="ctr"/>
          <a:lstStyle/>
          <a:p>
            <a:pPr indent="0" marL="0">
              <a:buNone/>
            </a:pPr>
            <a:r>
              <a:rPr lang="en-US" sz="7200" b="1" dirty="0">
                <a:solidFill>
                  <a:srgbClr val="A85A12"/>
                </a:solidFill>
                <a:latin typeface="Avenir Next" pitchFamily="34" charset="0"/>
                <a:ea typeface="Avenir Next" pitchFamily="34" charset="-122"/>
                <a:cs typeface="Avenir Next" pitchFamily="34" charset="-120"/>
              </a:rPr>
              <a:t>7</a:t>
            </a:r>
            <a:endParaRPr lang="en-US" sz="7200" dirty="0"/>
          </a:p>
        </p:txBody>
      </p:sp>
      <p:sp>
        <p:nvSpPr>
          <p:cNvPr id="5" name="Text 3"/>
          <p:cNvSpPr txBox="1"/>
          <p:nvPr/>
        </p:nvSpPr>
        <p:spPr>
          <a:xfrm>
            <a:off x="868680" y="2743200"/>
            <a:ext cx="2834640" cy="1188720"/>
          </a:xfrm>
          <a:prstGeom prst="rect">
            <a:avLst/>
          </a:prstGeom>
          <a:noFill/>
          <a:ln/>
        </p:spPr>
        <p:txBody>
          <a:bodyPr wrap="square" lIns="0" tIns="0" rIns="0" bIns="0" rtlCol="0" anchor="t"/>
          <a:lstStyle/>
          <a:p>
            <a:pPr indent="0" marL="0">
              <a:buNone/>
            </a:pPr>
            <a:r>
              <a:rPr lang="en-US" sz="1600" dirty="0">
                <a:solidFill>
                  <a:srgbClr val="1B2733"/>
                </a:solidFill>
                <a:latin typeface="Helvetica Neue" pitchFamily="34" charset="0"/>
                <a:ea typeface="Helvetica Neue" pitchFamily="34" charset="-122"/>
                <a:cs typeface="Helvetica Neue" pitchFamily="34" charset="-120"/>
              </a:rPr>
              <a:t>kinds of request FIONA sends — each answered the way REDCap answers it</a:t>
            </a:r>
            <a:endParaRPr lang="en-US" sz="1600" dirty="0"/>
          </a:p>
        </p:txBody>
      </p:sp>
      <p:sp>
        <p:nvSpPr>
          <p:cNvPr id="6" name="stat 0"/>
          <p:cNvSpPr/>
          <p:nvPr/>
        </p:nvSpPr>
        <p:spPr>
          <a:xfrm>
            <a:off x="4347972" y="1417320"/>
            <a:ext cx="3474720" cy="2697480"/>
          </a:xfrm>
          <a:prstGeom prst="roundRect">
            <a:avLst>
              <a:gd name="adj" fmla="val 4068"/>
            </a:avLst>
          </a:prstGeom>
          <a:solidFill>
            <a:srgbClr val="EEF3F7"/>
          </a:solidFill>
          <a:ln w="12700">
            <a:solidFill>
              <a:srgbClr val="EEF3F7"/>
            </a:solidFill>
            <a:prstDash val="solid"/>
          </a:ln>
        </p:spPr>
      </p:sp>
      <p:sp>
        <p:nvSpPr>
          <p:cNvPr id="7" name="Text 5"/>
          <p:cNvSpPr txBox="1"/>
          <p:nvPr/>
        </p:nvSpPr>
        <p:spPr>
          <a:xfrm>
            <a:off x="4668012" y="1554480"/>
            <a:ext cx="2834640" cy="1097280"/>
          </a:xfrm>
          <a:prstGeom prst="rect">
            <a:avLst/>
          </a:prstGeom>
          <a:noFill/>
          <a:ln/>
        </p:spPr>
        <p:txBody>
          <a:bodyPr wrap="square" lIns="0" tIns="0" rIns="0" bIns="0" rtlCol="0" anchor="ctr"/>
          <a:lstStyle/>
          <a:p>
            <a:pPr indent="0" marL="0">
              <a:buNone/>
            </a:pPr>
            <a:r>
              <a:rPr lang="en-US" sz="7200" b="1" dirty="0">
                <a:solidFill>
                  <a:srgbClr val="A85A12"/>
                </a:solidFill>
                <a:latin typeface="Avenir Next" pitchFamily="34" charset="0"/>
                <a:ea typeface="Avenir Next" pitchFamily="34" charset="-122"/>
                <a:cs typeface="Avenir Next" pitchFamily="34" charset="-120"/>
              </a:rPr>
              <a:t>0</a:t>
            </a:r>
            <a:endParaRPr lang="en-US" sz="7200" dirty="0"/>
          </a:p>
        </p:txBody>
      </p:sp>
      <p:sp>
        <p:nvSpPr>
          <p:cNvPr id="8" name="Text 6"/>
          <p:cNvSpPr txBox="1"/>
          <p:nvPr/>
        </p:nvSpPr>
        <p:spPr>
          <a:xfrm>
            <a:off x="4668012" y="2743200"/>
            <a:ext cx="2834640" cy="1188720"/>
          </a:xfrm>
          <a:prstGeom prst="rect">
            <a:avLst/>
          </a:prstGeom>
          <a:noFill/>
          <a:ln/>
        </p:spPr>
        <p:txBody>
          <a:bodyPr wrap="square" lIns="0" tIns="0" rIns="0" bIns="0" rtlCol="0" anchor="t"/>
          <a:lstStyle/>
          <a:p>
            <a:pPr indent="0" marL="0">
              <a:buNone/>
            </a:pPr>
            <a:r>
              <a:rPr lang="en-US" sz="1600" dirty="0">
                <a:solidFill>
                  <a:srgbClr val="1B2733"/>
                </a:solidFill>
                <a:latin typeface="Helvetica Neue" pitchFamily="34" charset="0"/>
                <a:ea typeface="Helvetica Neue" pitchFamily="34" charset="-122"/>
                <a:cs typeface="Helvetica Neue" pitchFamily="34" charset="-120"/>
              </a:rPr>
              <a:t>changes needed in FIONA itself</a:t>
            </a:r>
            <a:endParaRPr lang="en-US" sz="1600" dirty="0"/>
          </a:p>
        </p:txBody>
      </p:sp>
      <p:sp>
        <p:nvSpPr>
          <p:cNvPr id="9" name="stat 2"/>
          <p:cNvSpPr/>
          <p:nvPr/>
        </p:nvSpPr>
        <p:spPr>
          <a:xfrm>
            <a:off x="8147304" y="1417320"/>
            <a:ext cx="3474720" cy="2697480"/>
          </a:xfrm>
          <a:prstGeom prst="roundRect">
            <a:avLst>
              <a:gd name="adj" fmla="val 4068"/>
            </a:avLst>
          </a:prstGeom>
          <a:solidFill>
            <a:srgbClr val="EEF3F7"/>
          </a:solidFill>
          <a:ln w="12700">
            <a:solidFill>
              <a:srgbClr val="EEF3F7"/>
            </a:solidFill>
            <a:prstDash val="solid"/>
          </a:ln>
        </p:spPr>
      </p:sp>
      <p:sp>
        <p:nvSpPr>
          <p:cNvPr id="10" name="Text 8"/>
          <p:cNvSpPr txBox="1"/>
          <p:nvPr/>
        </p:nvSpPr>
        <p:spPr>
          <a:xfrm>
            <a:off x="8467344" y="1554480"/>
            <a:ext cx="2834640" cy="1097280"/>
          </a:xfrm>
          <a:prstGeom prst="rect">
            <a:avLst/>
          </a:prstGeom>
          <a:noFill/>
          <a:ln/>
        </p:spPr>
        <p:txBody>
          <a:bodyPr wrap="square" lIns="0" tIns="0" rIns="0" bIns="0" rtlCol="0" anchor="ctr"/>
          <a:lstStyle/>
          <a:p>
            <a:pPr indent="0" marL="0">
              <a:buNone/>
            </a:pPr>
            <a:r>
              <a:rPr lang="en-US" sz="7200" b="1" dirty="0">
                <a:solidFill>
                  <a:srgbClr val="A85A12"/>
                </a:solidFill>
                <a:latin typeface="Avenir Next" pitchFamily="34" charset="0"/>
                <a:ea typeface="Avenir Next" pitchFamily="34" charset="-122"/>
                <a:cs typeface="Avenir Next" pitchFamily="34" charset="-120"/>
              </a:rPr>
              <a:t>2</a:t>
            </a:r>
            <a:endParaRPr lang="en-US" sz="7200" dirty="0"/>
          </a:p>
        </p:txBody>
      </p:sp>
      <p:sp>
        <p:nvSpPr>
          <p:cNvPr id="11" name="Text 9"/>
          <p:cNvSpPr txBox="1"/>
          <p:nvPr/>
        </p:nvSpPr>
        <p:spPr>
          <a:xfrm>
            <a:off x="8467344" y="2743200"/>
            <a:ext cx="2834640" cy="1188720"/>
          </a:xfrm>
          <a:prstGeom prst="rect">
            <a:avLst/>
          </a:prstGeom>
          <a:noFill/>
          <a:ln/>
        </p:spPr>
        <p:txBody>
          <a:bodyPr wrap="square" lIns="0" tIns="0" rIns="0" bIns="0" rtlCol="0" anchor="t"/>
          <a:lstStyle/>
          <a:p>
            <a:pPr indent="0" marL="0">
              <a:buNone/>
            </a:pPr>
            <a:r>
              <a:rPr lang="en-US" sz="1600" dirty="0">
                <a:solidFill>
                  <a:srgbClr val="1B2733"/>
                </a:solidFill>
                <a:latin typeface="Helvetica Neue" pitchFamily="34" charset="0"/>
                <a:ea typeface="Helvetica Neue" pitchFamily="34" charset="-122"/>
                <a:cs typeface="Helvetica Neue" pitchFamily="34" charset="-120"/>
              </a:rPr>
              <a:t>faces: a silent API for FIONA, and a web interface for people</a:t>
            </a:r>
            <a:endParaRPr lang="en-US" sz="1600" dirty="0"/>
          </a:p>
        </p:txBody>
      </p:sp>
      <p:sp>
        <p:nvSpPr>
          <p:cNvPr id="12" name="Text 10"/>
          <p:cNvSpPr txBox="1"/>
          <p:nvPr/>
        </p:nvSpPr>
        <p:spPr>
          <a:xfrm>
            <a:off x="548640" y="4389120"/>
            <a:ext cx="10972800" cy="320040"/>
          </a:xfrm>
          <a:prstGeom prst="rect">
            <a:avLst/>
          </a:prstGeom>
          <a:noFill/>
          <a:ln/>
        </p:spPr>
        <p:txBody>
          <a:bodyPr wrap="square" lIns="0" tIns="0" rIns="0" bIns="0" rtlCol="0" anchor="t"/>
          <a:lstStyle/>
          <a:p>
            <a:pPr indent="0" marL="0">
              <a:buNone/>
            </a:pPr>
            <a:r>
              <a:rPr lang="en-US" sz="1400" b="1" dirty="0">
                <a:solidFill>
                  <a:srgbClr val="5B6B7A"/>
                </a:solidFill>
                <a:latin typeface="Helvetica Neue" pitchFamily="34" charset="0"/>
                <a:ea typeface="Helvetica Neue" pitchFamily="34" charset="-122"/>
                <a:cs typeface="Helvetica Neue" pitchFamily="34" charset="-120"/>
              </a:rPr>
              <a:t>FIONA's seven requests, in plain words</a:t>
            </a:r>
            <a:endParaRPr lang="en-US" sz="1400" dirty="0"/>
          </a:p>
        </p:txBody>
      </p:sp>
      <p:sp>
        <p:nvSpPr>
          <p:cNvPr id="13" name="Shape 11"/>
          <p:cNvSpPr/>
          <p:nvPr/>
        </p:nvSpPr>
        <p:spPr>
          <a:xfrm>
            <a:off x="548640" y="4846320"/>
            <a:ext cx="2651760" cy="457200"/>
          </a:xfrm>
          <a:prstGeom prst="roundRect">
            <a:avLst>
              <a:gd name="adj" fmla="val 50000"/>
            </a:avLst>
          </a:prstGeom>
          <a:solidFill>
            <a:srgbClr val="D6E2EC"/>
          </a:solidFill>
          <a:ln w="12700">
            <a:solidFill>
              <a:srgbClr val="D6E2EC"/>
            </a:solidFill>
            <a:prstDash val="solid"/>
          </a:ln>
        </p:spPr>
      </p:sp>
      <p:sp>
        <p:nvSpPr>
          <p:cNvPr id="14" name="Text 12"/>
          <p:cNvSpPr txBox="1"/>
          <p:nvPr/>
        </p:nvSpPr>
        <p:spPr>
          <a:xfrm>
            <a:off x="548640" y="4846320"/>
            <a:ext cx="2651760" cy="457200"/>
          </a:xfrm>
          <a:prstGeom prst="rect">
            <a:avLst/>
          </a:prstGeom>
          <a:noFill/>
          <a:ln/>
        </p:spPr>
        <p:txBody>
          <a:bodyPr wrap="square" lIns="0" tIns="0" rIns="0" bIns="0" rtlCol="0" anchor="ctr"/>
          <a:lstStyle/>
          <a:p>
            <a:pPr algn="ctr" indent="0" marL="0">
              <a:buNone/>
            </a:pPr>
            <a:r>
              <a:rPr lang="en-US" sz="1400" b="1" dirty="0">
                <a:solidFill>
                  <a:srgbClr val="0B2239"/>
                </a:solidFill>
                <a:latin typeface="Helvetica Neue" pitchFamily="34" charset="0"/>
                <a:ea typeface="Helvetica Neue" pitchFamily="34" charset="-122"/>
                <a:cs typeface="Helvetica Neue" pitchFamily="34" charset="-120"/>
              </a:rPr>
              <a:t>Project information</a:t>
            </a:r>
            <a:endParaRPr lang="en-US" sz="1400" dirty="0"/>
          </a:p>
        </p:txBody>
      </p:sp>
      <p:sp>
        <p:nvSpPr>
          <p:cNvPr id="15" name="Shape 13"/>
          <p:cNvSpPr/>
          <p:nvPr/>
        </p:nvSpPr>
        <p:spPr>
          <a:xfrm>
            <a:off x="3355848" y="4846320"/>
            <a:ext cx="2651760" cy="457200"/>
          </a:xfrm>
          <a:prstGeom prst="roundRect">
            <a:avLst>
              <a:gd name="adj" fmla="val 50000"/>
            </a:avLst>
          </a:prstGeom>
          <a:solidFill>
            <a:srgbClr val="D6E2EC"/>
          </a:solidFill>
          <a:ln w="12700">
            <a:solidFill>
              <a:srgbClr val="D6E2EC"/>
            </a:solidFill>
            <a:prstDash val="solid"/>
          </a:ln>
        </p:spPr>
      </p:sp>
      <p:sp>
        <p:nvSpPr>
          <p:cNvPr id="16" name="Text 14"/>
          <p:cNvSpPr txBox="1"/>
          <p:nvPr/>
        </p:nvSpPr>
        <p:spPr>
          <a:xfrm>
            <a:off x="3355848" y="4846320"/>
            <a:ext cx="2651760" cy="457200"/>
          </a:xfrm>
          <a:prstGeom prst="rect">
            <a:avLst/>
          </a:prstGeom>
          <a:noFill/>
          <a:ln/>
        </p:spPr>
        <p:txBody>
          <a:bodyPr wrap="square" lIns="0" tIns="0" rIns="0" bIns="0" rtlCol="0" anchor="ctr"/>
          <a:lstStyle/>
          <a:p>
            <a:pPr algn="ctr" indent="0" marL="0">
              <a:buNone/>
            </a:pPr>
            <a:r>
              <a:rPr lang="en-US" sz="1400" b="1" dirty="0">
                <a:solidFill>
                  <a:srgbClr val="0B2239"/>
                </a:solidFill>
                <a:latin typeface="Helvetica Neue" pitchFamily="34" charset="0"/>
                <a:ea typeface="Helvetica Neue" pitchFamily="34" charset="-122"/>
                <a:cs typeface="Helvetica Neue" pitchFamily="34" charset="-120"/>
              </a:rPr>
              <a:t>Form definitions</a:t>
            </a:r>
            <a:endParaRPr lang="en-US" sz="1400" dirty="0"/>
          </a:p>
        </p:txBody>
      </p:sp>
      <p:sp>
        <p:nvSpPr>
          <p:cNvPr id="17" name="Shape 15"/>
          <p:cNvSpPr/>
          <p:nvPr/>
        </p:nvSpPr>
        <p:spPr>
          <a:xfrm>
            <a:off x="6163056" y="4846320"/>
            <a:ext cx="2651760" cy="457200"/>
          </a:xfrm>
          <a:prstGeom prst="roundRect">
            <a:avLst>
              <a:gd name="adj" fmla="val 50000"/>
            </a:avLst>
          </a:prstGeom>
          <a:solidFill>
            <a:srgbClr val="D6E2EC"/>
          </a:solidFill>
          <a:ln w="12700">
            <a:solidFill>
              <a:srgbClr val="D6E2EC"/>
            </a:solidFill>
            <a:prstDash val="solid"/>
          </a:ln>
        </p:spPr>
      </p:sp>
      <p:sp>
        <p:nvSpPr>
          <p:cNvPr id="18" name="Text 16"/>
          <p:cNvSpPr txBox="1"/>
          <p:nvPr/>
        </p:nvSpPr>
        <p:spPr>
          <a:xfrm>
            <a:off x="6163056" y="4846320"/>
            <a:ext cx="2651760" cy="457200"/>
          </a:xfrm>
          <a:prstGeom prst="rect">
            <a:avLst/>
          </a:prstGeom>
          <a:noFill/>
          <a:ln/>
        </p:spPr>
        <p:txBody>
          <a:bodyPr wrap="square" lIns="0" tIns="0" rIns="0" bIns="0" rtlCol="0" anchor="ctr"/>
          <a:lstStyle/>
          <a:p>
            <a:pPr algn="ctr" indent="0" marL="0">
              <a:buNone/>
            </a:pPr>
            <a:r>
              <a:rPr lang="en-US" sz="1400" b="1" dirty="0">
                <a:solidFill>
                  <a:srgbClr val="0B2239"/>
                </a:solidFill>
                <a:latin typeface="Helvetica Neue" pitchFamily="34" charset="0"/>
                <a:ea typeface="Helvetica Neue" pitchFamily="34" charset="-122"/>
                <a:cs typeface="Helvetica Neue" pitchFamily="34" charset="-120"/>
              </a:rPr>
              <a:t>Visits (events)</a:t>
            </a:r>
            <a:endParaRPr lang="en-US" sz="1400" dirty="0"/>
          </a:p>
        </p:txBody>
      </p:sp>
      <p:sp>
        <p:nvSpPr>
          <p:cNvPr id="19" name="Shape 17"/>
          <p:cNvSpPr/>
          <p:nvPr/>
        </p:nvSpPr>
        <p:spPr>
          <a:xfrm>
            <a:off x="8970264" y="4846320"/>
            <a:ext cx="2651760" cy="457200"/>
          </a:xfrm>
          <a:prstGeom prst="roundRect">
            <a:avLst>
              <a:gd name="adj" fmla="val 50000"/>
            </a:avLst>
          </a:prstGeom>
          <a:solidFill>
            <a:srgbClr val="D6E2EC"/>
          </a:solidFill>
          <a:ln w="12700">
            <a:solidFill>
              <a:srgbClr val="D6E2EC"/>
            </a:solidFill>
            <a:prstDash val="solid"/>
          </a:ln>
        </p:spPr>
      </p:sp>
      <p:sp>
        <p:nvSpPr>
          <p:cNvPr id="20" name="Text 18"/>
          <p:cNvSpPr txBox="1"/>
          <p:nvPr/>
        </p:nvSpPr>
        <p:spPr>
          <a:xfrm>
            <a:off x="8970264" y="4846320"/>
            <a:ext cx="2651760" cy="457200"/>
          </a:xfrm>
          <a:prstGeom prst="rect">
            <a:avLst/>
          </a:prstGeom>
          <a:noFill/>
          <a:ln/>
        </p:spPr>
        <p:txBody>
          <a:bodyPr wrap="square" lIns="0" tIns="0" rIns="0" bIns="0" rtlCol="0" anchor="ctr"/>
          <a:lstStyle/>
          <a:p>
            <a:pPr algn="ctr" indent="0" marL="0">
              <a:buNone/>
            </a:pPr>
            <a:r>
              <a:rPr lang="en-US" sz="1400" b="1" dirty="0">
                <a:solidFill>
                  <a:srgbClr val="0B2239"/>
                </a:solidFill>
                <a:latin typeface="Helvetica Neue" pitchFamily="34" charset="0"/>
                <a:ea typeface="Helvetica Neue" pitchFamily="34" charset="-122"/>
                <a:cs typeface="Helvetica Neue" pitchFamily="34" charset="-120"/>
              </a:rPr>
              <a:t>Which form at which visit</a:t>
            </a:r>
            <a:endParaRPr lang="en-US" sz="1400" dirty="0"/>
          </a:p>
        </p:txBody>
      </p:sp>
      <p:sp>
        <p:nvSpPr>
          <p:cNvPr id="21" name="Shape 19"/>
          <p:cNvSpPr/>
          <p:nvPr/>
        </p:nvSpPr>
        <p:spPr>
          <a:xfrm>
            <a:off x="548640" y="5440680"/>
            <a:ext cx="2651760" cy="457200"/>
          </a:xfrm>
          <a:prstGeom prst="roundRect">
            <a:avLst>
              <a:gd name="adj" fmla="val 50000"/>
            </a:avLst>
          </a:prstGeom>
          <a:solidFill>
            <a:srgbClr val="D6E2EC"/>
          </a:solidFill>
          <a:ln w="12700">
            <a:solidFill>
              <a:srgbClr val="D6E2EC"/>
            </a:solidFill>
            <a:prstDash val="solid"/>
          </a:ln>
        </p:spPr>
      </p:sp>
      <p:sp>
        <p:nvSpPr>
          <p:cNvPr id="22" name="Text 20"/>
          <p:cNvSpPr txBox="1"/>
          <p:nvPr/>
        </p:nvSpPr>
        <p:spPr>
          <a:xfrm>
            <a:off x="548640" y="5440680"/>
            <a:ext cx="2651760" cy="457200"/>
          </a:xfrm>
          <a:prstGeom prst="rect">
            <a:avLst/>
          </a:prstGeom>
          <a:noFill/>
          <a:ln/>
        </p:spPr>
        <p:txBody>
          <a:bodyPr wrap="square" lIns="0" tIns="0" rIns="0" bIns="0" rtlCol="0" anchor="ctr"/>
          <a:lstStyle/>
          <a:p>
            <a:pPr algn="ctr" indent="0" marL="0">
              <a:buNone/>
            </a:pPr>
            <a:r>
              <a:rPr lang="en-US" sz="1400" b="1" dirty="0">
                <a:solidFill>
                  <a:srgbClr val="0B2239"/>
                </a:solidFill>
                <a:latin typeface="Helvetica Neue" pitchFamily="34" charset="0"/>
                <a:ea typeface="Helvetica Neue" pitchFamily="34" charset="-122"/>
                <a:cs typeface="Helvetica Neue" pitchFamily="34" charset="-120"/>
              </a:rPr>
              <a:t>Field names</a:t>
            </a:r>
            <a:endParaRPr lang="en-US" sz="1400" dirty="0"/>
          </a:p>
        </p:txBody>
      </p:sp>
      <p:sp>
        <p:nvSpPr>
          <p:cNvPr id="23" name="Shape 21"/>
          <p:cNvSpPr/>
          <p:nvPr/>
        </p:nvSpPr>
        <p:spPr>
          <a:xfrm>
            <a:off x="3355848" y="5440680"/>
            <a:ext cx="2651760" cy="457200"/>
          </a:xfrm>
          <a:prstGeom prst="roundRect">
            <a:avLst>
              <a:gd name="adj" fmla="val 50000"/>
            </a:avLst>
          </a:prstGeom>
          <a:solidFill>
            <a:srgbClr val="D6E2EC"/>
          </a:solidFill>
          <a:ln w="12700">
            <a:solidFill>
              <a:srgbClr val="D6E2EC"/>
            </a:solidFill>
            <a:prstDash val="solid"/>
          </a:ln>
        </p:spPr>
      </p:sp>
      <p:sp>
        <p:nvSpPr>
          <p:cNvPr id="24" name="Text 22"/>
          <p:cNvSpPr txBox="1"/>
          <p:nvPr/>
        </p:nvSpPr>
        <p:spPr>
          <a:xfrm>
            <a:off x="3355848" y="5440680"/>
            <a:ext cx="2651760" cy="457200"/>
          </a:xfrm>
          <a:prstGeom prst="rect">
            <a:avLst/>
          </a:prstGeom>
          <a:noFill/>
          <a:ln/>
        </p:spPr>
        <p:txBody>
          <a:bodyPr wrap="square" lIns="0" tIns="0" rIns="0" bIns="0" rtlCol="0" anchor="ctr"/>
          <a:lstStyle/>
          <a:p>
            <a:pPr algn="ctr" indent="0" marL="0">
              <a:buNone/>
            </a:pPr>
            <a:r>
              <a:rPr lang="en-US" sz="1400" b="1" dirty="0">
                <a:solidFill>
                  <a:srgbClr val="0B2239"/>
                </a:solidFill>
                <a:latin typeface="Helvetica Neue" pitchFamily="34" charset="0"/>
                <a:ea typeface="Helvetica Neue" pitchFamily="34" charset="-122"/>
                <a:cs typeface="Helvetica Neue" pitchFamily="34" charset="-120"/>
              </a:rPr>
              <a:t>Next free record number</a:t>
            </a:r>
            <a:endParaRPr lang="en-US" sz="1400" dirty="0"/>
          </a:p>
        </p:txBody>
      </p:sp>
      <p:sp>
        <p:nvSpPr>
          <p:cNvPr id="25" name="Shape 23"/>
          <p:cNvSpPr/>
          <p:nvPr/>
        </p:nvSpPr>
        <p:spPr>
          <a:xfrm>
            <a:off x="6163056" y="5440680"/>
            <a:ext cx="2651760" cy="457200"/>
          </a:xfrm>
          <a:prstGeom prst="roundRect">
            <a:avLst>
              <a:gd name="adj" fmla="val 50000"/>
            </a:avLst>
          </a:prstGeom>
          <a:solidFill>
            <a:srgbClr val="0B2239"/>
          </a:solidFill>
          <a:ln w="12700">
            <a:solidFill>
              <a:srgbClr val="0B2239"/>
            </a:solidFill>
            <a:prstDash val="solid"/>
          </a:ln>
        </p:spPr>
      </p:sp>
      <p:sp>
        <p:nvSpPr>
          <p:cNvPr id="26" name="Text 24"/>
          <p:cNvSpPr txBox="1"/>
          <p:nvPr/>
        </p:nvSpPr>
        <p:spPr>
          <a:xfrm>
            <a:off x="6163056" y="5440680"/>
            <a:ext cx="26517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Records: read, write, delete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Helvetica Neue"/>
                <a:ea typeface="Helvetica Neue"/>
                <a:cs typeface="Helvetica Neue"/>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1463040"/>
            <a:ext cx="1828800" cy="1188720"/>
          </a:xfrm>
          <a:prstGeom prst="rect">
            <a:avLst/>
          </a:prstGeom>
          <a:noFill/>
          <a:ln/>
        </p:spPr>
        <p:txBody>
          <a:bodyPr wrap="square" lIns="0" tIns="0" rIns="0" bIns="0" rtlCol="0" anchor="t"/>
          <a:lstStyle/>
          <a:p>
            <a:pPr indent="0" marL="0">
              <a:buNone/>
            </a:pPr>
            <a:r>
              <a:rPr lang="en-US" sz="9600" b="1" dirty="0">
                <a:solidFill>
                  <a:srgbClr val="F2A93B"/>
                </a:solidFill>
                <a:latin typeface="Avenir Next" pitchFamily="34" charset="0"/>
                <a:ea typeface="Avenir Next" pitchFamily="34" charset="-122"/>
                <a:cs typeface="Avenir Next" pitchFamily="34" charset="-120"/>
              </a:rPr>
              <a:t>2</a:t>
            </a:r>
            <a:endParaRPr lang="en-US" sz="9600" dirty="0"/>
          </a:p>
        </p:txBody>
      </p:sp>
      <p:sp>
        <p:nvSpPr>
          <p:cNvPr id="3" name="Text 1"/>
          <p:cNvSpPr txBox="1"/>
          <p:nvPr/>
        </p:nvSpPr>
        <p:spPr>
          <a:xfrm>
            <a:off x="731520" y="2788920"/>
            <a:ext cx="7863840" cy="914400"/>
          </a:xfrm>
          <a:prstGeom prst="rect">
            <a:avLst/>
          </a:prstGeom>
          <a:noFill/>
          <a:ln/>
        </p:spPr>
        <p:txBody>
          <a:bodyPr wrap="square" lIns="0" tIns="0" rIns="0" bIns="0" rtlCol="0" anchor="ctr"/>
          <a:lstStyle/>
          <a:p>
            <a:pPr indent="0" marL="0">
              <a:buNone/>
            </a:pPr>
            <a:r>
              <a:rPr lang="en-US" sz="4400" b="1" dirty="0">
                <a:solidFill>
                  <a:srgbClr val="FFFFFF"/>
                </a:solidFill>
                <a:latin typeface="Avenir Next" pitchFamily="34" charset="0"/>
                <a:ea typeface="Avenir Next" pitchFamily="34" charset="-122"/>
                <a:cs typeface="Avenir Next" pitchFamily="34" charset="-120"/>
              </a:rPr>
              <a:t>The silent partner</a:t>
            </a:r>
            <a:endParaRPr lang="en-US" sz="4400" dirty="0"/>
          </a:p>
        </p:txBody>
      </p:sp>
      <p:sp>
        <p:nvSpPr>
          <p:cNvPr id="4" name="Text 2"/>
          <p:cNvSpPr txBox="1"/>
          <p:nvPr/>
        </p:nvSpPr>
        <p:spPr>
          <a:xfrm>
            <a:off x="731520" y="3794760"/>
            <a:ext cx="7863840" cy="822960"/>
          </a:xfrm>
          <a:prstGeom prst="rect">
            <a:avLst/>
          </a:prstGeom>
          <a:noFill/>
          <a:ln/>
        </p:spPr>
        <p:txBody>
          <a:bodyPr wrap="square" lIns="0" tIns="0" rIns="0" bIns="0" rtlCol="0" anchor="t"/>
          <a:lstStyle/>
          <a:p>
            <a:pPr indent="0" marL="0">
              <a:buNone/>
            </a:pPr>
            <a:r>
              <a:rPr lang="en-US" sz="2000" dirty="0">
                <a:solidFill>
                  <a:srgbClr val="D6E2EC"/>
                </a:solidFill>
                <a:latin typeface="Helvetica Neue" pitchFamily="34" charset="0"/>
                <a:ea typeface="Helvetica Neue" pitchFamily="34" charset="-122"/>
                <a:cs typeface="Helvetica Neue" pitchFamily="34" charset="-120"/>
              </a:rPr>
              <a:t>CLARA's API — where FIONA keeps its books, day and night</a:t>
            </a:r>
            <a:endParaRPr lang="en-US" sz="2000" dirty="0"/>
          </a:p>
        </p:txBody>
      </p:sp>
      <p:sp>
        <p:nvSpPr>
          <p:cNvPr id="5" name="icon database"/>
          <p:cNvSpPr/>
          <p:nvPr/>
        </p:nvSpPr>
        <p:spPr>
          <a:xfrm>
            <a:off x="9144000" y="2148840"/>
            <a:ext cx="2103120" cy="2103120"/>
          </a:xfrm>
          <a:prstGeom prst="ellipse">
            <a:avLst/>
          </a:prstGeom>
          <a:solidFill>
            <a:srgbClr val="1F5F7A"/>
          </a:solidFill>
          <a:ln w="12700">
            <a:solidFill>
              <a:srgbClr val="1F5F7A"/>
            </a:solidFill>
            <a:prstDash val="solid"/>
          </a:ln>
        </p:spPr>
      </p:sp>
      <p:pic>
        <p:nvPicPr>
          <p:cNvPr id="6" name="Image 0" descr="database">    </p:cNvPr>
          <p:cNvPicPr>
            <a:picLocks noChangeAspect="1"/>
          </p:cNvPicPr>
          <p:nvPr/>
        </p:nvPicPr>
        <p:blipFill>
          <a:blip r:embed="rId1"/>
          <a:stretch>
            <a:fillRect/>
          </a:stretch>
        </p:blipFill>
        <p:spPr>
          <a:xfrm>
            <a:off x="9606686" y="2611526"/>
            <a:ext cx="1177747" cy="1177747"/>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BA"/>
                </a:solidFill>
                <a:latin typeface="Helvetica Neue"/>
                <a:ea typeface="Helvetica Neue"/>
                <a:cs typeface="Helvetica Neue"/>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0B2239"/>
                </a:solidFill>
                <a:latin typeface="Avenir Next" pitchFamily="34" charset="0"/>
                <a:ea typeface="Avenir Next" pitchFamily="34" charset="-122"/>
                <a:cs typeface="Avenir Next" pitchFamily="34" charset="-120"/>
              </a:rPr>
              <a:t>Three kinds of information FIONA keeps in CLARA</a:t>
            </a:r>
            <a:endParaRPr lang="en-US" sz="3600" dirty="0"/>
          </a:p>
        </p:txBody>
      </p:sp>
      <p:sp>
        <p:nvSpPr>
          <p:cNvPr id="3" name="iPad 07-record-incoming"/>
          <p:cNvSpPr/>
          <p:nvPr/>
        </p:nvSpPr>
        <p:spPr>
          <a:xfrm>
            <a:off x="548640" y="1371600"/>
            <a:ext cx="3474720" cy="2666848"/>
          </a:xfrm>
          <a:prstGeom prst="roundRect">
            <a:avLst>
              <a:gd name="adj" fmla="val 8208"/>
            </a:avLst>
          </a:prstGeom>
          <a:solidFill>
            <a:srgbClr val="1C1C1E"/>
          </a:solidFill>
          <a:ln w="9525">
            <a:solidFill>
              <a:srgbClr val="3A3A3C"/>
            </a:solidFill>
            <a:prstDash val="solid"/>
          </a:ln>
          <a:effectLst>
            <a:outerShdw sx="100000" sy="100000" kx="0" ky="0" algn="bl" rotWithShape="0" blurRad="127000" dist="38100" dir="5400000">
              <a:srgbClr val="000000">
                <a:alpha val="22000"/>
              </a:srgbClr>
            </a:outerShdw>
          </a:effectLst>
        </p:spPr>
      </p:sp>
      <p:pic>
        <p:nvPicPr>
          <p:cNvPr id="4" name="Image 0" descr="Incoming study form with institution, sending device and patient fields">    </p:cNvPr>
          <p:cNvPicPr>
            <a:picLocks noChangeAspect="1"/>
          </p:cNvPicPr>
          <p:nvPr/>
        </p:nvPicPr>
        <p:blipFill>
          <a:blip r:embed="rId1"/>
          <a:stretch>
            <a:fillRect/>
          </a:stretch>
        </p:blipFill>
        <p:spPr>
          <a:xfrm>
            <a:off x="670255" y="1493215"/>
            <a:ext cx="3231490" cy="2423617"/>
          </a:xfrm>
          <a:prstGeom prst="rect">
            <a:avLst/>
          </a:prstGeom>
        </p:spPr>
      </p:pic>
      <p:sp>
        <p:nvSpPr>
          <p:cNvPr id="5" name="Shape 2"/>
          <p:cNvSpPr/>
          <p:nvPr/>
        </p:nvSpPr>
        <p:spPr>
          <a:xfrm>
            <a:off x="2258568" y="1404976"/>
            <a:ext cx="54864" cy="54864"/>
          </a:xfrm>
          <a:prstGeom prst="ellipse">
            <a:avLst/>
          </a:prstGeom>
          <a:solidFill>
            <a:srgbClr val="48484A"/>
          </a:solidFill>
          <a:ln w="12700">
            <a:solidFill>
              <a:srgbClr val="48484A"/>
            </a:solidFill>
            <a:prstDash val="solid"/>
          </a:ln>
        </p:spPr>
      </p:sp>
      <p:sp>
        <p:nvSpPr>
          <p:cNvPr id="6" name="icon scan"/>
          <p:cNvSpPr/>
          <p:nvPr/>
        </p:nvSpPr>
        <p:spPr>
          <a:xfrm>
            <a:off x="548640" y="4312768"/>
            <a:ext cx="411480" cy="411480"/>
          </a:xfrm>
          <a:prstGeom prst="ellipse">
            <a:avLst/>
          </a:prstGeom>
          <a:solidFill>
            <a:srgbClr val="1F5F7A"/>
          </a:solidFill>
          <a:ln w="12700">
            <a:solidFill>
              <a:srgbClr val="1F5F7A"/>
            </a:solidFill>
            <a:prstDash val="solid"/>
          </a:ln>
        </p:spPr>
      </p:sp>
      <p:pic>
        <p:nvPicPr>
          <p:cNvPr id="7" name="Image 1" descr="scan">    </p:cNvPr>
          <p:cNvPicPr>
            <a:picLocks noChangeAspect="1"/>
          </p:cNvPicPr>
          <p:nvPr/>
        </p:nvPicPr>
        <p:blipFill>
          <a:blip r:embed="rId2"/>
          <a:stretch>
            <a:fillRect/>
          </a:stretch>
        </p:blipFill>
        <p:spPr>
          <a:xfrm>
            <a:off x="639166" y="4403293"/>
            <a:ext cx="230429" cy="230429"/>
          </a:xfrm>
          <a:prstGeom prst="rect">
            <a:avLst/>
          </a:prstGeom>
        </p:spPr>
      </p:pic>
      <p:sp>
        <p:nvSpPr>
          <p:cNvPr id="8" name="Text 4"/>
          <p:cNvSpPr txBox="1"/>
          <p:nvPr/>
        </p:nvSpPr>
        <p:spPr>
          <a:xfrm>
            <a:off x="1097280" y="4312768"/>
            <a:ext cx="2926080" cy="411480"/>
          </a:xfrm>
          <a:prstGeom prst="rect">
            <a:avLst/>
          </a:prstGeom>
          <a:noFill/>
          <a:ln/>
        </p:spPr>
        <p:txBody>
          <a:bodyPr wrap="square" lIns="0" tIns="0" rIns="0" bIns="0" rtlCol="0" anchor="ctr"/>
          <a:lstStyle/>
          <a:p>
            <a:pPr indent="0" marL="0">
              <a:buNone/>
            </a:pPr>
            <a:r>
              <a:rPr lang="en-US" sz="1800" b="1" dirty="0">
                <a:solidFill>
                  <a:srgbClr val="0B2239"/>
                </a:solidFill>
                <a:latin typeface="Avenir Next" pitchFamily="34" charset="0"/>
                <a:ea typeface="Avenir Next" pitchFamily="34" charset="-122"/>
                <a:cs typeface="Avenir Next" pitchFamily="34" charset="-120"/>
              </a:rPr>
              <a:t>Incoming studies</a:t>
            </a:r>
            <a:endParaRPr lang="en-US" sz="1800" dirty="0"/>
          </a:p>
        </p:txBody>
      </p:sp>
      <p:sp>
        <p:nvSpPr>
          <p:cNvPr id="9" name="Text 5"/>
          <p:cNvSpPr txBox="1"/>
          <p:nvPr/>
        </p:nvSpPr>
        <p:spPr>
          <a:xfrm>
            <a:off x="548640" y="4861408"/>
            <a:ext cx="3474720" cy="100584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Each study that arrives: hospital, sending device, patient, description and date.</a:t>
            </a:r>
            <a:endParaRPr lang="en-US" sz="1400" dirty="0"/>
          </a:p>
        </p:txBody>
      </p:sp>
      <p:sp>
        <p:nvSpPr>
          <p:cNvPr id="10" name="iPad 08-record-series"/>
          <p:cNvSpPr/>
          <p:nvPr/>
        </p:nvSpPr>
        <p:spPr>
          <a:xfrm>
            <a:off x="4347972" y="1371600"/>
            <a:ext cx="3474720" cy="2666848"/>
          </a:xfrm>
          <a:prstGeom prst="roundRect">
            <a:avLst>
              <a:gd name="adj" fmla="val 8208"/>
            </a:avLst>
          </a:prstGeom>
          <a:solidFill>
            <a:srgbClr val="1C1C1E"/>
          </a:solidFill>
          <a:ln w="9525">
            <a:solidFill>
              <a:srgbClr val="3A3A3C"/>
            </a:solidFill>
            <a:prstDash val="solid"/>
          </a:ln>
          <a:effectLst>
            <a:outerShdw sx="100000" sy="100000" kx="0" ky="0" algn="bl" rotWithShape="0" blurRad="127000" dist="38100" dir="5400000">
              <a:srgbClr val="000000">
                <a:alpha val="22000"/>
              </a:srgbClr>
            </a:outerShdw>
          </a:effectLst>
        </p:spPr>
      </p:sp>
      <p:pic>
        <p:nvPicPr>
          <p:cNvPr id="11" name="Image 2" descr="Series form with series description, file count and image type">    </p:cNvPr>
          <p:cNvPicPr>
            <a:picLocks noChangeAspect="1"/>
          </p:cNvPicPr>
          <p:nvPr/>
        </p:nvPicPr>
        <p:blipFill>
          <a:blip r:embed="rId3"/>
          <a:stretch>
            <a:fillRect/>
          </a:stretch>
        </p:blipFill>
        <p:spPr>
          <a:xfrm>
            <a:off x="4469587" y="1493215"/>
            <a:ext cx="3231490" cy="2423617"/>
          </a:xfrm>
          <a:prstGeom prst="rect">
            <a:avLst/>
          </a:prstGeom>
        </p:spPr>
      </p:pic>
      <p:sp>
        <p:nvSpPr>
          <p:cNvPr id="12" name="Shape 7"/>
          <p:cNvSpPr/>
          <p:nvPr/>
        </p:nvSpPr>
        <p:spPr>
          <a:xfrm>
            <a:off x="6057900" y="1404976"/>
            <a:ext cx="54864" cy="54864"/>
          </a:xfrm>
          <a:prstGeom prst="ellipse">
            <a:avLst/>
          </a:prstGeom>
          <a:solidFill>
            <a:srgbClr val="48484A"/>
          </a:solidFill>
          <a:ln w="12700">
            <a:solidFill>
              <a:srgbClr val="48484A"/>
            </a:solidFill>
            <a:prstDash val="solid"/>
          </a:ln>
        </p:spPr>
      </p:sp>
      <p:sp>
        <p:nvSpPr>
          <p:cNvPr id="13" name="icon folders"/>
          <p:cNvSpPr/>
          <p:nvPr/>
        </p:nvSpPr>
        <p:spPr>
          <a:xfrm>
            <a:off x="4347972" y="4312768"/>
            <a:ext cx="411480" cy="411480"/>
          </a:xfrm>
          <a:prstGeom prst="ellipse">
            <a:avLst/>
          </a:prstGeom>
          <a:solidFill>
            <a:srgbClr val="1F5F7A"/>
          </a:solidFill>
          <a:ln w="12700">
            <a:solidFill>
              <a:srgbClr val="1F5F7A"/>
            </a:solidFill>
            <a:prstDash val="solid"/>
          </a:ln>
        </p:spPr>
      </p:sp>
      <p:pic>
        <p:nvPicPr>
          <p:cNvPr id="14" name="Image 3" descr="folders">    </p:cNvPr>
          <p:cNvPicPr>
            <a:picLocks noChangeAspect="1"/>
          </p:cNvPicPr>
          <p:nvPr/>
        </p:nvPicPr>
        <p:blipFill>
          <a:blip r:embed="rId4"/>
          <a:stretch>
            <a:fillRect/>
          </a:stretch>
        </p:blipFill>
        <p:spPr>
          <a:xfrm>
            <a:off x="4438498" y="4403293"/>
            <a:ext cx="230429" cy="230429"/>
          </a:xfrm>
          <a:prstGeom prst="rect">
            <a:avLst/>
          </a:prstGeom>
        </p:spPr>
      </p:pic>
      <p:sp>
        <p:nvSpPr>
          <p:cNvPr id="15" name="Text 9"/>
          <p:cNvSpPr txBox="1"/>
          <p:nvPr/>
        </p:nvSpPr>
        <p:spPr>
          <a:xfrm>
            <a:off x="4896612" y="4312768"/>
            <a:ext cx="2926080" cy="411480"/>
          </a:xfrm>
          <a:prstGeom prst="rect">
            <a:avLst/>
          </a:prstGeom>
          <a:noFill/>
          <a:ln/>
        </p:spPr>
        <p:txBody>
          <a:bodyPr wrap="square" lIns="0" tIns="0" rIns="0" bIns="0" rtlCol="0" anchor="ctr"/>
          <a:lstStyle/>
          <a:p>
            <a:pPr indent="0" marL="0">
              <a:buNone/>
            </a:pPr>
            <a:r>
              <a:rPr lang="en-US" sz="1800" b="1" dirty="0">
                <a:solidFill>
                  <a:srgbClr val="0B2239"/>
                </a:solidFill>
                <a:latin typeface="Avenir Next" pitchFamily="34" charset="0"/>
                <a:ea typeface="Avenir Next" pitchFamily="34" charset="-122"/>
                <a:cs typeface="Avenir Next" pitchFamily="34" charset="-120"/>
              </a:rPr>
              <a:t>Image series</a:t>
            </a:r>
            <a:endParaRPr lang="en-US" sz="1800" dirty="0"/>
          </a:p>
        </p:txBody>
      </p:sp>
      <p:sp>
        <p:nvSpPr>
          <p:cNvPr id="16" name="Text 10"/>
          <p:cNvSpPr txBox="1"/>
          <p:nvPr/>
        </p:nvSpPr>
        <p:spPr>
          <a:xfrm>
            <a:off x="4347972" y="4861408"/>
            <a:ext cx="3474720" cy="100584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Each series inside a study: description, number of images, detected image type.</a:t>
            </a:r>
            <a:endParaRPr lang="en-US" sz="1400" dirty="0"/>
          </a:p>
        </p:txBody>
      </p:sp>
      <p:sp>
        <p:nvSpPr>
          <p:cNvPr id="17" name="iPad 09-record-transfers-done"/>
          <p:cNvSpPr/>
          <p:nvPr/>
        </p:nvSpPr>
        <p:spPr>
          <a:xfrm>
            <a:off x="8147304" y="1371600"/>
            <a:ext cx="3474720" cy="2666848"/>
          </a:xfrm>
          <a:prstGeom prst="roundRect">
            <a:avLst>
              <a:gd name="adj" fmla="val 8208"/>
            </a:avLst>
          </a:prstGeom>
          <a:solidFill>
            <a:srgbClr val="1C1C1E"/>
          </a:solidFill>
          <a:ln w="9525">
            <a:solidFill>
              <a:srgbClr val="3A3A3C"/>
            </a:solidFill>
            <a:prstDash val="solid"/>
          </a:ln>
          <a:effectLst>
            <a:outerShdw sx="100000" sy="100000" kx="0" ky="0" algn="bl" rotWithShape="0" blurRad="127000" dist="38100" dir="5400000">
              <a:srgbClr val="000000">
                <a:alpha val="22000"/>
              </a:srgbClr>
            </a:outerShdw>
          </a:effectLst>
        </p:spPr>
      </p:sp>
      <p:pic>
        <p:nvPicPr>
          <p:cNvPr id="18" name="Image 4" descr="Transfers form with target project and anonymized name">    </p:cNvPr>
          <p:cNvPicPr>
            <a:picLocks noChangeAspect="1"/>
          </p:cNvPicPr>
          <p:nvPr/>
        </p:nvPicPr>
        <p:blipFill>
          <a:blip r:embed="rId5"/>
          <a:stretch>
            <a:fillRect/>
          </a:stretch>
        </p:blipFill>
        <p:spPr>
          <a:xfrm>
            <a:off x="8268919" y="1493215"/>
            <a:ext cx="3231490" cy="2423617"/>
          </a:xfrm>
          <a:prstGeom prst="rect">
            <a:avLst/>
          </a:prstGeom>
        </p:spPr>
      </p:pic>
      <p:sp>
        <p:nvSpPr>
          <p:cNvPr id="19" name="Shape 12"/>
          <p:cNvSpPr/>
          <p:nvPr/>
        </p:nvSpPr>
        <p:spPr>
          <a:xfrm>
            <a:off x="9857232" y="1404976"/>
            <a:ext cx="54864" cy="54864"/>
          </a:xfrm>
          <a:prstGeom prst="ellipse">
            <a:avLst/>
          </a:prstGeom>
          <a:solidFill>
            <a:srgbClr val="48484A"/>
          </a:solidFill>
          <a:ln w="12700">
            <a:solidFill>
              <a:srgbClr val="48484A"/>
            </a:solidFill>
            <a:prstDash val="solid"/>
          </a:ln>
        </p:spPr>
      </p:sp>
      <p:sp>
        <p:nvSpPr>
          <p:cNvPr id="20" name="icon send"/>
          <p:cNvSpPr/>
          <p:nvPr/>
        </p:nvSpPr>
        <p:spPr>
          <a:xfrm>
            <a:off x="8147304" y="4312768"/>
            <a:ext cx="411480" cy="411480"/>
          </a:xfrm>
          <a:prstGeom prst="ellipse">
            <a:avLst/>
          </a:prstGeom>
          <a:solidFill>
            <a:srgbClr val="1F5F7A"/>
          </a:solidFill>
          <a:ln w="12700">
            <a:solidFill>
              <a:srgbClr val="1F5F7A"/>
            </a:solidFill>
            <a:prstDash val="solid"/>
          </a:ln>
        </p:spPr>
      </p:sp>
      <p:pic>
        <p:nvPicPr>
          <p:cNvPr id="21" name="Image 5" descr="send">    </p:cNvPr>
          <p:cNvPicPr>
            <a:picLocks noChangeAspect="1"/>
          </p:cNvPicPr>
          <p:nvPr/>
        </p:nvPicPr>
        <p:blipFill>
          <a:blip r:embed="rId6"/>
          <a:stretch>
            <a:fillRect/>
          </a:stretch>
        </p:blipFill>
        <p:spPr>
          <a:xfrm>
            <a:off x="8237830" y="4403293"/>
            <a:ext cx="230429" cy="230429"/>
          </a:xfrm>
          <a:prstGeom prst="rect">
            <a:avLst/>
          </a:prstGeom>
        </p:spPr>
      </p:pic>
      <p:sp>
        <p:nvSpPr>
          <p:cNvPr id="22" name="Text 14"/>
          <p:cNvSpPr txBox="1"/>
          <p:nvPr/>
        </p:nvSpPr>
        <p:spPr>
          <a:xfrm>
            <a:off x="8695944" y="4312768"/>
            <a:ext cx="2926080" cy="411480"/>
          </a:xfrm>
          <a:prstGeom prst="rect">
            <a:avLst/>
          </a:prstGeom>
          <a:noFill/>
          <a:ln/>
        </p:spPr>
        <p:txBody>
          <a:bodyPr wrap="square" lIns="0" tIns="0" rIns="0" bIns="0" rtlCol="0" anchor="ctr"/>
          <a:lstStyle/>
          <a:p>
            <a:pPr indent="0" marL="0">
              <a:buNone/>
            </a:pPr>
            <a:r>
              <a:rPr lang="en-US" sz="1800" b="1" dirty="0">
                <a:solidFill>
                  <a:srgbClr val="0B2239"/>
                </a:solidFill>
                <a:latin typeface="Avenir Next" pitchFamily="34" charset="0"/>
                <a:ea typeface="Avenir Next" pitchFamily="34" charset="-122"/>
                <a:cs typeface="Avenir Next" pitchFamily="34" charset="-120"/>
              </a:rPr>
              <a:t>Transfer requests</a:t>
            </a:r>
            <a:endParaRPr lang="en-US" sz="1800" dirty="0"/>
          </a:p>
        </p:txBody>
      </p:sp>
      <p:sp>
        <p:nvSpPr>
          <p:cNvPr id="23" name="Text 15"/>
          <p:cNvSpPr txBox="1"/>
          <p:nvPr/>
        </p:nvSpPr>
        <p:spPr>
          <a:xfrm>
            <a:off x="8147304" y="4861408"/>
            <a:ext cx="3474720" cy="100584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Where a study should go, under which anonymous name — and whether it has been sent.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Helvetica Neue"/>
                <a:ea typeface="Helvetica Neue"/>
                <a:cs typeface="Helvetica Neue"/>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0B2239"/>
                </a:solidFill>
                <a:latin typeface="Avenir Next" pitchFamily="34" charset="0"/>
                <a:ea typeface="Avenir Next" pitchFamily="34" charset="-122"/>
                <a:cs typeface="Avenir Next" pitchFamily="34" charset="-120"/>
              </a:rPr>
              <a:t>A transfer request, start to finish</a:t>
            </a:r>
            <a:endParaRPr lang="en-US" sz="3600" dirty="0"/>
          </a:p>
        </p:txBody>
      </p:sp>
      <p:sp>
        <p:nvSpPr>
          <p:cNvPr id="3" name="Shape 1"/>
          <p:cNvSpPr/>
          <p:nvPr/>
        </p:nvSpPr>
        <p:spPr>
          <a:xfrm>
            <a:off x="822960" y="2011680"/>
            <a:ext cx="914" cy="621792"/>
          </a:xfrm>
          <a:prstGeom prst="line">
            <a:avLst/>
          </a:prstGeom>
          <a:noFill/>
          <a:ln w="22225">
            <a:solidFill>
              <a:srgbClr val="C9D6E0"/>
            </a:solidFill>
            <a:prstDash val="solid"/>
          </a:ln>
        </p:spPr>
      </p:sp>
      <p:sp>
        <p:nvSpPr>
          <p:cNvPr id="4" name="Text 2"/>
          <p:cNvSpPr/>
          <p:nvPr/>
        </p:nvSpPr>
        <p:spPr>
          <a:xfrm>
            <a:off x="548640" y="1463040"/>
            <a:ext cx="548640" cy="548640"/>
          </a:xfrm>
          <a:prstGeom prst="ellipse">
            <a:avLst/>
          </a:prstGeom>
          <a:solidFill>
            <a:srgbClr val="0B2239"/>
          </a:solidFill>
          <a:ln>
            <a:solidFill>
              <a:srgbClr val="0B2239"/>
            </a:solidFill>
          </a:ln>
        </p:spPr>
        <p:txBody>
          <a:bodyPr wrap="square" lIns="0" tIns="0" rIns="0" bIns="0" rtlCol="0" anchor="ctr"/>
          <a:lstStyle/>
          <a:p>
            <a:pPr algn="ctr" indent="0" marL="0">
              <a:buNone/>
            </a:pPr>
            <a:r>
              <a:rPr lang="en-US" sz="1800" b="1" dirty="0">
                <a:solidFill>
                  <a:srgbClr val="FFFFFF"/>
                </a:solidFill>
                <a:latin typeface="Avenir Next" pitchFamily="34" charset="0"/>
                <a:ea typeface="Avenir Next" pitchFamily="34" charset="-122"/>
                <a:cs typeface="Avenir Next" pitchFamily="34" charset="-120"/>
              </a:rPr>
              <a:t>1</a:t>
            </a:r>
            <a:endParaRPr lang="en-US" sz="1800" dirty="0"/>
          </a:p>
        </p:txBody>
      </p:sp>
      <p:sp>
        <p:nvSpPr>
          <p:cNvPr id="5" name="Text 3"/>
          <p:cNvSpPr txBox="1"/>
          <p:nvPr/>
        </p:nvSpPr>
        <p:spPr>
          <a:xfrm>
            <a:off x="1325880" y="1536192"/>
            <a:ext cx="4572000" cy="36576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Images arrive</a:t>
            </a:r>
            <a:endParaRPr lang="en-US" sz="1800" dirty="0"/>
          </a:p>
        </p:txBody>
      </p:sp>
      <p:sp>
        <p:nvSpPr>
          <p:cNvPr id="6" name="Text 4"/>
          <p:cNvSpPr txBox="1"/>
          <p:nvPr/>
        </p:nvSpPr>
        <p:spPr>
          <a:xfrm>
            <a:off x="1325880" y="1920240"/>
            <a:ext cx="4572000" cy="658368"/>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FIONA records the study and its series in CLARA — automatically, through the API.</a:t>
            </a:r>
            <a:endParaRPr lang="en-US" sz="1400" dirty="0"/>
          </a:p>
        </p:txBody>
      </p:sp>
      <p:sp>
        <p:nvSpPr>
          <p:cNvPr id="7" name="Shape 5"/>
          <p:cNvSpPr/>
          <p:nvPr/>
        </p:nvSpPr>
        <p:spPr>
          <a:xfrm>
            <a:off x="822960" y="3182112"/>
            <a:ext cx="914" cy="621792"/>
          </a:xfrm>
          <a:prstGeom prst="line">
            <a:avLst/>
          </a:prstGeom>
          <a:noFill/>
          <a:ln w="22225">
            <a:solidFill>
              <a:srgbClr val="C9D6E0"/>
            </a:solidFill>
            <a:prstDash val="solid"/>
          </a:ln>
        </p:spPr>
      </p:sp>
      <p:sp>
        <p:nvSpPr>
          <p:cNvPr id="8" name="Text 6"/>
          <p:cNvSpPr/>
          <p:nvPr/>
        </p:nvSpPr>
        <p:spPr>
          <a:xfrm>
            <a:off x="548640" y="2633472"/>
            <a:ext cx="548640" cy="548640"/>
          </a:xfrm>
          <a:prstGeom prst="ellipse">
            <a:avLst/>
          </a:prstGeom>
          <a:solidFill>
            <a:srgbClr val="0B2239"/>
          </a:solidFill>
          <a:ln>
            <a:solidFill>
              <a:srgbClr val="0B2239"/>
            </a:solidFill>
          </a:ln>
        </p:spPr>
        <p:txBody>
          <a:bodyPr wrap="square" lIns="0" tIns="0" rIns="0" bIns="0" rtlCol="0" anchor="ctr"/>
          <a:lstStyle/>
          <a:p>
            <a:pPr algn="ctr" indent="0" marL="0">
              <a:buNone/>
            </a:pPr>
            <a:r>
              <a:rPr lang="en-US" sz="1800" b="1" dirty="0">
                <a:solidFill>
                  <a:srgbClr val="FFFFFF"/>
                </a:solidFill>
                <a:latin typeface="Avenir Next" pitchFamily="34" charset="0"/>
                <a:ea typeface="Avenir Next" pitchFamily="34" charset="-122"/>
                <a:cs typeface="Avenir Next" pitchFamily="34" charset="-120"/>
              </a:rPr>
              <a:t>2</a:t>
            </a:r>
            <a:endParaRPr lang="en-US" sz="1800" dirty="0"/>
          </a:p>
        </p:txBody>
      </p:sp>
      <p:sp>
        <p:nvSpPr>
          <p:cNvPr id="9" name="Text 7"/>
          <p:cNvSpPr txBox="1"/>
          <p:nvPr/>
        </p:nvSpPr>
        <p:spPr>
          <a:xfrm>
            <a:off x="1325880" y="2706624"/>
            <a:ext cx="4572000" cy="36576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A researcher asks</a:t>
            </a:r>
            <a:endParaRPr lang="en-US" sz="1800" dirty="0"/>
          </a:p>
        </p:txBody>
      </p:sp>
      <p:sp>
        <p:nvSpPr>
          <p:cNvPr id="10" name="Text 8"/>
          <p:cNvSpPr txBox="1"/>
          <p:nvPr/>
        </p:nvSpPr>
        <p:spPr>
          <a:xfrm>
            <a:off x="1325880" y="3090672"/>
            <a:ext cx="4572000" cy="658368"/>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In the transfers form they name the target project and an anonymous participant name.</a:t>
            </a:r>
            <a:endParaRPr lang="en-US" sz="1400" dirty="0"/>
          </a:p>
        </p:txBody>
      </p:sp>
      <p:sp>
        <p:nvSpPr>
          <p:cNvPr id="11" name="Shape 9"/>
          <p:cNvSpPr/>
          <p:nvPr/>
        </p:nvSpPr>
        <p:spPr>
          <a:xfrm>
            <a:off x="822960" y="4352544"/>
            <a:ext cx="914" cy="621792"/>
          </a:xfrm>
          <a:prstGeom prst="line">
            <a:avLst/>
          </a:prstGeom>
          <a:noFill/>
          <a:ln w="22225">
            <a:solidFill>
              <a:srgbClr val="C9D6E0"/>
            </a:solidFill>
            <a:prstDash val="solid"/>
          </a:ln>
        </p:spPr>
      </p:sp>
      <p:sp>
        <p:nvSpPr>
          <p:cNvPr id="12" name="Text 10"/>
          <p:cNvSpPr/>
          <p:nvPr/>
        </p:nvSpPr>
        <p:spPr>
          <a:xfrm>
            <a:off x="548640" y="3803904"/>
            <a:ext cx="548640" cy="548640"/>
          </a:xfrm>
          <a:prstGeom prst="ellipse">
            <a:avLst/>
          </a:prstGeom>
          <a:solidFill>
            <a:srgbClr val="0B2239"/>
          </a:solidFill>
          <a:ln>
            <a:solidFill>
              <a:srgbClr val="0B2239"/>
            </a:solidFill>
          </a:ln>
        </p:spPr>
        <p:txBody>
          <a:bodyPr wrap="square" lIns="0" tIns="0" rIns="0" bIns="0" rtlCol="0" anchor="ctr"/>
          <a:lstStyle/>
          <a:p>
            <a:pPr algn="ctr" indent="0" marL="0">
              <a:buNone/>
            </a:pPr>
            <a:r>
              <a:rPr lang="en-US" sz="1800" b="1" dirty="0">
                <a:solidFill>
                  <a:srgbClr val="FFFFFF"/>
                </a:solidFill>
                <a:latin typeface="Avenir Next" pitchFamily="34" charset="0"/>
                <a:ea typeface="Avenir Next" pitchFamily="34" charset="-122"/>
                <a:cs typeface="Avenir Next" pitchFamily="34" charset="-120"/>
              </a:rPr>
              <a:t>3</a:t>
            </a:r>
            <a:endParaRPr lang="en-US" sz="1800" dirty="0"/>
          </a:p>
        </p:txBody>
      </p:sp>
      <p:sp>
        <p:nvSpPr>
          <p:cNvPr id="13" name="Text 11"/>
          <p:cNvSpPr txBox="1"/>
          <p:nvPr/>
        </p:nvSpPr>
        <p:spPr>
          <a:xfrm>
            <a:off x="1325880" y="3877056"/>
            <a:ext cx="4572000" cy="36576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FIONA delivers</a:t>
            </a:r>
            <a:endParaRPr lang="en-US" sz="1800" dirty="0"/>
          </a:p>
        </p:txBody>
      </p:sp>
      <p:sp>
        <p:nvSpPr>
          <p:cNvPr id="14" name="Text 12"/>
          <p:cNvSpPr txBox="1"/>
          <p:nvPr/>
        </p:nvSpPr>
        <p:spPr>
          <a:xfrm>
            <a:off x="1325880" y="4261104"/>
            <a:ext cx="4572000" cy="658368"/>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Every 5 to 10 minutes FIONA anonymizes the marked studies and sends them on.</a:t>
            </a:r>
            <a:endParaRPr lang="en-US" sz="1400" dirty="0"/>
          </a:p>
        </p:txBody>
      </p:sp>
      <p:sp>
        <p:nvSpPr>
          <p:cNvPr id="15" name="Text 13"/>
          <p:cNvSpPr/>
          <p:nvPr/>
        </p:nvSpPr>
        <p:spPr>
          <a:xfrm>
            <a:off x="548640" y="4974336"/>
            <a:ext cx="548640" cy="548640"/>
          </a:xfrm>
          <a:prstGeom prst="ellipse">
            <a:avLst/>
          </a:prstGeom>
          <a:solidFill>
            <a:srgbClr val="0B2239"/>
          </a:solidFill>
          <a:ln>
            <a:solidFill>
              <a:srgbClr val="0B2239"/>
            </a:solidFill>
          </a:ln>
        </p:spPr>
        <p:txBody>
          <a:bodyPr wrap="square" lIns="0" tIns="0" rIns="0" bIns="0" rtlCol="0" anchor="ctr"/>
          <a:lstStyle/>
          <a:p>
            <a:pPr algn="ctr" indent="0" marL="0">
              <a:buNone/>
            </a:pPr>
            <a:r>
              <a:rPr lang="en-US" sz="1800" b="1" dirty="0">
                <a:solidFill>
                  <a:srgbClr val="FFFFFF"/>
                </a:solidFill>
                <a:latin typeface="Avenir Next" pitchFamily="34" charset="0"/>
                <a:ea typeface="Avenir Next" pitchFamily="34" charset="-122"/>
                <a:cs typeface="Avenir Next" pitchFamily="34" charset="-120"/>
              </a:rPr>
              <a:t>4</a:t>
            </a:r>
            <a:endParaRPr lang="en-US" sz="1800" dirty="0"/>
          </a:p>
        </p:txBody>
      </p:sp>
      <p:sp>
        <p:nvSpPr>
          <p:cNvPr id="16" name="Text 14"/>
          <p:cNvSpPr txBox="1"/>
          <p:nvPr/>
        </p:nvSpPr>
        <p:spPr>
          <a:xfrm>
            <a:off x="1325880" y="5047488"/>
            <a:ext cx="4572000" cy="36576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CLARA shows it is done</a:t>
            </a:r>
            <a:endParaRPr lang="en-US" sz="1800" dirty="0"/>
          </a:p>
        </p:txBody>
      </p:sp>
      <p:sp>
        <p:nvSpPr>
          <p:cNvPr id="17" name="Text 15"/>
          <p:cNvSpPr txBox="1"/>
          <p:nvPr/>
        </p:nvSpPr>
        <p:spPr>
          <a:xfrm>
            <a:off x="1325880" y="5431536"/>
            <a:ext cx="4572000" cy="658368"/>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FIONA writes the transfer date back; staff see the result — or an error to follow up.</a:t>
            </a:r>
            <a:endParaRPr lang="en-US" sz="1400" dirty="0"/>
          </a:p>
        </p:txBody>
      </p:sp>
      <p:sp>
        <p:nvSpPr>
          <p:cNvPr id="18" name="iPad 09-record-transfers-done"/>
          <p:cNvSpPr/>
          <p:nvPr/>
        </p:nvSpPr>
        <p:spPr>
          <a:xfrm>
            <a:off x="6245352" y="1508760"/>
            <a:ext cx="5394960" cy="4140632"/>
          </a:xfrm>
          <a:prstGeom prst="roundRect">
            <a:avLst>
              <a:gd name="adj" fmla="val 8208"/>
            </a:avLst>
          </a:prstGeom>
          <a:solidFill>
            <a:srgbClr val="1C1C1E"/>
          </a:solidFill>
          <a:ln w="9525">
            <a:solidFill>
              <a:srgbClr val="3A3A3C"/>
            </a:solidFill>
            <a:prstDash val="solid"/>
          </a:ln>
          <a:effectLst>
            <a:outerShdw sx="100000" sy="100000" kx="0" ky="0" algn="bl" rotWithShape="0" blurRad="127000" dist="38100" dir="5400000">
              <a:srgbClr val="000000">
                <a:alpha val="22000"/>
              </a:srgbClr>
            </a:outerShdw>
          </a:effectLst>
        </p:spPr>
      </p:sp>
      <p:pic>
        <p:nvPicPr>
          <p:cNvPr id="19" name="Image 0" descr="A completed transfer: requested date, target project, anonymized name and the transfer date filled in by FIONA">    </p:cNvPr>
          <p:cNvPicPr>
            <a:picLocks noChangeAspect="1"/>
          </p:cNvPicPr>
          <p:nvPr/>
        </p:nvPicPr>
        <p:blipFill>
          <a:blip r:embed="rId1"/>
          <a:stretch>
            <a:fillRect/>
          </a:stretch>
        </p:blipFill>
        <p:spPr>
          <a:xfrm>
            <a:off x="6434176" y="1697584"/>
            <a:ext cx="5017313" cy="3762985"/>
          </a:xfrm>
          <a:prstGeom prst="rect">
            <a:avLst/>
          </a:prstGeom>
        </p:spPr>
      </p:pic>
      <p:sp>
        <p:nvSpPr>
          <p:cNvPr id="20" name="Shape 17"/>
          <p:cNvSpPr/>
          <p:nvPr/>
        </p:nvSpPr>
        <p:spPr>
          <a:xfrm>
            <a:off x="8915400" y="1575740"/>
            <a:ext cx="54864" cy="54864"/>
          </a:xfrm>
          <a:prstGeom prst="ellipse">
            <a:avLst/>
          </a:prstGeom>
          <a:solidFill>
            <a:srgbClr val="48484A"/>
          </a:solidFill>
          <a:ln w="12700">
            <a:solidFill>
              <a:srgbClr val="48484A"/>
            </a:solidFill>
            <a:prstDash val="solid"/>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Helvetica Neue"/>
                <a:ea typeface="Helvetica Neue"/>
                <a:cs typeface="Helvetica Neue"/>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0B2239"/>
                </a:solidFill>
                <a:latin typeface="Avenir Next" pitchFamily="34" charset="0"/>
                <a:ea typeface="Avenir Next" pitchFamily="34" charset="-122"/>
                <a:cs typeface="Avenir Next" pitchFamily="34" charset="-120"/>
              </a:rPr>
              <a:t>Built to be trusted</a:t>
            </a:r>
            <a:endParaRPr lang="en-US" sz="3600" dirty="0"/>
          </a:p>
        </p:txBody>
      </p:sp>
      <p:sp>
        <p:nvSpPr>
          <p:cNvPr id="3" name="Personal access keys"/>
          <p:cNvSpPr/>
          <p:nvPr/>
        </p:nvSpPr>
        <p:spPr>
          <a:xfrm>
            <a:off x="548640" y="1463040"/>
            <a:ext cx="2788920" cy="2057400"/>
          </a:xfrm>
          <a:prstGeom prst="roundRect">
            <a:avLst>
              <a:gd name="adj" fmla="val 5333"/>
            </a:avLst>
          </a:prstGeom>
          <a:solidFill>
            <a:srgbClr val="EEF3F7"/>
          </a:solidFill>
          <a:ln w="12700">
            <a:solidFill>
              <a:srgbClr val="EEF3F7"/>
            </a:solidFill>
            <a:prstDash val="solid"/>
          </a:ln>
        </p:spPr>
      </p:sp>
      <p:sp>
        <p:nvSpPr>
          <p:cNvPr id="4" name="icon key"/>
          <p:cNvSpPr/>
          <p:nvPr/>
        </p:nvSpPr>
        <p:spPr>
          <a:xfrm>
            <a:off x="777240" y="1691640"/>
            <a:ext cx="548640" cy="548640"/>
          </a:xfrm>
          <a:prstGeom prst="ellipse">
            <a:avLst/>
          </a:prstGeom>
          <a:solidFill>
            <a:srgbClr val="1F5F7A"/>
          </a:solidFill>
          <a:ln w="12700">
            <a:solidFill>
              <a:srgbClr val="1F5F7A"/>
            </a:solidFill>
            <a:prstDash val="solid"/>
          </a:ln>
        </p:spPr>
      </p:sp>
      <p:pic>
        <p:nvPicPr>
          <p:cNvPr id="5" name="Image 0" descr="key">    </p:cNvPr>
          <p:cNvPicPr>
            <a:picLocks noChangeAspect="1"/>
          </p:cNvPicPr>
          <p:nvPr/>
        </p:nvPicPr>
        <p:blipFill>
          <a:blip r:embed="rId1"/>
          <a:stretch>
            <a:fillRect/>
          </a:stretch>
        </p:blipFill>
        <p:spPr>
          <a:xfrm>
            <a:off x="897941" y="1812341"/>
            <a:ext cx="307238" cy="307238"/>
          </a:xfrm>
          <a:prstGeom prst="rect">
            <a:avLst/>
          </a:prstGeom>
        </p:spPr>
      </p:pic>
      <p:sp>
        <p:nvSpPr>
          <p:cNvPr id="6" name="Text 3"/>
          <p:cNvSpPr txBox="1"/>
          <p:nvPr/>
        </p:nvSpPr>
        <p:spPr>
          <a:xfrm>
            <a:off x="777240" y="2377440"/>
            <a:ext cx="2377440" cy="365760"/>
          </a:xfrm>
          <a:prstGeom prst="rect">
            <a:avLst/>
          </a:prstGeom>
          <a:noFill/>
          <a:ln/>
        </p:spPr>
        <p:txBody>
          <a:bodyPr wrap="square" lIns="0" tIns="0" rIns="0" bIns="0" rtlCol="0" anchor="t"/>
          <a:lstStyle/>
          <a:p>
            <a:pPr indent="0" marL="0">
              <a:buNone/>
            </a:pPr>
            <a:r>
              <a:rPr lang="en-US" sz="1600" b="1" dirty="0">
                <a:solidFill>
                  <a:srgbClr val="0B2239"/>
                </a:solidFill>
                <a:latin typeface="Avenir Next" pitchFamily="34" charset="0"/>
                <a:ea typeface="Avenir Next" pitchFamily="34" charset="-122"/>
                <a:cs typeface="Avenir Next" pitchFamily="34" charset="-120"/>
              </a:rPr>
              <a:t>Personal access keys</a:t>
            </a:r>
            <a:endParaRPr lang="en-US" sz="1600" dirty="0"/>
          </a:p>
        </p:txBody>
      </p:sp>
      <p:sp>
        <p:nvSpPr>
          <p:cNvPr id="7" name="Text 4"/>
          <p:cNvSpPr txBox="1"/>
          <p:nvPr/>
        </p:nvSpPr>
        <p:spPr>
          <a:xfrm>
            <a:off x="777240" y="2761488"/>
            <a:ext cx="2377440" cy="68580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Each member gets their own key per project; it can be replaced at any time.</a:t>
            </a:r>
            <a:endParaRPr lang="en-US" sz="1400" dirty="0"/>
          </a:p>
        </p:txBody>
      </p:sp>
      <p:sp>
        <p:nvSpPr>
          <p:cNvPr id="8" name="Checked before stored"/>
          <p:cNvSpPr/>
          <p:nvPr/>
        </p:nvSpPr>
        <p:spPr>
          <a:xfrm>
            <a:off x="3611880" y="1463040"/>
            <a:ext cx="2788920" cy="2057400"/>
          </a:xfrm>
          <a:prstGeom prst="roundRect">
            <a:avLst>
              <a:gd name="adj" fmla="val 5333"/>
            </a:avLst>
          </a:prstGeom>
          <a:solidFill>
            <a:srgbClr val="EEF3F7"/>
          </a:solidFill>
          <a:ln w="12700">
            <a:solidFill>
              <a:srgbClr val="EEF3F7"/>
            </a:solidFill>
            <a:prstDash val="solid"/>
          </a:ln>
        </p:spPr>
      </p:sp>
      <p:sp>
        <p:nvSpPr>
          <p:cNvPr id="9" name="icon file-check"/>
          <p:cNvSpPr/>
          <p:nvPr/>
        </p:nvSpPr>
        <p:spPr>
          <a:xfrm>
            <a:off x="3840480" y="1691640"/>
            <a:ext cx="548640" cy="548640"/>
          </a:xfrm>
          <a:prstGeom prst="ellipse">
            <a:avLst/>
          </a:prstGeom>
          <a:solidFill>
            <a:srgbClr val="1F5F7A"/>
          </a:solidFill>
          <a:ln w="12700">
            <a:solidFill>
              <a:srgbClr val="1F5F7A"/>
            </a:solidFill>
            <a:prstDash val="solid"/>
          </a:ln>
        </p:spPr>
      </p:sp>
      <p:pic>
        <p:nvPicPr>
          <p:cNvPr id="10" name="Image 1" descr="file check">    </p:cNvPr>
          <p:cNvPicPr>
            <a:picLocks noChangeAspect="1"/>
          </p:cNvPicPr>
          <p:nvPr/>
        </p:nvPicPr>
        <p:blipFill>
          <a:blip r:embed="rId2"/>
          <a:stretch>
            <a:fillRect/>
          </a:stretch>
        </p:blipFill>
        <p:spPr>
          <a:xfrm>
            <a:off x="3961181" y="1812341"/>
            <a:ext cx="307238" cy="307238"/>
          </a:xfrm>
          <a:prstGeom prst="rect">
            <a:avLst/>
          </a:prstGeom>
        </p:spPr>
      </p:pic>
      <p:sp>
        <p:nvSpPr>
          <p:cNvPr id="11" name="Text 7"/>
          <p:cNvSpPr txBox="1"/>
          <p:nvPr/>
        </p:nvSpPr>
        <p:spPr>
          <a:xfrm>
            <a:off x="3840480" y="2377440"/>
            <a:ext cx="2377440" cy="365760"/>
          </a:xfrm>
          <a:prstGeom prst="rect">
            <a:avLst/>
          </a:prstGeom>
          <a:noFill/>
          <a:ln/>
        </p:spPr>
        <p:txBody>
          <a:bodyPr wrap="square" lIns="0" tIns="0" rIns="0" bIns="0" rtlCol="0" anchor="t"/>
          <a:lstStyle/>
          <a:p>
            <a:pPr indent="0" marL="0">
              <a:buNone/>
            </a:pPr>
            <a:r>
              <a:rPr lang="en-US" sz="1600" b="1" dirty="0">
                <a:solidFill>
                  <a:srgbClr val="0B2239"/>
                </a:solidFill>
                <a:latin typeface="Avenir Next" pitchFamily="34" charset="0"/>
                <a:ea typeface="Avenir Next" pitchFamily="34" charset="-122"/>
                <a:cs typeface="Avenir Next" pitchFamily="34" charset="-120"/>
              </a:rPr>
              <a:t>Checked before stored</a:t>
            </a:r>
            <a:endParaRPr lang="en-US" sz="1600" dirty="0"/>
          </a:p>
        </p:txBody>
      </p:sp>
      <p:sp>
        <p:nvSpPr>
          <p:cNvPr id="12" name="Text 8"/>
          <p:cNvSpPr txBox="1"/>
          <p:nvPr/>
        </p:nvSpPr>
        <p:spPr>
          <a:xfrm>
            <a:off x="3840480" y="2761488"/>
            <a:ext cx="2377440" cy="68580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Every value is validated against the form definition before it is saved.</a:t>
            </a:r>
            <a:endParaRPr lang="en-US" sz="1400" dirty="0"/>
          </a:p>
        </p:txBody>
      </p:sp>
      <p:sp>
        <p:nvSpPr>
          <p:cNvPr id="13" name="Every change recorded"/>
          <p:cNvSpPr/>
          <p:nvPr/>
        </p:nvSpPr>
        <p:spPr>
          <a:xfrm>
            <a:off x="548640" y="3794760"/>
            <a:ext cx="2788920" cy="2057400"/>
          </a:xfrm>
          <a:prstGeom prst="roundRect">
            <a:avLst>
              <a:gd name="adj" fmla="val 5333"/>
            </a:avLst>
          </a:prstGeom>
          <a:solidFill>
            <a:srgbClr val="EEF3F7"/>
          </a:solidFill>
          <a:ln w="12700">
            <a:solidFill>
              <a:srgbClr val="EEF3F7"/>
            </a:solidFill>
            <a:prstDash val="solid"/>
          </a:ln>
        </p:spPr>
      </p:sp>
      <p:sp>
        <p:nvSpPr>
          <p:cNvPr id="14" name="icon history"/>
          <p:cNvSpPr/>
          <p:nvPr/>
        </p:nvSpPr>
        <p:spPr>
          <a:xfrm>
            <a:off x="777240" y="4023360"/>
            <a:ext cx="548640" cy="548640"/>
          </a:xfrm>
          <a:prstGeom prst="ellipse">
            <a:avLst/>
          </a:prstGeom>
          <a:solidFill>
            <a:srgbClr val="1F5F7A"/>
          </a:solidFill>
          <a:ln w="12700">
            <a:solidFill>
              <a:srgbClr val="1F5F7A"/>
            </a:solidFill>
            <a:prstDash val="solid"/>
          </a:ln>
        </p:spPr>
      </p:sp>
      <p:pic>
        <p:nvPicPr>
          <p:cNvPr id="15" name="Image 2" descr="history">    </p:cNvPr>
          <p:cNvPicPr>
            <a:picLocks noChangeAspect="1"/>
          </p:cNvPicPr>
          <p:nvPr/>
        </p:nvPicPr>
        <p:blipFill>
          <a:blip r:embed="rId3"/>
          <a:stretch>
            <a:fillRect/>
          </a:stretch>
        </p:blipFill>
        <p:spPr>
          <a:xfrm>
            <a:off x="897941" y="4144061"/>
            <a:ext cx="307238" cy="307238"/>
          </a:xfrm>
          <a:prstGeom prst="rect">
            <a:avLst/>
          </a:prstGeom>
        </p:spPr>
      </p:pic>
      <p:sp>
        <p:nvSpPr>
          <p:cNvPr id="16" name="Text 11"/>
          <p:cNvSpPr txBox="1"/>
          <p:nvPr/>
        </p:nvSpPr>
        <p:spPr>
          <a:xfrm>
            <a:off x="777240" y="4709160"/>
            <a:ext cx="2377440" cy="365760"/>
          </a:xfrm>
          <a:prstGeom prst="rect">
            <a:avLst/>
          </a:prstGeom>
          <a:noFill/>
          <a:ln/>
        </p:spPr>
        <p:txBody>
          <a:bodyPr wrap="square" lIns="0" tIns="0" rIns="0" bIns="0" rtlCol="0" anchor="t"/>
          <a:lstStyle/>
          <a:p>
            <a:pPr indent="0" marL="0">
              <a:buNone/>
            </a:pPr>
            <a:r>
              <a:rPr lang="en-US" sz="1600" b="1" dirty="0">
                <a:solidFill>
                  <a:srgbClr val="0B2239"/>
                </a:solidFill>
                <a:latin typeface="Avenir Next" pitchFamily="34" charset="0"/>
                <a:ea typeface="Avenir Next" pitchFamily="34" charset="-122"/>
                <a:cs typeface="Avenir Next" pitchFamily="34" charset="-120"/>
              </a:rPr>
              <a:t>Every change recorded</a:t>
            </a:r>
            <a:endParaRPr lang="en-US" sz="1600" dirty="0"/>
          </a:p>
        </p:txBody>
      </p:sp>
      <p:sp>
        <p:nvSpPr>
          <p:cNvPr id="17" name="Text 12"/>
          <p:cNvSpPr txBox="1"/>
          <p:nvPr/>
        </p:nvSpPr>
        <p:spPr>
          <a:xfrm>
            <a:off x="777240" y="5093208"/>
            <a:ext cx="2377440" cy="68580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Who changed what, and when — kept in an audit trail that cannot be edited.</a:t>
            </a:r>
            <a:endParaRPr lang="en-US" sz="1400" dirty="0"/>
          </a:p>
        </p:txBody>
      </p:sp>
      <p:sp>
        <p:nvSpPr>
          <p:cNvPr id="18" name="Fully documented"/>
          <p:cNvSpPr/>
          <p:nvPr/>
        </p:nvSpPr>
        <p:spPr>
          <a:xfrm>
            <a:off x="3611880" y="3794760"/>
            <a:ext cx="2788920" cy="2057400"/>
          </a:xfrm>
          <a:prstGeom prst="roundRect">
            <a:avLst>
              <a:gd name="adj" fmla="val 5333"/>
            </a:avLst>
          </a:prstGeom>
          <a:solidFill>
            <a:srgbClr val="EEF3F7"/>
          </a:solidFill>
          <a:ln w="12700">
            <a:solidFill>
              <a:srgbClr val="EEF3F7"/>
            </a:solidFill>
            <a:prstDash val="solid"/>
          </a:ln>
        </p:spPr>
      </p:sp>
      <p:sp>
        <p:nvSpPr>
          <p:cNvPr id="19" name="icon book"/>
          <p:cNvSpPr/>
          <p:nvPr/>
        </p:nvSpPr>
        <p:spPr>
          <a:xfrm>
            <a:off x="3840480" y="4023360"/>
            <a:ext cx="548640" cy="548640"/>
          </a:xfrm>
          <a:prstGeom prst="ellipse">
            <a:avLst/>
          </a:prstGeom>
          <a:solidFill>
            <a:srgbClr val="1F5F7A"/>
          </a:solidFill>
          <a:ln w="12700">
            <a:solidFill>
              <a:srgbClr val="1F5F7A"/>
            </a:solidFill>
            <a:prstDash val="solid"/>
          </a:ln>
        </p:spPr>
      </p:sp>
      <p:pic>
        <p:nvPicPr>
          <p:cNvPr id="20" name="Image 3" descr="book">    </p:cNvPr>
          <p:cNvPicPr>
            <a:picLocks noChangeAspect="1"/>
          </p:cNvPicPr>
          <p:nvPr/>
        </p:nvPicPr>
        <p:blipFill>
          <a:blip r:embed="rId4"/>
          <a:stretch>
            <a:fillRect/>
          </a:stretch>
        </p:blipFill>
        <p:spPr>
          <a:xfrm>
            <a:off x="3961181" y="4144061"/>
            <a:ext cx="307238" cy="307238"/>
          </a:xfrm>
          <a:prstGeom prst="rect">
            <a:avLst/>
          </a:prstGeom>
        </p:spPr>
      </p:pic>
      <p:sp>
        <p:nvSpPr>
          <p:cNvPr id="21" name="Text 15"/>
          <p:cNvSpPr txBox="1"/>
          <p:nvPr/>
        </p:nvSpPr>
        <p:spPr>
          <a:xfrm>
            <a:off x="3840480" y="4709160"/>
            <a:ext cx="2377440" cy="365760"/>
          </a:xfrm>
          <a:prstGeom prst="rect">
            <a:avLst/>
          </a:prstGeom>
          <a:noFill/>
          <a:ln/>
        </p:spPr>
        <p:txBody>
          <a:bodyPr wrap="square" lIns="0" tIns="0" rIns="0" bIns="0" rtlCol="0" anchor="t"/>
          <a:lstStyle/>
          <a:p>
            <a:pPr indent="0" marL="0">
              <a:buNone/>
            </a:pPr>
            <a:r>
              <a:rPr lang="en-US" sz="1600" b="1" dirty="0">
                <a:solidFill>
                  <a:srgbClr val="0B2239"/>
                </a:solidFill>
                <a:latin typeface="Avenir Next" pitchFamily="34" charset="0"/>
                <a:ea typeface="Avenir Next" pitchFamily="34" charset="-122"/>
                <a:cs typeface="Avenir Next" pitchFamily="34" charset="-120"/>
              </a:rPr>
              <a:t>Fully documented</a:t>
            </a:r>
            <a:endParaRPr lang="en-US" sz="1600" dirty="0"/>
          </a:p>
        </p:txBody>
      </p:sp>
      <p:sp>
        <p:nvSpPr>
          <p:cNvPr id="22" name="Text 16"/>
          <p:cNvSpPr txBox="1"/>
          <p:nvPr/>
        </p:nvSpPr>
        <p:spPr>
          <a:xfrm>
            <a:off x="3840480" y="5093208"/>
            <a:ext cx="2377440" cy="68580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A built-in reference describes every request, for FIONA's developers and others.</a:t>
            </a:r>
            <a:endParaRPr lang="en-US" sz="1400" dirty="0"/>
          </a:p>
        </p:txBody>
      </p:sp>
      <p:sp>
        <p:nvSpPr>
          <p:cNvPr id="23" name="iPad 15-api-docs"/>
          <p:cNvSpPr/>
          <p:nvPr/>
        </p:nvSpPr>
        <p:spPr>
          <a:xfrm>
            <a:off x="6702552" y="1600200"/>
            <a:ext cx="4937760" cy="3789731"/>
          </a:xfrm>
          <a:prstGeom prst="roundRect">
            <a:avLst>
              <a:gd name="adj" fmla="val 8208"/>
            </a:avLst>
          </a:prstGeom>
          <a:solidFill>
            <a:srgbClr val="1C1C1E"/>
          </a:solidFill>
          <a:ln w="9525">
            <a:solidFill>
              <a:srgbClr val="3A3A3C"/>
            </a:solidFill>
            <a:prstDash val="solid"/>
          </a:ln>
          <a:effectLst>
            <a:outerShdw sx="100000" sy="100000" kx="0" ky="0" algn="bl" rotWithShape="0" blurRad="127000" dist="38100" dir="5400000">
              <a:srgbClr val="000000">
                <a:alpha val="22000"/>
              </a:srgbClr>
            </a:outerShdw>
          </a:effectLst>
        </p:spPr>
      </p:sp>
      <p:pic>
        <p:nvPicPr>
          <p:cNvPr id="24" name="Image 4" descr="The API documentation page in the Control Panel">    </p:cNvPr>
          <p:cNvPicPr>
            <a:picLocks noChangeAspect="1"/>
          </p:cNvPicPr>
          <p:nvPr/>
        </p:nvPicPr>
        <p:blipFill>
          <a:blip r:embed="rId5"/>
          <a:stretch>
            <a:fillRect/>
          </a:stretch>
        </p:blipFill>
        <p:spPr>
          <a:xfrm>
            <a:off x="6875374" y="1773022"/>
            <a:ext cx="4592117" cy="3444088"/>
          </a:xfrm>
          <a:prstGeom prst="rect">
            <a:avLst/>
          </a:prstGeom>
        </p:spPr>
      </p:pic>
      <p:sp>
        <p:nvSpPr>
          <p:cNvPr id="25" name="Shape 18"/>
          <p:cNvSpPr/>
          <p:nvPr/>
        </p:nvSpPr>
        <p:spPr>
          <a:xfrm>
            <a:off x="9144000" y="1659179"/>
            <a:ext cx="54864" cy="54864"/>
          </a:xfrm>
          <a:prstGeom prst="ellipse">
            <a:avLst/>
          </a:prstGeom>
          <a:solidFill>
            <a:srgbClr val="48484A"/>
          </a:solidFill>
          <a:ln w="12700">
            <a:solidFill>
              <a:srgbClr val="48484A"/>
            </a:solidFill>
            <a:prstDash val="solid"/>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Helvetica Neue"/>
                <a:ea typeface="Helvetica Neue"/>
                <a:cs typeface="Helvetica Neue"/>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1463040"/>
            <a:ext cx="1828800" cy="1188720"/>
          </a:xfrm>
          <a:prstGeom prst="rect">
            <a:avLst/>
          </a:prstGeom>
          <a:noFill/>
          <a:ln/>
        </p:spPr>
        <p:txBody>
          <a:bodyPr wrap="square" lIns="0" tIns="0" rIns="0" bIns="0" rtlCol="0" anchor="t"/>
          <a:lstStyle/>
          <a:p>
            <a:pPr indent="0" marL="0">
              <a:buNone/>
            </a:pPr>
            <a:r>
              <a:rPr lang="en-US" sz="9600" b="1" dirty="0">
                <a:solidFill>
                  <a:srgbClr val="F2A93B"/>
                </a:solidFill>
                <a:latin typeface="Avenir Next" pitchFamily="34" charset="0"/>
                <a:ea typeface="Avenir Next" pitchFamily="34" charset="-122"/>
                <a:cs typeface="Avenir Next" pitchFamily="34" charset="-120"/>
              </a:rPr>
              <a:t>3</a:t>
            </a:r>
            <a:endParaRPr lang="en-US" sz="9600" dirty="0"/>
          </a:p>
        </p:txBody>
      </p:sp>
      <p:sp>
        <p:nvSpPr>
          <p:cNvPr id="3" name="Text 1"/>
          <p:cNvSpPr txBox="1"/>
          <p:nvPr/>
        </p:nvSpPr>
        <p:spPr>
          <a:xfrm>
            <a:off x="731520" y="2788920"/>
            <a:ext cx="7863840" cy="914400"/>
          </a:xfrm>
          <a:prstGeom prst="rect">
            <a:avLst/>
          </a:prstGeom>
          <a:noFill/>
          <a:ln/>
        </p:spPr>
        <p:txBody>
          <a:bodyPr wrap="square" lIns="0" tIns="0" rIns="0" bIns="0" rtlCol="0" anchor="ctr"/>
          <a:lstStyle/>
          <a:p>
            <a:pPr indent="0" marL="0">
              <a:buNone/>
            </a:pPr>
            <a:r>
              <a:rPr lang="en-US" sz="4400" b="1" dirty="0">
                <a:solidFill>
                  <a:srgbClr val="FFFFFF"/>
                </a:solidFill>
                <a:latin typeface="Avenir Next" pitchFamily="34" charset="0"/>
                <a:ea typeface="Avenir Next" pitchFamily="34" charset="-122"/>
                <a:cs typeface="Avenir Next" pitchFamily="34" charset="-120"/>
              </a:rPr>
              <a:t>The web interface</a:t>
            </a:r>
            <a:endParaRPr lang="en-US" sz="4400" dirty="0"/>
          </a:p>
        </p:txBody>
      </p:sp>
      <p:sp>
        <p:nvSpPr>
          <p:cNvPr id="4" name="Text 2"/>
          <p:cNvSpPr txBox="1"/>
          <p:nvPr/>
        </p:nvSpPr>
        <p:spPr>
          <a:xfrm>
            <a:off x="731520" y="3794760"/>
            <a:ext cx="7863840" cy="822960"/>
          </a:xfrm>
          <a:prstGeom prst="rect">
            <a:avLst/>
          </a:prstGeom>
          <a:noFill/>
          <a:ln/>
        </p:spPr>
        <p:txBody>
          <a:bodyPr wrap="square" lIns="0" tIns="0" rIns="0" bIns="0" rtlCol="0" anchor="t"/>
          <a:lstStyle/>
          <a:p>
            <a:pPr indent="0" marL="0">
              <a:buNone/>
            </a:pPr>
            <a:r>
              <a:rPr lang="en-US" sz="2000" dirty="0">
                <a:solidFill>
                  <a:srgbClr val="D6E2EC"/>
                </a:solidFill>
                <a:latin typeface="Helvetica Neue" pitchFamily="34" charset="0"/>
                <a:ea typeface="Helvetica Neue" pitchFamily="34" charset="-122"/>
                <a:cs typeface="Helvetica Neue" pitchFamily="34" charset="-120"/>
              </a:rPr>
              <a:t>Everything a study team does — in the browser, on a laptop or an iPad</a:t>
            </a:r>
            <a:endParaRPr lang="en-US" sz="2000" dirty="0"/>
          </a:p>
        </p:txBody>
      </p:sp>
      <p:sp>
        <p:nvSpPr>
          <p:cNvPr id="5" name="icon forms"/>
          <p:cNvSpPr/>
          <p:nvPr/>
        </p:nvSpPr>
        <p:spPr>
          <a:xfrm>
            <a:off x="9144000" y="2148840"/>
            <a:ext cx="2103120" cy="2103120"/>
          </a:xfrm>
          <a:prstGeom prst="ellipse">
            <a:avLst/>
          </a:prstGeom>
          <a:solidFill>
            <a:srgbClr val="1F5F7A"/>
          </a:solidFill>
          <a:ln w="12700">
            <a:solidFill>
              <a:srgbClr val="1F5F7A"/>
            </a:solidFill>
            <a:prstDash val="solid"/>
          </a:ln>
        </p:spPr>
      </p:sp>
      <p:pic>
        <p:nvPicPr>
          <p:cNvPr id="6" name="Image 0" descr="forms">    </p:cNvPr>
          <p:cNvPicPr>
            <a:picLocks noChangeAspect="1"/>
          </p:cNvPicPr>
          <p:nvPr/>
        </p:nvPicPr>
        <p:blipFill>
          <a:blip r:embed="rId1"/>
          <a:stretch>
            <a:fillRect/>
          </a:stretch>
        </p:blipFill>
        <p:spPr>
          <a:xfrm>
            <a:off x="9606686" y="2611526"/>
            <a:ext cx="1177747" cy="1177747"/>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BA"/>
                </a:solidFill>
                <a:latin typeface="Helvetica Neue"/>
                <a:ea typeface="Helvetica Neue"/>
                <a:cs typeface="Helvetica Neue"/>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0B2239"/>
                </a:solidFill>
                <a:latin typeface="Avenir Next" pitchFamily="34" charset="0"/>
                <a:ea typeface="Avenir Next" pitchFamily="34" charset="-122"/>
                <a:cs typeface="Avenir Next" pitchFamily="34" charset="-120"/>
              </a:rPr>
              <a:t>Six things the web interface does</a:t>
            </a:r>
            <a:endParaRPr lang="en-US" sz="3600" dirty="0"/>
          </a:p>
        </p:txBody>
      </p:sp>
      <p:sp>
        <p:nvSpPr>
          <p:cNvPr id="3" name="Projects"/>
          <p:cNvSpPr/>
          <p:nvPr/>
        </p:nvSpPr>
        <p:spPr>
          <a:xfrm>
            <a:off x="548640" y="1417320"/>
            <a:ext cx="3474720" cy="2194560"/>
          </a:xfrm>
          <a:prstGeom prst="roundRect">
            <a:avLst>
              <a:gd name="adj" fmla="val 5000"/>
            </a:avLst>
          </a:prstGeom>
          <a:solidFill>
            <a:srgbClr val="EEF3F7"/>
          </a:solidFill>
          <a:ln w="12700">
            <a:solidFill>
              <a:srgbClr val="EEF3F7"/>
            </a:solidFill>
            <a:prstDash val="solid"/>
          </a:ln>
        </p:spPr>
      </p:sp>
      <p:sp>
        <p:nvSpPr>
          <p:cNvPr id="4" name="icon folders"/>
          <p:cNvSpPr/>
          <p:nvPr/>
        </p:nvSpPr>
        <p:spPr>
          <a:xfrm>
            <a:off x="822960" y="1691640"/>
            <a:ext cx="594360" cy="594360"/>
          </a:xfrm>
          <a:prstGeom prst="ellipse">
            <a:avLst/>
          </a:prstGeom>
          <a:solidFill>
            <a:srgbClr val="1F5F7A"/>
          </a:solidFill>
          <a:ln w="12700">
            <a:solidFill>
              <a:srgbClr val="1F5F7A"/>
            </a:solidFill>
            <a:prstDash val="solid"/>
          </a:ln>
        </p:spPr>
      </p:sp>
      <p:pic>
        <p:nvPicPr>
          <p:cNvPr id="5" name="Image 0" descr="folders">    </p:cNvPr>
          <p:cNvPicPr>
            <a:picLocks noChangeAspect="1"/>
          </p:cNvPicPr>
          <p:nvPr/>
        </p:nvPicPr>
        <p:blipFill>
          <a:blip r:embed="rId1"/>
          <a:stretch>
            <a:fillRect/>
          </a:stretch>
        </p:blipFill>
        <p:spPr>
          <a:xfrm>
            <a:off x="953719" y="1822399"/>
            <a:ext cx="332842" cy="332842"/>
          </a:xfrm>
          <a:prstGeom prst="rect">
            <a:avLst/>
          </a:prstGeom>
        </p:spPr>
      </p:pic>
      <p:sp>
        <p:nvSpPr>
          <p:cNvPr id="6" name="Text 3"/>
          <p:cNvSpPr txBox="1"/>
          <p:nvPr/>
        </p:nvSpPr>
        <p:spPr>
          <a:xfrm>
            <a:off x="822960" y="2423160"/>
            <a:ext cx="2926080" cy="36576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Projects</a:t>
            </a:r>
            <a:endParaRPr lang="en-US" sz="1800" dirty="0"/>
          </a:p>
        </p:txBody>
      </p:sp>
      <p:sp>
        <p:nvSpPr>
          <p:cNvPr id="7" name="Text 4"/>
          <p:cNvSpPr txBox="1"/>
          <p:nvPr/>
        </p:nvSpPr>
        <p:spPr>
          <a:xfrm>
            <a:off x="822960" y="2834640"/>
            <a:ext cx="2926080" cy="68580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Organize studies and move them from development to production to analysis.</a:t>
            </a:r>
            <a:endParaRPr lang="en-US" sz="1400" dirty="0"/>
          </a:p>
        </p:txBody>
      </p:sp>
      <p:sp>
        <p:nvSpPr>
          <p:cNvPr id="8" name="Forms"/>
          <p:cNvSpPr/>
          <p:nvPr/>
        </p:nvSpPr>
        <p:spPr>
          <a:xfrm>
            <a:off x="4347972" y="1417320"/>
            <a:ext cx="3474720" cy="2194560"/>
          </a:xfrm>
          <a:prstGeom prst="roundRect">
            <a:avLst>
              <a:gd name="adj" fmla="val 5000"/>
            </a:avLst>
          </a:prstGeom>
          <a:solidFill>
            <a:srgbClr val="EEF3F7"/>
          </a:solidFill>
          <a:ln w="12700">
            <a:solidFill>
              <a:srgbClr val="EEF3F7"/>
            </a:solidFill>
            <a:prstDash val="solid"/>
          </a:ln>
        </p:spPr>
      </p:sp>
      <p:sp>
        <p:nvSpPr>
          <p:cNvPr id="9" name="icon forms"/>
          <p:cNvSpPr/>
          <p:nvPr/>
        </p:nvSpPr>
        <p:spPr>
          <a:xfrm>
            <a:off x="4622292" y="1691640"/>
            <a:ext cx="594360" cy="594360"/>
          </a:xfrm>
          <a:prstGeom prst="ellipse">
            <a:avLst/>
          </a:prstGeom>
          <a:solidFill>
            <a:srgbClr val="0B2239"/>
          </a:solidFill>
          <a:ln w="12700">
            <a:solidFill>
              <a:srgbClr val="0B2239"/>
            </a:solidFill>
            <a:prstDash val="solid"/>
          </a:ln>
        </p:spPr>
      </p:sp>
      <p:pic>
        <p:nvPicPr>
          <p:cNvPr id="10" name="Image 1" descr="forms">    </p:cNvPr>
          <p:cNvPicPr>
            <a:picLocks noChangeAspect="1"/>
          </p:cNvPicPr>
          <p:nvPr/>
        </p:nvPicPr>
        <p:blipFill>
          <a:blip r:embed="rId2"/>
          <a:stretch>
            <a:fillRect/>
          </a:stretch>
        </p:blipFill>
        <p:spPr>
          <a:xfrm>
            <a:off x="4753051" y="1822399"/>
            <a:ext cx="332842" cy="332842"/>
          </a:xfrm>
          <a:prstGeom prst="rect">
            <a:avLst/>
          </a:prstGeom>
        </p:spPr>
      </p:pic>
      <p:sp>
        <p:nvSpPr>
          <p:cNvPr id="11" name="Text 7"/>
          <p:cNvSpPr txBox="1"/>
          <p:nvPr/>
        </p:nvSpPr>
        <p:spPr>
          <a:xfrm>
            <a:off x="4622292" y="2423160"/>
            <a:ext cx="2926080" cy="36576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Forms</a:t>
            </a:r>
            <a:endParaRPr lang="en-US" sz="1800" dirty="0"/>
          </a:p>
        </p:txBody>
      </p:sp>
      <p:sp>
        <p:nvSpPr>
          <p:cNvPr id="12" name="Text 8"/>
          <p:cNvSpPr txBox="1"/>
          <p:nvPr/>
        </p:nvSpPr>
        <p:spPr>
          <a:xfrm>
            <a:off x="4622292" y="2834640"/>
            <a:ext cx="2926080" cy="68580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Design data collection forms — or import existing REDCap dictionaries.</a:t>
            </a:r>
            <a:endParaRPr lang="en-US" sz="1400" dirty="0"/>
          </a:p>
        </p:txBody>
      </p:sp>
      <p:sp>
        <p:nvSpPr>
          <p:cNvPr id="13" name="Data collection"/>
          <p:cNvSpPr/>
          <p:nvPr/>
        </p:nvSpPr>
        <p:spPr>
          <a:xfrm>
            <a:off x="8147304" y="1417320"/>
            <a:ext cx="3474720" cy="2194560"/>
          </a:xfrm>
          <a:prstGeom prst="roundRect">
            <a:avLst>
              <a:gd name="adj" fmla="val 5000"/>
            </a:avLst>
          </a:prstGeom>
          <a:solidFill>
            <a:srgbClr val="EEF3F7"/>
          </a:solidFill>
          <a:ln w="12700">
            <a:solidFill>
              <a:srgbClr val="EEF3F7"/>
            </a:solidFill>
            <a:prstDash val="solid"/>
          </a:ln>
        </p:spPr>
      </p:sp>
      <p:sp>
        <p:nvSpPr>
          <p:cNvPr id="14" name="icon clipboard-list"/>
          <p:cNvSpPr/>
          <p:nvPr/>
        </p:nvSpPr>
        <p:spPr>
          <a:xfrm>
            <a:off x="8421624" y="1691640"/>
            <a:ext cx="594360" cy="594360"/>
          </a:xfrm>
          <a:prstGeom prst="ellipse">
            <a:avLst/>
          </a:prstGeom>
          <a:solidFill>
            <a:srgbClr val="1F5F7A"/>
          </a:solidFill>
          <a:ln w="12700">
            <a:solidFill>
              <a:srgbClr val="1F5F7A"/>
            </a:solidFill>
            <a:prstDash val="solid"/>
          </a:ln>
        </p:spPr>
      </p:sp>
      <p:pic>
        <p:nvPicPr>
          <p:cNvPr id="15" name="Image 2" descr="clipboard list">    </p:cNvPr>
          <p:cNvPicPr>
            <a:picLocks noChangeAspect="1"/>
          </p:cNvPicPr>
          <p:nvPr/>
        </p:nvPicPr>
        <p:blipFill>
          <a:blip r:embed="rId3"/>
          <a:stretch>
            <a:fillRect/>
          </a:stretch>
        </p:blipFill>
        <p:spPr>
          <a:xfrm>
            <a:off x="8552383" y="1822399"/>
            <a:ext cx="332842" cy="332842"/>
          </a:xfrm>
          <a:prstGeom prst="rect">
            <a:avLst/>
          </a:prstGeom>
        </p:spPr>
      </p:pic>
      <p:sp>
        <p:nvSpPr>
          <p:cNvPr id="16" name="Text 11"/>
          <p:cNvSpPr txBox="1"/>
          <p:nvPr/>
        </p:nvSpPr>
        <p:spPr>
          <a:xfrm>
            <a:off x="8421624" y="2423160"/>
            <a:ext cx="2926080" cy="36576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Data collection</a:t>
            </a:r>
            <a:endParaRPr lang="en-US" sz="1800" dirty="0"/>
          </a:p>
        </p:txBody>
      </p:sp>
      <p:sp>
        <p:nvSpPr>
          <p:cNvPr id="17" name="Text 12"/>
          <p:cNvSpPr txBox="1"/>
          <p:nvPr/>
        </p:nvSpPr>
        <p:spPr>
          <a:xfrm>
            <a:off x="8421624" y="2834640"/>
            <a:ext cx="2926080" cy="68580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Participants, visits and forms, with their status at a glance.</a:t>
            </a:r>
            <a:endParaRPr lang="en-US" sz="1400" dirty="0"/>
          </a:p>
        </p:txBody>
      </p:sp>
      <p:sp>
        <p:nvSpPr>
          <p:cNvPr id="18" name="Export"/>
          <p:cNvSpPr/>
          <p:nvPr/>
        </p:nvSpPr>
        <p:spPr>
          <a:xfrm>
            <a:off x="548640" y="3886200"/>
            <a:ext cx="3474720" cy="2194560"/>
          </a:xfrm>
          <a:prstGeom prst="roundRect">
            <a:avLst>
              <a:gd name="adj" fmla="val 5000"/>
            </a:avLst>
          </a:prstGeom>
          <a:solidFill>
            <a:srgbClr val="EEF3F7"/>
          </a:solidFill>
          <a:ln w="12700">
            <a:solidFill>
              <a:srgbClr val="EEF3F7"/>
            </a:solidFill>
            <a:prstDash val="solid"/>
          </a:ln>
        </p:spPr>
      </p:sp>
      <p:sp>
        <p:nvSpPr>
          <p:cNvPr id="19" name="icon download"/>
          <p:cNvSpPr/>
          <p:nvPr/>
        </p:nvSpPr>
        <p:spPr>
          <a:xfrm>
            <a:off x="822960" y="4160520"/>
            <a:ext cx="594360" cy="594360"/>
          </a:xfrm>
          <a:prstGeom prst="ellipse">
            <a:avLst/>
          </a:prstGeom>
          <a:solidFill>
            <a:srgbClr val="0B2239"/>
          </a:solidFill>
          <a:ln w="12700">
            <a:solidFill>
              <a:srgbClr val="0B2239"/>
            </a:solidFill>
            <a:prstDash val="solid"/>
          </a:ln>
        </p:spPr>
      </p:sp>
      <p:pic>
        <p:nvPicPr>
          <p:cNvPr id="20" name="Image 3" descr="download">    </p:cNvPr>
          <p:cNvPicPr>
            <a:picLocks noChangeAspect="1"/>
          </p:cNvPicPr>
          <p:nvPr/>
        </p:nvPicPr>
        <p:blipFill>
          <a:blip r:embed="rId4"/>
          <a:stretch>
            <a:fillRect/>
          </a:stretch>
        </p:blipFill>
        <p:spPr>
          <a:xfrm>
            <a:off x="953719" y="4291279"/>
            <a:ext cx="332842" cy="332842"/>
          </a:xfrm>
          <a:prstGeom prst="rect">
            <a:avLst/>
          </a:prstGeom>
        </p:spPr>
      </p:pic>
      <p:sp>
        <p:nvSpPr>
          <p:cNvPr id="21" name="Text 15"/>
          <p:cNvSpPr txBox="1"/>
          <p:nvPr/>
        </p:nvSpPr>
        <p:spPr>
          <a:xfrm>
            <a:off x="822960" y="4892040"/>
            <a:ext cx="2926080" cy="36576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Export</a:t>
            </a:r>
            <a:endParaRPr lang="en-US" sz="1800" dirty="0"/>
          </a:p>
        </p:txBody>
      </p:sp>
      <p:sp>
        <p:nvSpPr>
          <p:cNvPr id="22" name="Text 16"/>
          <p:cNvSpPr txBox="1"/>
          <p:nvPr/>
        </p:nvSpPr>
        <p:spPr>
          <a:xfrm>
            <a:off x="822960" y="5303520"/>
            <a:ext cx="2926080" cy="68580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Download data at exactly the level your role allows.</a:t>
            </a:r>
            <a:endParaRPr lang="en-US" sz="1400" dirty="0"/>
          </a:p>
        </p:txBody>
      </p:sp>
      <p:sp>
        <p:nvSpPr>
          <p:cNvPr id="23" name="Oversight"/>
          <p:cNvSpPr/>
          <p:nvPr/>
        </p:nvSpPr>
        <p:spPr>
          <a:xfrm>
            <a:off x="4347972" y="3886200"/>
            <a:ext cx="3474720" cy="2194560"/>
          </a:xfrm>
          <a:prstGeom prst="roundRect">
            <a:avLst>
              <a:gd name="adj" fmla="val 5000"/>
            </a:avLst>
          </a:prstGeom>
          <a:solidFill>
            <a:srgbClr val="EEF3F7"/>
          </a:solidFill>
          <a:ln w="12700">
            <a:solidFill>
              <a:srgbClr val="EEF3F7"/>
            </a:solidFill>
            <a:prstDash val="solid"/>
          </a:ln>
        </p:spPr>
      </p:sp>
      <p:sp>
        <p:nvSpPr>
          <p:cNvPr id="24" name="icon eye"/>
          <p:cNvSpPr/>
          <p:nvPr/>
        </p:nvSpPr>
        <p:spPr>
          <a:xfrm>
            <a:off x="4622292" y="4160520"/>
            <a:ext cx="594360" cy="594360"/>
          </a:xfrm>
          <a:prstGeom prst="ellipse">
            <a:avLst/>
          </a:prstGeom>
          <a:solidFill>
            <a:srgbClr val="1F5F7A"/>
          </a:solidFill>
          <a:ln w="12700">
            <a:solidFill>
              <a:srgbClr val="1F5F7A"/>
            </a:solidFill>
            <a:prstDash val="solid"/>
          </a:ln>
        </p:spPr>
      </p:sp>
      <p:pic>
        <p:nvPicPr>
          <p:cNvPr id="25" name="Image 4" descr="eye">    </p:cNvPr>
          <p:cNvPicPr>
            <a:picLocks noChangeAspect="1"/>
          </p:cNvPicPr>
          <p:nvPr/>
        </p:nvPicPr>
        <p:blipFill>
          <a:blip r:embed="rId5"/>
          <a:stretch>
            <a:fillRect/>
          </a:stretch>
        </p:blipFill>
        <p:spPr>
          <a:xfrm>
            <a:off x="4753051" y="4291279"/>
            <a:ext cx="332842" cy="332842"/>
          </a:xfrm>
          <a:prstGeom prst="rect">
            <a:avLst/>
          </a:prstGeom>
        </p:spPr>
      </p:pic>
      <p:sp>
        <p:nvSpPr>
          <p:cNvPr id="26" name="Text 19"/>
          <p:cNvSpPr txBox="1"/>
          <p:nvPr/>
        </p:nvSpPr>
        <p:spPr>
          <a:xfrm>
            <a:off x="4622292" y="4892040"/>
            <a:ext cx="2926080" cy="36576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Oversight</a:t>
            </a:r>
            <a:endParaRPr lang="en-US" sz="1800" dirty="0"/>
          </a:p>
        </p:txBody>
      </p:sp>
      <p:sp>
        <p:nvSpPr>
          <p:cNvPr id="27" name="Text 20"/>
          <p:cNvSpPr txBox="1"/>
          <p:nvPr/>
        </p:nvSpPr>
        <p:spPr>
          <a:xfrm>
            <a:off x="4622292" y="5303520"/>
            <a:ext cx="2926080" cy="68580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Audit trail, user accounts and settings for administrators.</a:t>
            </a:r>
            <a:endParaRPr lang="en-US" sz="1400" dirty="0"/>
          </a:p>
        </p:txBody>
      </p:sp>
      <p:sp>
        <p:nvSpPr>
          <p:cNvPr id="28" name="Help"/>
          <p:cNvSpPr/>
          <p:nvPr/>
        </p:nvSpPr>
        <p:spPr>
          <a:xfrm>
            <a:off x="8147304" y="3886200"/>
            <a:ext cx="3474720" cy="2194560"/>
          </a:xfrm>
          <a:prstGeom prst="roundRect">
            <a:avLst>
              <a:gd name="adj" fmla="val 5000"/>
            </a:avLst>
          </a:prstGeom>
          <a:solidFill>
            <a:srgbClr val="EEF3F7"/>
          </a:solidFill>
          <a:ln w="12700">
            <a:solidFill>
              <a:srgbClr val="EEF3F7"/>
            </a:solidFill>
            <a:prstDash val="solid"/>
          </a:ln>
        </p:spPr>
      </p:sp>
      <p:sp>
        <p:nvSpPr>
          <p:cNvPr id="29" name="icon school"/>
          <p:cNvSpPr/>
          <p:nvPr/>
        </p:nvSpPr>
        <p:spPr>
          <a:xfrm>
            <a:off x="8421624" y="4160520"/>
            <a:ext cx="594360" cy="594360"/>
          </a:xfrm>
          <a:prstGeom prst="ellipse">
            <a:avLst/>
          </a:prstGeom>
          <a:solidFill>
            <a:srgbClr val="0B2239"/>
          </a:solidFill>
          <a:ln w="12700">
            <a:solidFill>
              <a:srgbClr val="0B2239"/>
            </a:solidFill>
            <a:prstDash val="solid"/>
          </a:ln>
        </p:spPr>
      </p:sp>
      <p:pic>
        <p:nvPicPr>
          <p:cNvPr id="30" name="Image 5" descr="school">    </p:cNvPr>
          <p:cNvPicPr>
            <a:picLocks noChangeAspect="1"/>
          </p:cNvPicPr>
          <p:nvPr/>
        </p:nvPicPr>
        <p:blipFill>
          <a:blip r:embed="rId6"/>
          <a:stretch>
            <a:fillRect/>
          </a:stretch>
        </p:blipFill>
        <p:spPr>
          <a:xfrm>
            <a:off x="8552383" y="4291279"/>
            <a:ext cx="332842" cy="332842"/>
          </a:xfrm>
          <a:prstGeom prst="rect">
            <a:avLst/>
          </a:prstGeom>
        </p:spPr>
      </p:pic>
      <p:sp>
        <p:nvSpPr>
          <p:cNvPr id="31" name="Text 23"/>
          <p:cNvSpPr txBox="1"/>
          <p:nvPr/>
        </p:nvSpPr>
        <p:spPr>
          <a:xfrm>
            <a:off x="8421624" y="4892040"/>
            <a:ext cx="2926080" cy="36576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Help</a:t>
            </a:r>
            <a:endParaRPr lang="en-US" sz="1800" dirty="0"/>
          </a:p>
        </p:txBody>
      </p:sp>
      <p:sp>
        <p:nvSpPr>
          <p:cNvPr id="32" name="Text 24"/>
          <p:cNvSpPr txBox="1"/>
          <p:nvPr/>
        </p:nvSpPr>
        <p:spPr>
          <a:xfrm>
            <a:off x="8421624" y="5303520"/>
            <a:ext cx="2926080" cy="68580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Training guides, and the interface in English, Bokmål and Nynorsk.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Helvetica Neue"/>
                <a:ea typeface="Helvetica Neue"/>
                <a:cs typeface="Helvetica Neue"/>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0B2239"/>
                </a:solidFill>
                <a:latin typeface="Avenir Next" pitchFamily="34" charset="0"/>
                <a:ea typeface="Avenir Next" pitchFamily="34" charset="-122"/>
                <a:cs typeface="Avenir Next" pitchFamily="34" charset="-120"/>
              </a:rPr>
              <a:t>Projects: every team sees its own studies</a:t>
            </a:r>
            <a:endParaRPr lang="en-US" sz="3600" dirty="0"/>
          </a:p>
        </p:txBody>
      </p:sp>
      <p:sp>
        <p:nvSpPr>
          <p:cNvPr id="3" name="iPad 02-dashboard"/>
          <p:cNvSpPr/>
          <p:nvPr/>
        </p:nvSpPr>
        <p:spPr>
          <a:xfrm>
            <a:off x="548640" y="1325880"/>
            <a:ext cx="5349240" cy="4105542"/>
          </a:xfrm>
          <a:prstGeom prst="roundRect">
            <a:avLst>
              <a:gd name="adj" fmla="val 8208"/>
            </a:avLst>
          </a:prstGeom>
          <a:solidFill>
            <a:srgbClr val="1C1C1E"/>
          </a:solidFill>
          <a:ln w="9525">
            <a:solidFill>
              <a:srgbClr val="3A3A3C"/>
            </a:solidFill>
            <a:prstDash val="solid"/>
          </a:ln>
          <a:effectLst>
            <a:outerShdw sx="100000" sy="100000" kx="0" ky="0" algn="bl" rotWithShape="0" blurRad="127000" dist="38100" dir="5400000">
              <a:srgbClr val="000000">
                <a:alpha val="22000"/>
              </a:srgbClr>
            </a:outerShdw>
          </a:effectLst>
        </p:spPr>
      </p:sp>
      <p:pic>
        <p:nvPicPr>
          <p:cNvPr id="4" name="Image 0" descr="Start page with the list of projects">    </p:cNvPr>
          <p:cNvPicPr>
            <a:picLocks noChangeAspect="1"/>
          </p:cNvPicPr>
          <p:nvPr/>
        </p:nvPicPr>
        <p:blipFill>
          <a:blip r:embed="rId1"/>
          <a:stretch>
            <a:fillRect/>
          </a:stretch>
        </p:blipFill>
        <p:spPr>
          <a:xfrm>
            <a:off x="735863" y="1513103"/>
            <a:ext cx="4974793" cy="3731095"/>
          </a:xfrm>
          <a:prstGeom prst="rect">
            <a:avLst/>
          </a:prstGeom>
        </p:spPr>
      </p:pic>
      <p:sp>
        <p:nvSpPr>
          <p:cNvPr id="5" name="Shape 2"/>
          <p:cNvSpPr/>
          <p:nvPr/>
        </p:nvSpPr>
        <p:spPr>
          <a:xfrm>
            <a:off x="3195828" y="1392060"/>
            <a:ext cx="54864" cy="54864"/>
          </a:xfrm>
          <a:prstGeom prst="ellipse">
            <a:avLst/>
          </a:prstGeom>
          <a:solidFill>
            <a:srgbClr val="48484A"/>
          </a:solidFill>
          <a:ln w="12700">
            <a:solidFill>
              <a:srgbClr val="48484A"/>
            </a:solidFill>
            <a:prstDash val="solid"/>
          </a:ln>
        </p:spPr>
      </p:sp>
      <p:sp>
        <p:nvSpPr>
          <p:cNvPr id="6" name="Text 3"/>
          <p:cNvSpPr txBox="1"/>
          <p:nvPr/>
        </p:nvSpPr>
        <p:spPr>
          <a:xfrm>
            <a:off x="548640" y="5596014"/>
            <a:ext cx="5349240" cy="685800"/>
          </a:xfrm>
          <a:prstGeom prst="rect">
            <a:avLst/>
          </a:prstGeom>
          <a:noFill/>
          <a:ln/>
        </p:spPr>
        <p:txBody>
          <a:bodyPr wrap="square" lIns="0" tIns="0" rIns="0" bIns="0" rtlCol="0" anchor="t"/>
          <a:lstStyle/>
          <a:p>
            <a:pPr indent="0" marL="0">
              <a:buNone/>
            </a:pPr>
            <a:r>
              <a:rPr lang="en-US" sz="1400" b="1" dirty="0">
                <a:solidFill>
                  <a:srgbClr val="0B2239"/>
                </a:solidFill>
                <a:latin typeface="Helvetica Neue" pitchFamily="34" charset="0"/>
                <a:ea typeface="Helvetica Neue" pitchFamily="34" charset="-122"/>
                <a:cs typeface="Helvetica Neue" pitchFamily="34" charset="-120"/>
              </a:rPr>
              <a:t>Start page — </a:t>
            </a:r>
            <a:pPr indent="0" marL="0">
              <a:buNone/>
            </a:pPr>
            <a:r>
              <a:rPr lang="en-US" sz="1400" dirty="0">
                <a:solidFill>
                  <a:srgbClr val="1B2733"/>
                </a:solidFill>
                <a:latin typeface="Helvetica Neue" pitchFamily="34" charset="0"/>
                <a:ea typeface="Helvetica Neue" pitchFamily="34" charset="-122"/>
                <a:cs typeface="Helvetica Neue" pitchFamily="34" charset="-120"/>
              </a:rPr>
              <a:t>only the projects you belong to, with their size at a glance.</a:t>
            </a:r>
            <a:endParaRPr lang="en-US" sz="1400" dirty="0"/>
          </a:p>
        </p:txBody>
      </p:sp>
      <p:sp>
        <p:nvSpPr>
          <p:cNvPr id="7" name="iPad 03-project-overview"/>
          <p:cNvSpPr/>
          <p:nvPr/>
        </p:nvSpPr>
        <p:spPr>
          <a:xfrm>
            <a:off x="6291072" y="1325880"/>
            <a:ext cx="5349240" cy="4105542"/>
          </a:xfrm>
          <a:prstGeom prst="roundRect">
            <a:avLst>
              <a:gd name="adj" fmla="val 8208"/>
            </a:avLst>
          </a:prstGeom>
          <a:solidFill>
            <a:srgbClr val="1C1C1E"/>
          </a:solidFill>
          <a:ln w="9525">
            <a:solidFill>
              <a:srgbClr val="3A3A3C"/>
            </a:solidFill>
            <a:prstDash val="solid"/>
          </a:ln>
          <a:effectLst>
            <a:outerShdw sx="100000" sy="100000" kx="0" ky="0" algn="bl" rotWithShape="0" blurRad="127000" dist="38100" dir="5400000">
              <a:srgbClr val="000000">
                <a:alpha val="22000"/>
              </a:srgbClr>
            </a:outerShdw>
          </a:effectLst>
        </p:spPr>
      </p:sp>
      <p:pic>
        <p:nvPicPr>
          <p:cNvPr id="8" name="Image 1" descr="Project overview with counts, details and project mode">    </p:cNvPr>
          <p:cNvPicPr>
            <a:picLocks noChangeAspect="1"/>
          </p:cNvPicPr>
          <p:nvPr/>
        </p:nvPicPr>
        <p:blipFill>
          <a:blip r:embed="rId2"/>
          <a:stretch>
            <a:fillRect/>
          </a:stretch>
        </p:blipFill>
        <p:spPr>
          <a:xfrm>
            <a:off x="6478295" y="1513103"/>
            <a:ext cx="4974793" cy="3731095"/>
          </a:xfrm>
          <a:prstGeom prst="rect">
            <a:avLst/>
          </a:prstGeom>
        </p:spPr>
      </p:pic>
      <p:sp>
        <p:nvSpPr>
          <p:cNvPr id="9" name="Shape 5"/>
          <p:cNvSpPr/>
          <p:nvPr/>
        </p:nvSpPr>
        <p:spPr>
          <a:xfrm>
            <a:off x="8938260" y="1392060"/>
            <a:ext cx="54864" cy="54864"/>
          </a:xfrm>
          <a:prstGeom prst="ellipse">
            <a:avLst/>
          </a:prstGeom>
          <a:solidFill>
            <a:srgbClr val="48484A"/>
          </a:solidFill>
          <a:ln w="12700">
            <a:solidFill>
              <a:srgbClr val="48484A"/>
            </a:solidFill>
            <a:prstDash val="solid"/>
          </a:ln>
        </p:spPr>
      </p:sp>
      <p:sp>
        <p:nvSpPr>
          <p:cNvPr id="10" name="Text 6"/>
          <p:cNvSpPr txBox="1"/>
          <p:nvPr/>
        </p:nvSpPr>
        <p:spPr>
          <a:xfrm>
            <a:off x="6291072" y="5596014"/>
            <a:ext cx="5349240" cy="685800"/>
          </a:xfrm>
          <a:prstGeom prst="rect">
            <a:avLst/>
          </a:prstGeom>
          <a:noFill/>
          <a:ln/>
        </p:spPr>
        <p:txBody>
          <a:bodyPr wrap="square" lIns="0" tIns="0" rIns="0" bIns="0" rtlCol="0" anchor="t"/>
          <a:lstStyle/>
          <a:p>
            <a:pPr indent="0" marL="0">
              <a:buNone/>
            </a:pPr>
            <a:r>
              <a:rPr lang="en-US" sz="1400" b="1" dirty="0">
                <a:solidFill>
                  <a:srgbClr val="0B2239"/>
                </a:solidFill>
                <a:latin typeface="Helvetica Neue" pitchFamily="34" charset="0"/>
                <a:ea typeface="Helvetica Neue" pitchFamily="34" charset="-122"/>
                <a:cs typeface="Helvetica Neue" pitchFamily="34" charset="-120"/>
              </a:rPr>
              <a:t>Project overview — </a:t>
            </a:r>
            <a:pPr indent="0" marL="0">
              <a:buNone/>
            </a:pPr>
            <a:r>
              <a:rPr lang="en-US" sz="1400" dirty="0">
                <a:solidFill>
                  <a:srgbClr val="1B2733"/>
                </a:solidFill>
                <a:latin typeface="Helvetica Neue" pitchFamily="34" charset="0"/>
                <a:ea typeface="Helvetica Neue" pitchFamily="34" charset="-122"/>
                <a:cs typeface="Helvetica Neue" pitchFamily="34" charset="-120"/>
              </a:rPr>
              <a:t>key facts and the project's mode: Development, Production or Analysis.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Helvetica Neue"/>
                <a:ea typeface="Helvetica Neue"/>
                <a:cs typeface="Helvetica Neue"/>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0B2239"/>
                </a:solidFill>
                <a:latin typeface="Avenir Next" pitchFamily="34" charset="0"/>
                <a:ea typeface="Avenir Next" pitchFamily="34" charset="-122"/>
                <a:cs typeface="Avenir Next" pitchFamily="34" charset="-120"/>
              </a:rPr>
              <a:t>Forms: design what you collect</a:t>
            </a:r>
            <a:endParaRPr lang="en-US" sz="3600" dirty="0"/>
          </a:p>
        </p:txBody>
      </p:sp>
      <p:sp>
        <p:nvSpPr>
          <p:cNvPr id="3" name="iPad 05-design"/>
          <p:cNvSpPr/>
          <p:nvPr/>
        </p:nvSpPr>
        <p:spPr>
          <a:xfrm>
            <a:off x="548640" y="1371600"/>
            <a:ext cx="5669280" cy="4351172"/>
          </a:xfrm>
          <a:prstGeom prst="roundRect">
            <a:avLst>
              <a:gd name="adj" fmla="val 8208"/>
            </a:avLst>
          </a:prstGeom>
          <a:solidFill>
            <a:srgbClr val="1C1C1E"/>
          </a:solidFill>
          <a:ln w="9525">
            <a:solidFill>
              <a:srgbClr val="3A3A3C"/>
            </a:solidFill>
            <a:prstDash val="solid"/>
          </a:ln>
          <a:effectLst>
            <a:outerShdw sx="100000" sy="100000" kx="0" ky="0" algn="bl" rotWithShape="0" blurRad="127000" dist="38100" dir="5400000">
              <a:srgbClr val="000000">
                <a:alpha val="22000"/>
              </a:srgbClr>
            </a:outerShdw>
          </a:effectLst>
        </p:spPr>
      </p:sp>
      <p:pic>
        <p:nvPicPr>
          <p:cNvPr id="4" name="Image 0" descr="Design page listing the instruments with an import section">    </p:cNvPr>
          <p:cNvPicPr>
            <a:picLocks noChangeAspect="1"/>
          </p:cNvPicPr>
          <p:nvPr/>
        </p:nvPicPr>
        <p:blipFill>
          <a:blip r:embed="rId1"/>
          <a:stretch>
            <a:fillRect/>
          </a:stretch>
        </p:blipFill>
        <p:spPr>
          <a:xfrm>
            <a:off x="747065" y="1570025"/>
            <a:ext cx="5272430" cy="3954323"/>
          </a:xfrm>
          <a:prstGeom prst="rect">
            <a:avLst/>
          </a:prstGeom>
        </p:spPr>
      </p:pic>
      <p:sp>
        <p:nvSpPr>
          <p:cNvPr id="5" name="Shape 2"/>
          <p:cNvSpPr/>
          <p:nvPr/>
        </p:nvSpPr>
        <p:spPr>
          <a:xfrm>
            <a:off x="3355848" y="1443380"/>
            <a:ext cx="54864" cy="54864"/>
          </a:xfrm>
          <a:prstGeom prst="ellipse">
            <a:avLst/>
          </a:prstGeom>
          <a:solidFill>
            <a:srgbClr val="48484A"/>
          </a:solidFill>
          <a:ln w="12700">
            <a:solidFill>
              <a:srgbClr val="48484A"/>
            </a:solidFill>
            <a:prstDash val="solid"/>
          </a:ln>
        </p:spPr>
      </p:sp>
      <p:sp>
        <p:nvSpPr>
          <p:cNvPr id="6" name="icon route"/>
          <p:cNvSpPr/>
          <p:nvPr/>
        </p:nvSpPr>
        <p:spPr>
          <a:xfrm>
            <a:off x="6583680" y="1490472"/>
            <a:ext cx="420624" cy="420624"/>
          </a:xfrm>
          <a:prstGeom prst="ellipse">
            <a:avLst/>
          </a:prstGeom>
          <a:solidFill>
            <a:srgbClr val="1F5F7A"/>
          </a:solidFill>
          <a:ln w="12700">
            <a:solidFill>
              <a:srgbClr val="1F5F7A"/>
            </a:solidFill>
            <a:prstDash val="solid"/>
          </a:ln>
        </p:spPr>
      </p:sp>
      <p:pic>
        <p:nvPicPr>
          <p:cNvPr id="7" name="Image 1" descr="route">    </p:cNvPr>
          <p:cNvPicPr>
            <a:picLocks noChangeAspect="1"/>
          </p:cNvPicPr>
          <p:nvPr/>
        </p:nvPicPr>
        <p:blipFill>
          <a:blip r:embed="rId2"/>
          <a:stretch>
            <a:fillRect/>
          </a:stretch>
        </p:blipFill>
        <p:spPr>
          <a:xfrm>
            <a:off x="6676217" y="1583009"/>
            <a:ext cx="235549" cy="235549"/>
          </a:xfrm>
          <a:prstGeom prst="rect">
            <a:avLst/>
          </a:prstGeom>
        </p:spPr>
      </p:pic>
      <p:sp>
        <p:nvSpPr>
          <p:cNvPr id="8" name="Text 4"/>
          <p:cNvSpPr txBox="1"/>
          <p:nvPr/>
        </p:nvSpPr>
        <p:spPr>
          <a:xfrm>
            <a:off x="7178040" y="1417320"/>
            <a:ext cx="4434840" cy="594360"/>
          </a:xfrm>
          <a:prstGeom prst="rect">
            <a:avLst/>
          </a:prstGeom>
          <a:noFill/>
          <a:ln/>
        </p:spPr>
        <p:txBody>
          <a:bodyPr wrap="square" lIns="0" tIns="0" rIns="0" bIns="0" rtlCol="0" anchor="ctr"/>
          <a:lstStyle/>
          <a:p>
            <a:pPr indent="0" marL="0">
              <a:buNone/>
            </a:pPr>
            <a:r>
              <a:rPr lang="en-US" sz="1500" dirty="0">
                <a:solidFill>
                  <a:srgbClr val="1B2733"/>
                </a:solidFill>
                <a:latin typeface="Helvetica Neue" pitchFamily="34" charset="0"/>
                <a:ea typeface="Helvetica Neue" pitchFamily="34" charset="-122"/>
                <a:cs typeface="Helvetica Neue" pitchFamily="34" charset="-120"/>
              </a:rPr>
              <a:t>Visits and forms: arms, events, and which form belongs to which visit</a:t>
            </a:r>
            <a:endParaRPr lang="en-US" sz="1500" dirty="0"/>
          </a:p>
        </p:txBody>
      </p:sp>
      <p:sp>
        <p:nvSpPr>
          <p:cNvPr id="9" name="icon file-spreadsheet"/>
          <p:cNvSpPr/>
          <p:nvPr/>
        </p:nvSpPr>
        <p:spPr>
          <a:xfrm>
            <a:off x="6583680" y="2240280"/>
            <a:ext cx="420624" cy="420624"/>
          </a:xfrm>
          <a:prstGeom prst="ellipse">
            <a:avLst/>
          </a:prstGeom>
          <a:solidFill>
            <a:srgbClr val="1F5F7A"/>
          </a:solidFill>
          <a:ln w="12700">
            <a:solidFill>
              <a:srgbClr val="1F5F7A"/>
            </a:solidFill>
            <a:prstDash val="solid"/>
          </a:ln>
        </p:spPr>
      </p:sp>
      <p:pic>
        <p:nvPicPr>
          <p:cNvPr id="10" name="Image 2" descr="file spreadsheet">    </p:cNvPr>
          <p:cNvPicPr>
            <a:picLocks noChangeAspect="1"/>
          </p:cNvPicPr>
          <p:nvPr/>
        </p:nvPicPr>
        <p:blipFill>
          <a:blip r:embed="rId3"/>
          <a:stretch>
            <a:fillRect/>
          </a:stretch>
        </p:blipFill>
        <p:spPr>
          <a:xfrm>
            <a:off x="6676217" y="2332817"/>
            <a:ext cx="235549" cy="235549"/>
          </a:xfrm>
          <a:prstGeom prst="rect">
            <a:avLst/>
          </a:prstGeom>
        </p:spPr>
      </p:pic>
      <p:sp>
        <p:nvSpPr>
          <p:cNvPr id="11" name="Text 6"/>
          <p:cNvSpPr txBox="1"/>
          <p:nvPr/>
        </p:nvSpPr>
        <p:spPr>
          <a:xfrm>
            <a:off x="7178040" y="2167128"/>
            <a:ext cx="4434840" cy="594360"/>
          </a:xfrm>
          <a:prstGeom prst="rect">
            <a:avLst/>
          </a:prstGeom>
          <a:noFill/>
          <a:ln/>
        </p:spPr>
        <p:txBody>
          <a:bodyPr wrap="square" lIns="0" tIns="0" rIns="0" bIns="0" rtlCol="0" anchor="ctr"/>
          <a:lstStyle/>
          <a:p>
            <a:pPr indent="0" marL="0">
              <a:buNone/>
            </a:pPr>
            <a:r>
              <a:rPr lang="en-US" sz="1500" dirty="0">
                <a:solidFill>
                  <a:srgbClr val="1B2733"/>
                </a:solidFill>
                <a:latin typeface="Helvetica Neue" pitchFamily="34" charset="0"/>
                <a:ea typeface="Helvetica Neue" pitchFamily="34" charset="-122"/>
                <a:cs typeface="Helvetica Neue" pitchFamily="34" charset="-120"/>
              </a:rPr>
              <a:t>Import existing REDCap data dictionaries — no retyping</a:t>
            </a:r>
            <a:endParaRPr lang="en-US" sz="1500" dirty="0"/>
          </a:p>
        </p:txBody>
      </p:sp>
      <p:sp>
        <p:nvSpPr>
          <p:cNvPr id="12" name="icon list-check"/>
          <p:cNvSpPr/>
          <p:nvPr/>
        </p:nvSpPr>
        <p:spPr>
          <a:xfrm>
            <a:off x="6583680" y="2990088"/>
            <a:ext cx="420624" cy="420624"/>
          </a:xfrm>
          <a:prstGeom prst="ellipse">
            <a:avLst/>
          </a:prstGeom>
          <a:solidFill>
            <a:srgbClr val="1F5F7A"/>
          </a:solidFill>
          <a:ln w="12700">
            <a:solidFill>
              <a:srgbClr val="1F5F7A"/>
            </a:solidFill>
            <a:prstDash val="solid"/>
          </a:ln>
        </p:spPr>
      </p:sp>
      <p:pic>
        <p:nvPicPr>
          <p:cNvPr id="13" name="Image 3" descr="list check">    </p:cNvPr>
          <p:cNvPicPr>
            <a:picLocks noChangeAspect="1"/>
          </p:cNvPicPr>
          <p:nvPr/>
        </p:nvPicPr>
        <p:blipFill>
          <a:blip r:embed="rId4"/>
          <a:stretch>
            <a:fillRect/>
          </a:stretch>
        </p:blipFill>
        <p:spPr>
          <a:xfrm>
            <a:off x="6676217" y="3082625"/>
            <a:ext cx="235549" cy="235549"/>
          </a:xfrm>
          <a:prstGeom prst="rect">
            <a:avLst/>
          </a:prstGeom>
        </p:spPr>
      </p:pic>
      <p:sp>
        <p:nvSpPr>
          <p:cNvPr id="14" name="Text 8"/>
          <p:cNvSpPr txBox="1"/>
          <p:nvPr/>
        </p:nvSpPr>
        <p:spPr>
          <a:xfrm>
            <a:off x="7178040" y="2916936"/>
            <a:ext cx="4434840" cy="594360"/>
          </a:xfrm>
          <a:prstGeom prst="rect">
            <a:avLst/>
          </a:prstGeom>
          <a:noFill/>
          <a:ln/>
        </p:spPr>
        <p:txBody>
          <a:bodyPr wrap="square" lIns="0" tIns="0" rIns="0" bIns="0" rtlCol="0" anchor="ctr"/>
          <a:lstStyle/>
          <a:p>
            <a:pPr indent="0" marL="0">
              <a:buNone/>
            </a:pPr>
            <a:r>
              <a:rPr lang="en-US" sz="1500" dirty="0">
                <a:solidFill>
                  <a:srgbClr val="1B2733"/>
                </a:solidFill>
                <a:latin typeface="Helvetica Neue" pitchFamily="34" charset="0"/>
                <a:ea typeface="Helvetica Neue" pitchFamily="34" charset="-122"/>
                <a:cs typeface="Helvetica Neue" pitchFamily="34" charset="-120"/>
              </a:rPr>
              <a:t>Field types: text with checks, choices, checkboxes, yes/no, notes, calculations</a:t>
            </a:r>
            <a:endParaRPr lang="en-US" sz="1500" dirty="0"/>
          </a:p>
        </p:txBody>
      </p:sp>
      <p:sp>
        <p:nvSpPr>
          <p:cNvPr id="15" name="icon arrows-split-2"/>
          <p:cNvSpPr/>
          <p:nvPr/>
        </p:nvSpPr>
        <p:spPr>
          <a:xfrm>
            <a:off x="6583680" y="3739896"/>
            <a:ext cx="420624" cy="420624"/>
          </a:xfrm>
          <a:prstGeom prst="ellipse">
            <a:avLst/>
          </a:prstGeom>
          <a:solidFill>
            <a:srgbClr val="1F5F7A"/>
          </a:solidFill>
          <a:ln w="12700">
            <a:solidFill>
              <a:srgbClr val="1F5F7A"/>
            </a:solidFill>
            <a:prstDash val="solid"/>
          </a:ln>
        </p:spPr>
      </p:sp>
      <p:pic>
        <p:nvPicPr>
          <p:cNvPr id="16" name="Image 4" descr="arrows split 2">    </p:cNvPr>
          <p:cNvPicPr>
            <a:picLocks noChangeAspect="1"/>
          </p:cNvPicPr>
          <p:nvPr/>
        </p:nvPicPr>
        <p:blipFill>
          <a:blip r:embed="rId5"/>
          <a:stretch>
            <a:fillRect/>
          </a:stretch>
        </p:blipFill>
        <p:spPr>
          <a:xfrm>
            <a:off x="6676217" y="3832433"/>
            <a:ext cx="235549" cy="235549"/>
          </a:xfrm>
          <a:prstGeom prst="rect">
            <a:avLst/>
          </a:prstGeom>
        </p:spPr>
      </p:pic>
      <p:sp>
        <p:nvSpPr>
          <p:cNvPr id="17" name="Text 10"/>
          <p:cNvSpPr txBox="1"/>
          <p:nvPr/>
        </p:nvSpPr>
        <p:spPr>
          <a:xfrm>
            <a:off x="7178040" y="3666744"/>
            <a:ext cx="4434840" cy="594360"/>
          </a:xfrm>
          <a:prstGeom prst="rect">
            <a:avLst/>
          </a:prstGeom>
          <a:noFill/>
          <a:ln/>
        </p:spPr>
        <p:txBody>
          <a:bodyPr wrap="square" lIns="0" tIns="0" rIns="0" bIns="0" rtlCol="0" anchor="ctr"/>
          <a:lstStyle/>
          <a:p>
            <a:pPr indent="0" marL="0">
              <a:buNone/>
            </a:pPr>
            <a:r>
              <a:rPr lang="en-US" sz="1500" dirty="0">
                <a:solidFill>
                  <a:srgbClr val="1B2733"/>
                </a:solidFill>
                <a:latin typeface="Helvetica Neue" pitchFamily="34" charset="0"/>
                <a:ea typeface="Helvetica Neue" pitchFamily="34" charset="-122"/>
                <a:cs typeface="Helvetica Neue" pitchFamily="34" charset="-120"/>
              </a:rPr>
              <a:t>Show a question only when it is relevant</a:t>
            </a:r>
            <a:endParaRPr lang="en-US" sz="1500" dirty="0"/>
          </a:p>
        </p:txBody>
      </p:sp>
      <p:sp>
        <p:nvSpPr>
          <p:cNvPr id="18" name="icon checks"/>
          <p:cNvSpPr/>
          <p:nvPr/>
        </p:nvSpPr>
        <p:spPr>
          <a:xfrm>
            <a:off x="6583680" y="4489704"/>
            <a:ext cx="420624" cy="420624"/>
          </a:xfrm>
          <a:prstGeom prst="ellipse">
            <a:avLst/>
          </a:prstGeom>
          <a:solidFill>
            <a:srgbClr val="1F5F7A"/>
          </a:solidFill>
          <a:ln w="12700">
            <a:solidFill>
              <a:srgbClr val="1F5F7A"/>
            </a:solidFill>
            <a:prstDash val="solid"/>
          </a:ln>
        </p:spPr>
      </p:sp>
      <p:pic>
        <p:nvPicPr>
          <p:cNvPr id="19" name="Image 5" descr="checks">    </p:cNvPr>
          <p:cNvPicPr>
            <a:picLocks noChangeAspect="1"/>
          </p:cNvPicPr>
          <p:nvPr/>
        </p:nvPicPr>
        <p:blipFill>
          <a:blip r:embed="rId6"/>
          <a:stretch>
            <a:fillRect/>
          </a:stretch>
        </p:blipFill>
        <p:spPr>
          <a:xfrm>
            <a:off x="6676217" y="4582241"/>
            <a:ext cx="235549" cy="235549"/>
          </a:xfrm>
          <a:prstGeom prst="rect">
            <a:avLst/>
          </a:prstGeom>
        </p:spPr>
      </p:pic>
      <p:sp>
        <p:nvSpPr>
          <p:cNvPr id="20" name="Text 12"/>
          <p:cNvSpPr txBox="1"/>
          <p:nvPr/>
        </p:nvSpPr>
        <p:spPr>
          <a:xfrm>
            <a:off x="7178040" y="4416552"/>
            <a:ext cx="4434840" cy="594360"/>
          </a:xfrm>
          <a:prstGeom prst="rect">
            <a:avLst/>
          </a:prstGeom>
          <a:noFill/>
          <a:ln/>
        </p:spPr>
        <p:txBody>
          <a:bodyPr wrap="square" lIns="0" tIns="0" rIns="0" bIns="0" rtlCol="0" anchor="ctr"/>
          <a:lstStyle/>
          <a:p>
            <a:pPr indent="0" marL="0">
              <a:buNone/>
            </a:pPr>
            <a:r>
              <a:rPr lang="en-US" sz="1500" dirty="0">
                <a:solidFill>
                  <a:srgbClr val="1B2733"/>
                </a:solidFill>
                <a:latin typeface="Helvetica Neue" pitchFamily="34" charset="0"/>
                <a:ea typeface="Helvetica Neue" pitchFamily="34" charset="-122"/>
                <a:cs typeface="Helvetica Neue" pitchFamily="34" charset="-120"/>
              </a:rPr>
              <a:t>Repeat a form as often as needed</a:t>
            </a:r>
            <a:endParaRPr lang="en-US" sz="1500" dirty="0"/>
          </a:p>
        </p:txBody>
      </p:sp>
      <p:sp>
        <p:nvSpPr>
          <p:cNvPr id="21" name="icon shield-check"/>
          <p:cNvSpPr/>
          <p:nvPr/>
        </p:nvSpPr>
        <p:spPr>
          <a:xfrm>
            <a:off x="6583680" y="5239512"/>
            <a:ext cx="420624" cy="420624"/>
          </a:xfrm>
          <a:prstGeom prst="ellipse">
            <a:avLst/>
          </a:prstGeom>
          <a:solidFill>
            <a:srgbClr val="1F5F7A"/>
          </a:solidFill>
          <a:ln w="12700">
            <a:solidFill>
              <a:srgbClr val="1F5F7A"/>
            </a:solidFill>
            <a:prstDash val="solid"/>
          </a:ln>
        </p:spPr>
      </p:sp>
      <p:pic>
        <p:nvPicPr>
          <p:cNvPr id="22" name="Image 6" descr="shield check">    </p:cNvPr>
          <p:cNvPicPr>
            <a:picLocks noChangeAspect="1"/>
          </p:cNvPicPr>
          <p:nvPr/>
        </p:nvPicPr>
        <p:blipFill>
          <a:blip r:embed="rId7"/>
          <a:stretch>
            <a:fillRect/>
          </a:stretch>
        </p:blipFill>
        <p:spPr>
          <a:xfrm>
            <a:off x="6676217" y="5332049"/>
            <a:ext cx="235549" cy="235549"/>
          </a:xfrm>
          <a:prstGeom prst="rect">
            <a:avLst/>
          </a:prstGeom>
        </p:spPr>
      </p:pic>
      <p:sp>
        <p:nvSpPr>
          <p:cNvPr id="23" name="Text 14"/>
          <p:cNvSpPr txBox="1"/>
          <p:nvPr/>
        </p:nvSpPr>
        <p:spPr>
          <a:xfrm>
            <a:off x="7178040" y="5166360"/>
            <a:ext cx="4434840" cy="594360"/>
          </a:xfrm>
          <a:prstGeom prst="rect">
            <a:avLst/>
          </a:prstGeom>
          <a:noFill/>
          <a:ln/>
        </p:spPr>
        <p:txBody>
          <a:bodyPr wrap="square" lIns="0" tIns="0" rIns="0" bIns="0" rtlCol="0" anchor="ctr"/>
          <a:lstStyle/>
          <a:p>
            <a:pPr indent="0" marL="0">
              <a:buNone/>
            </a:pPr>
            <a:r>
              <a:rPr lang="en-US" sz="1500" dirty="0">
                <a:solidFill>
                  <a:srgbClr val="1B2733"/>
                </a:solidFill>
                <a:latin typeface="Helvetica Neue" pitchFamily="34" charset="0"/>
                <a:ea typeface="Helvetica Neue" pitchFamily="34" charset="-122"/>
                <a:cs typeface="Helvetica Neue" pitchFamily="34" charset="-120"/>
              </a:rPr>
              <a:t>In production, changes are staged and checked before they go live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Helvetica Neue"/>
                <a:ea typeface="Helvetica Neue"/>
                <a:cs typeface="Helvetica Neue"/>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0B2239"/>
                </a:solidFill>
                <a:latin typeface="Avenir Next" pitchFamily="34" charset="0"/>
                <a:ea typeface="Avenir Next" pitchFamily="34" charset="-122"/>
                <a:cs typeface="Avenir Next" pitchFamily="34" charset="-120"/>
              </a:rPr>
              <a:t>Collecting data: status at a glance</a:t>
            </a:r>
            <a:endParaRPr lang="en-US" sz="3600" dirty="0"/>
          </a:p>
        </p:txBody>
      </p:sp>
      <p:sp>
        <p:nvSpPr>
          <p:cNvPr id="3" name="iPad 06-record-status"/>
          <p:cNvSpPr/>
          <p:nvPr/>
        </p:nvSpPr>
        <p:spPr>
          <a:xfrm>
            <a:off x="548640" y="1325880"/>
            <a:ext cx="5349240" cy="4105542"/>
          </a:xfrm>
          <a:prstGeom prst="roundRect">
            <a:avLst>
              <a:gd name="adj" fmla="val 8208"/>
            </a:avLst>
          </a:prstGeom>
          <a:solidFill>
            <a:srgbClr val="1C1C1E"/>
          </a:solidFill>
          <a:ln w="9525">
            <a:solidFill>
              <a:srgbClr val="3A3A3C"/>
            </a:solidFill>
            <a:prstDash val="solid"/>
          </a:ln>
          <a:effectLst>
            <a:outerShdw sx="100000" sy="100000" kx="0" ky="0" algn="bl" rotWithShape="0" blurRad="127000" dist="38100" dir="5400000">
              <a:srgbClr val="000000">
                <a:alpha val="22000"/>
              </a:srgbClr>
            </a:outerShdw>
          </a:effectLst>
        </p:spPr>
      </p:sp>
      <p:pic>
        <p:nvPicPr>
          <p:cNvPr id="4" name="Image 0" descr="Record Status Dashboard with three records and coloured status dots">    </p:cNvPr>
          <p:cNvPicPr>
            <a:picLocks noChangeAspect="1"/>
          </p:cNvPicPr>
          <p:nvPr/>
        </p:nvPicPr>
        <p:blipFill>
          <a:blip r:embed="rId1"/>
          <a:stretch>
            <a:fillRect/>
          </a:stretch>
        </p:blipFill>
        <p:spPr>
          <a:xfrm>
            <a:off x="735863" y="1513103"/>
            <a:ext cx="4974793" cy="3731095"/>
          </a:xfrm>
          <a:prstGeom prst="rect">
            <a:avLst/>
          </a:prstGeom>
        </p:spPr>
      </p:pic>
      <p:sp>
        <p:nvSpPr>
          <p:cNvPr id="5" name="Shape 2"/>
          <p:cNvSpPr/>
          <p:nvPr/>
        </p:nvSpPr>
        <p:spPr>
          <a:xfrm>
            <a:off x="3195828" y="1392060"/>
            <a:ext cx="54864" cy="54864"/>
          </a:xfrm>
          <a:prstGeom prst="ellipse">
            <a:avLst/>
          </a:prstGeom>
          <a:solidFill>
            <a:srgbClr val="48484A"/>
          </a:solidFill>
          <a:ln w="12700">
            <a:solidFill>
              <a:srgbClr val="48484A"/>
            </a:solidFill>
            <a:prstDash val="solid"/>
          </a:ln>
        </p:spPr>
      </p:sp>
      <p:sp>
        <p:nvSpPr>
          <p:cNvPr id="6" name="Text 3"/>
          <p:cNvSpPr txBox="1"/>
          <p:nvPr/>
        </p:nvSpPr>
        <p:spPr>
          <a:xfrm>
            <a:off x="548640" y="5596014"/>
            <a:ext cx="5349240" cy="685800"/>
          </a:xfrm>
          <a:prstGeom prst="rect">
            <a:avLst/>
          </a:prstGeom>
          <a:noFill/>
          <a:ln/>
        </p:spPr>
        <p:txBody>
          <a:bodyPr wrap="square" lIns="0" tIns="0" rIns="0" bIns="0" rtlCol="0" anchor="t"/>
          <a:lstStyle/>
          <a:p>
            <a:pPr indent="0" marL="0">
              <a:buNone/>
            </a:pPr>
            <a:r>
              <a:rPr lang="en-US" sz="1400" b="1" dirty="0">
                <a:solidFill>
                  <a:srgbClr val="0B2239"/>
                </a:solidFill>
                <a:latin typeface="Helvetica Neue" pitchFamily="34" charset="0"/>
                <a:ea typeface="Helvetica Neue" pitchFamily="34" charset="-122"/>
                <a:cs typeface="Helvetica Neue" pitchFamily="34" charset="-120"/>
              </a:rPr>
              <a:t>Record Status Dashboard — </a:t>
            </a:r>
            <a:pPr indent="0" marL="0">
              <a:buNone/>
            </a:pPr>
            <a:r>
              <a:rPr lang="en-US" sz="1400" dirty="0">
                <a:solidFill>
                  <a:srgbClr val="1B2733"/>
                </a:solidFill>
                <a:latin typeface="Helvetica Neue" pitchFamily="34" charset="0"/>
                <a:ea typeface="Helvetica Neue" pitchFamily="34" charset="-122"/>
                <a:cs typeface="Helvetica Neue" pitchFamily="34" charset="-120"/>
              </a:rPr>
              <a:t>one row per participant, a dot per form: grey, yellow or green.</a:t>
            </a:r>
            <a:endParaRPr lang="en-US" sz="1400" dirty="0"/>
          </a:p>
        </p:txBody>
      </p:sp>
      <p:sp>
        <p:nvSpPr>
          <p:cNvPr id="7" name="iPad 07-record-incoming"/>
          <p:cNvSpPr/>
          <p:nvPr/>
        </p:nvSpPr>
        <p:spPr>
          <a:xfrm>
            <a:off x="6291072" y="1325880"/>
            <a:ext cx="5349240" cy="4105542"/>
          </a:xfrm>
          <a:prstGeom prst="roundRect">
            <a:avLst>
              <a:gd name="adj" fmla="val 8208"/>
            </a:avLst>
          </a:prstGeom>
          <a:solidFill>
            <a:srgbClr val="1C1C1E"/>
          </a:solidFill>
          <a:ln w="9525">
            <a:solidFill>
              <a:srgbClr val="3A3A3C"/>
            </a:solidFill>
            <a:prstDash val="solid"/>
          </a:ln>
          <a:effectLst>
            <a:outerShdw sx="100000" sy="100000" kx="0" ky="0" algn="bl" rotWithShape="0" blurRad="127000" dist="38100" dir="5400000">
              <a:srgbClr val="000000">
                <a:alpha val="22000"/>
              </a:srgbClr>
            </a:outerShdw>
          </a:effectLst>
        </p:spPr>
      </p:sp>
      <p:pic>
        <p:nvPicPr>
          <p:cNvPr id="8" name="Image 1" descr="A record's incoming study form with history buttons next to each field">    </p:cNvPr>
          <p:cNvPicPr>
            <a:picLocks noChangeAspect="1"/>
          </p:cNvPicPr>
          <p:nvPr/>
        </p:nvPicPr>
        <p:blipFill>
          <a:blip r:embed="rId2"/>
          <a:stretch>
            <a:fillRect/>
          </a:stretch>
        </p:blipFill>
        <p:spPr>
          <a:xfrm>
            <a:off x="6478295" y="1513103"/>
            <a:ext cx="4974793" cy="3731095"/>
          </a:xfrm>
          <a:prstGeom prst="rect">
            <a:avLst/>
          </a:prstGeom>
        </p:spPr>
      </p:pic>
      <p:sp>
        <p:nvSpPr>
          <p:cNvPr id="9" name="Shape 5"/>
          <p:cNvSpPr/>
          <p:nvPr/>
        </p:nvSpPr>
        <p:spPr>
          <a:xfrm>
            <a:off x="8938260" y="1392060"/>
            <a:ext cx="54864" cy="54864"/>
          </a:xfrm>
          <a:prstGeom prst="ellipse">
            <a:avLst/>
          </a:prstGeom>
          <a:solidFill>
            <a:srgbClr val="48484A"/>
          </a:solidFill>
          <a:ln w="12700">
            <a:solidFill>
              <a:srgbClr val="48484A"/>
            </a:solidFill>
            <a:prstDash val="solid"/>
          </a:ln>
        </p:spPr>
      </p:sp>
      <p:sp>
        <p:nvSpPr>
          <p:cNvPr id="10" name="Text 6"/>
          <p:cNvSpPr txBox="1"/>
          <p:nvPr/>
        </p:nvSpPr>
        <p:spPr>
          <a:xfrm>
            <a:off x="6291072" y="5596014"/>
            <a:ext cx="5349240" cy="685800"/>
          </a:xfrm>
          <a:prstGeom prst="rect">
            <a:avLst/>
          </a:prstGeom>
          <a:noFill/>
          <a:ln/>
        </p:spPr>
        <p:txBody>
          <a:bodyPr wrap="square" lIns="0" tIns="0" rIns="0" bIns="0" rtlCol="0" anchor="t"/>
          <a:lstStyle/>
          <a:p>
            <a:pPr indent="0" marL="0">
              <a:buNone/>
            </a:pPr>
            <a:r>
              <a:rPr lang="en-US" sz="1400" b="1" dirty="0">
                <a:solidFill>
                  <a:srgbClr val="0B2239"/>
                </a:solidFill>
                <a:latin typeface="Helvetica Neue" pitchFamily="34" charset="0"/>
                <a:ea typeface="Helvetica Neue" pitchFamily="34" charset="-122"/>
                <a:cs typeface="Helvetica Neue" pitchFamily="34" charset="-120"/>
              </a:rPr>
              <a:t>A form — </a:t>
            </a:r>
            <a:pPr indent="0" marL="0">
              <a:buNone/>
            </a:pPr>
            <a:r>
              <a:rPr lang="en-US" sz="1400" dirty="0">
                <a:solidFill>
                  <a:srgbClr val="1B2733"/>
                </a:solidFill>
                <a:latin typeface="Helvetica Neue" pitchFamily="34" charset="0"/>
                <a:ea typeface="Helvetica Neue" pitchFamily="34" charset="-122"/>
                <a:cs typeface="Helvetica Neue" pitchFamily="34" charset="-120"/>
              </a:rPr>
              <a:t>every value keeps its history. Forms can also be sent out as a survey link.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Helvetica Neue"/>
                <a:ea typeface="Helvetica Neue"/>
                <a:cs typeface="Helvetica Neue"/>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0B2239"/>
                </a:solidFill>
                <a:latin typeface="Avenir Next" pitchFamily="34" charset="0"/>
                <a:ea typeface="Avenir Next" pitchFamily="34" charset="-122"/>
                <a:cs typeface="Avenir Next" pitchFamily="34" charset="-120"/>
              </a:rPr>
              <a:t>Export: share data, safely</a:t>
            </a:r>
            <a:endParaRPr lang="en-US" sz="3600" dirty="0"/>
          </a:p>
        </p:txBody>
      </p:sp>
      <p:sp>
        <p:nvSpPr>
          <p:cNvPr id="3" name="Text 1"/>
          <p:cNvSpPr txBox="1"/>
          <p:nvPr/>
        </p:nvSpPr>
        <p:spPr>
          <a:xfrm>
            <a:off x="548640" y="1371600"/>
            <a:ext cx="5669280" cy="41148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Four export levels — set per role, form and visit</a:t>
            </a:r>
            <a:endParaRPr lang="en-US" sz="1800" dirty="0"/>
          </a:p>
        </p:txBody>
      </p:sp>
      <p:sp>
        <p:nvSpPr>
          <p:cNvPr id="4" name="Full dataset"/>
          <p:cNvSpPr/>
          <p:nvPr/>
        </p:nvSpPr>
        <p:spPr>
          <a:xfrm>
            <a:off x="548640" y="1920240"/>
            <a:ext cx="5669280" cy="731520"/>
          </a:xfrm>
          <a:prstGeom prst="roundRect">
            <a:avLst>
              <a:gd name="adj" fmla="val 15000"/>
            </a:avLst>
          </a:prstGeom>
          <a:solidFill>
            <a:srgbClr val="0B2239"/>
          </a:solidFill>
          <a:ln w="12700">
            <a:solidFill>
              <a:srgbClr val="0B2239"/>
            </a:solidFill>
            <a:prstDash val="solid"/>
          </a:ln>
        </p:spPr>
      </p:sp>
      <p:sp>
        <p:nvSpPr>
          <p:cNvPr id="5" name="Text 3"/>
          <p:cNvSpPr txBox="1"/>
          <p:nvPr/>
        </p:nvSpPr>
        <p:spPr>
          <a:xfrm>
            <a:off x="777240" y="1920240"/>
            <a:ext cx="5303520" cy="731520"/>
          </a:xfrm>
          <a:prstGeom prst="rect">
            <a:avLst/>
          </a:prstGeom>
          <a:noFill/>
          <a:ln/>
        </p:spPr>
        <p:txBody>
          <a:bodyPr wrap="square" lIns="0" tIns="0" rIns="0" bIns="0" rtlCol="0" anchor="ctr"/>
          <a:lstStyle/>
          <a:p>
            <a:pPr indent="0" marL="0">
              <a:buNone/>
            </a:pPr>
            <a:r>
              <a:rPr lang="en-US" sz="1500" b="1" dirty="0">
                <a:solidFill>
                  <a:srgbClr val="FFFFFF"/>
                </a:solidFill>
                <a:latin typeface="Helvetica Neue" pitchFamily="34" charset="0"/>
                <a:ea typeface="Helvetica Neue" pitchFamily="34" charset="-122"/>
                <a:cs typeface="Helvetica Neue" pitchFamily="34" charset="-120"/>
              </a:rPr>
              <a:t>Full dataset</a:t>
            </a:r>
            <a:endParaRPr lang="en-US" sz="1500" dirty="0"/>
          </a:p>
          <a:p>
            <a:pPr indent="0" marL="0">
              <a:buNone/>
            </a:pPr>
            <a:r>
              <a:rPr lang="en-US" sz="1400" dirty="0">
                <a:solidFill>
                  <a:srgbClr val="FFFFFF"/>
                </a:solidFill>
                <a:latin typeface="Helvetica Neue" pitchFamily="34" charset="0"/>
                <a:ea typeface="Helvetica Neue" pitchFamily="34" charset="-122"/>
                <a:cs typeface="Helvetica Neue" pitchFamily="34" charset="-120"/>
              </a:rPr>
              <a:t>all fields and values, unchanged</a:t>
            </a:r>
            <a:endParaRPr lang="en-US" sz="1500" dirty="0"/>
          </a:p>
        </p:txBody>
      </p:sp>
      <p:sp>
        <p:nvSpPr>
          <p:cNvPr id="6" name="No identifiers"/>
          <p:cNvSpPr/>
          <p:nvPr/>
        </p:nvSpPr>
        <p:spPr>
          <a:xfrm>
            <a:off x="548640" y="2788920"/>
            <a:ext cx="5257800" cy="731520"/>
          </a:xfrm>
          <a:prstGeom prst="roundRect">
            <a:avLst>
              <a:gd name="adj" fmla="val 15000"/>
            </a:avLst>
          </a:prstGeom>
          <a:solidFill>
            <a:srgbClr val="1F5F7A"/>
          </a:solidFill>
          <a:ln w="12700">
            <a:solidFill>
              <a:srgbClr val="1F5F7A"/>
            </a:solidFill>
            <a:prstDash val="solid"/>
          </a:ln>
        </p:spPr>
      </p:sp>
      <p:sp>
        <p:nvSpPr>
          <p:cNvPr id="7" name="Text 5"/>
          <p:cNvSpPr txBox="1"/>
          <p:nvPr/>
        </p:nvSpPr>
        <p:spPr>
          <a:xfrm>
            <a:off x="777240" y="2788920"/>
            <a:ext cx="4892040" cy="731520"/>
          </a:xfrm>
          <a:prstGeom prst="rect">
            <a:avLst/>
          </a:prstGeom>
          <a:noFill/>
          <a:ln/>
        </p:spPr>
        <p:txBody>
          <a:bodyPr wrap="square" lIns="0" tIns="0" rIns="0" bIns="0" rtlCol="0" anchor="ctr"/>
          <a:lstStyle/>
          <a:p>
            <a:pPr indent="0" marL="0">
              <a:buNone/>
            </a:pPr>
            <a:r>
              <a:rPr lang="en-US" sz="1500" b="1" dirty="0">
                <a:solidFill>
                  <a:srgbClr val="FFFFFF"/>
                </a:solidFill>
                <a:latin typeface="Helvetica Neue" pitchFamily="34" charset="0"/>
                <a:ea typeface="Helvetica Neue" pitchFamily="34" charset="-122"/>
                <a:cs typeface="Helvetica Neue" pitchFamily="34" charset="-120"/>
              </a:rPr>
              <a:t>No identifiers</a:t>
            </a:r>
            <a:endParaRPr lang="en-US" sz="1500" dirty="0"/>
          </a:p>
          <a:p>
            <a:pPr indent="0" marL="0">
              <a:buNone/>
            </a:pPr>
            <a:r>
              <a:rPr lang="en-US" sz="1400" dirty="0">
                <a:solidFill>
                  <a:srgbClr val="FFFFFF"/>
                </a:solidFill>
                <a:latin typeface="Helvetica Neue" pitchFamily="34" charset="0"/>
                <a:ea typeface="Helvetica Neue" pitchFamily="34" charset="-122"/>
                <a:cs typeface="Helvetica Neue" pitchFamily="34" charset="-120"/>
              </a:rPr>
              <a:t>every identifying field removed</a:t>
            </a:r>
            <a:endParaRPr lang="en-US" sz="1500" dirty="0"/>
          </a:p>
        </p:txBody>
      </p:sp>
      <p:sp>
        <p:nvSpPr>
          <p:cNvPr id="8" name="De-identified"/>
          <p:cNvSpPr/>
          <p:nvPr/>
        </p:nvSpPr>
        <p:spPr>
          <a:xfrm>
            <a:off x="548640" y="3657600"/>
            <a:ext cx="4846320" cy="731520"/>
          </a:xfrm>
          <a:prstGeom prst="roundRect">
            <a:avLst>
              <a:gd name="adj" fmla="val 15000"/>
            </a:avLst>
          </a:prstGeom>
          <a:solidFill>
            <a:srgbClr val="A9C4D3"/>
          </a:solidFill>
          <a:ln w="12700">
            <a:solidFill>
              <a:srgbClr val="A9C4D3"/>
            </a:solidFill>
            <a:prstDash val="solid"/>
          </a:ln>
        </p:spPr>
      </p:sp>
      <p:sp>
        <p:nvSpPr>
          <p:cNvPr id="9" name="Text 7"/>
          <p:cNvSpPr txBox="1"/>
          <p:nvPr/>
        </p:nvSpPr>
        <p:spPr>
          <a:xfrm>
            <a:off x="777240" y="3657600"/>
            <a:ext cx="4480560" cy="731520"/>
          </a:xfrm>
          <a:prstGeom prst="rect">
            <a:avLst/>
          </a:prstGeom>
          <a:noFill/>
          <a:ln/>
        </p:spPr>
        <p:txBody>
          <a:bodyPr wrap="square" lIns="0" tIns="0" rIns="0" bIns="0" rtlCol="0" anchor="ctr"/>
          <a:lstStyle/>
          <a:p>
            <a:pPr indent="0" marL="0">
              <a:buNone/>
            </a:pPr>
            <a:r>
              <a:rPr lang="en-US" sz="1500" b="1" dirty="0">
                <a:solidFill>
                  <a:srgbClr val="0B2239"/>
                </a:solidFill>
                <a:latin typeface="Helvetica Neue" pitchFamily="34" charset="0"/>
                <a:ea typeface="Helvetica Neue" pitchFamily="34" charset="-122"/>
                <a:cs typeface="Helvetica Neue" pitchFamily="34" charset="-120"/>
              </a:rPr>
              <a:t>De-identified</a:t>
            </a:r>
            <a:endParaRPr lang="en-US" sz="1500" dirty="0"/>
          </a:p>
          <a:p>
            <a:pPr indent="0" marL="0">
              <a:buNone/>
            </a:pPr>
            <a:r>
              <a:rPr lang="en-US" sz="1400" dirty="0">
                <a:solidFill>
                  <a:srgbClr val="0B2239"/>
                </a:solidFill>
                <a:latin typeface="Helvetica Neue" pitchFamily="34" charset="0"/>
                <a:ea typeface="Helvetica Neue" pitchFamily="34" charset="-122"/>
                <a:cs typeface="Helvetica Neue" pitchFamily="34" charset="-120"/>
              </a:rPr>
              <a:t>identifiers removed, personal fields hashed, dates shifted</a:t>
            </a:r>
            <a:endParaRPr lang="en-US" sz="1500" dirty="0"/>
          </a:p>
        </p:txBody>
      </p:sp>
      <p:sp>
        <p:nvSpPr>
          <p:cNvPr id="10" name="None"/>
          <p:cNvSpPr/>
          <p:nvPr/>
        </p:nvSpPr>
        <p:spPr>
          <a:xfrm>
            <a:off x="548640" y="4526280"/>
            <a:ext cx="4434840" cy="731520"/>
          </a:xfrm>
          <a:prstGeom prst="roundRect">
            <a:avLst>
              <a:gd name="adj" fmla="val 15000"/>
            </a:avLst>
          </a:prstGeom>
          <a:solidFill>
            <a:srgbClr val="D6E2EC"/>
          </a:solidFill>
          <a:ln w="12700">
            <a:solidFill>
              <a:srgbClr val="D6E2EC"/>
            </a:solidFill>
            <a:prstDash val="solid"/>
          </a:ln>
        </p:spPr>
      </p:sp>
      <p:sp>
        <p:nvSpPr>
          <p:cNvPr id="11" name="Text 9"/>
          <p:cNvSpPr txBox="1"/>
          <p:nvPr/>
        </p:nvSpPr>
        <p:spPr>
          <a:xfrm>
            <a:off x="777240" y="4526280"/>
            <a:ext cx="4069080" cy="731520"/>
          </a:xfrm>
          <a:prstGeom prst="rect">
            <a:avLst/>
          </a:prstGeom>
          <a:noFill/>
          <a:ln/>
        </p:spPr>
        <p:txBody>
          <a:bodyPr wrap="square" lIns="0" tIns="0" rIns="0" bIns="0" rtlCol="0" anchor="ctr"/>
          <a:lstStyle/>
          <a:p>
            <a:pPr indent="0" marL="0">
              <a:buNone/>
            </a:pPr>
            <a:r>
              <a:rPr lang="en-US" sz="1500" b="1" dirty="0">
                <a:solidFill>
                  <a:srgbClr val="0B2239"/>
                </a:solidFill>
                <a:latin typeface="Helvetica Neue" pitchFamily="34" charset="0"/>
                <a:ea typeface="Helvetica Neue" pitchFamily="34" charset="-122"/>
                <a:cs typeface="Helvetica Neue" pitchFamily="34" charset="-120"/>
              </a:rPr>
              <a:t>None</a:t>
            </a:r>
            <a:endParaRPr lang="en-US" sz="1500" dirty="0"/>
          </a:p>
          <a:p>
            <a:pPr indent="0" marL="0">
              <a:buNone/>
            </a:pPr>
            <a:r>
              <a:rPr lang="en-US" sz="1400" dirty="0">
                <a:solidFill>
                  <a:srgbClr val="0B2239"/>
                </a:solidFill>
                <a:latin typeface="Helvetica Neue" pitchFamily="34" charset="0"/>
                <a:ea typeface="Helvetica Neue" pitchFamily="34" charset="-122"/>
                <a:cs typeface="Helvetica Neue" pitchFamily="34" charset="-120"/>
              </a:rPr>
              <a:t>no download</a:t>
            </a:r>
            <a:endParaRPr lang="en-US" sz="1500" dirty="0"/>
          </a:p>
        </p:txBody>
      </p:sp>
      <p:sp>
        <p:nvSpPr>
          <p:cNvPr id="12" name="Text 10"/>
          <p:cNvSpPr txBox="1"/>
          <p:nvPr/>
        </p:nvSpPr>
        <p:spPr>
          <a:xfrm>
            <a:off x="548640" y="5532120"/>
            <a:ext cx="5852160" cy="457200"/>
          </a:xfrm>
          <a:prstGeom prst="rect">
            <a:avLst/>
          </a:prstGeom>
          <a:noFill/>
          <a:ln/>
        </p:spPr>
        <p:txBody>
          <a:bodyPr wrap="square" lIns="0" tIns="0" rIns="0" bIns="0" rtlCol="0" anchor="t"/>
          <a:lstStyle/>
          <a:p>
            <a:pPr indent="0" marL="0">
              <a:buNone/>
            </a:pPr>
            <a:r>
              <a:rPr lang="en-US" sz="1400" dirty="0">
                <a:solidFill>
                  <a:srgbClr val="5B6B7A"/>
                </a:solidFill>
                <a:latin typeface="Helvetica Neue" pitchFamily="34" charset="0"/>
                <a:ea typeface="Helvetica Neue" pitchFamily="34" charset="-122"/>
                <a:cs typeface="Helvetica Neue" pitchFamily="34" charset="-120"/>
              </a:rPr>
              <a:t>CSV or JSON  ·  Excel-friendly (æ, ø, å)  ·  every download logged</a:t>
            </a:r>
            <a:endParaRPr lang="en-US" sz="1400" dirty="0"/>
          </a:p>
        </p:txBody>
      </p:sp>
      <p:sp>
        <p:nvSpPr>
          <p:cNvPr id="13" name="iPad 11-export"/>
          <p:cNvSpPr/>
          <p:nvPr/>
        </p:nvSpPr>
        <p:spPr>
          <a:xfrm>
            <a:off x="6519672" y="1463040"/>
            <a:ext cx="5120640" cy="3930091"/>
          </a:xfrm>
          <a:prstGeom prst="roundRect">
            <a:avLst>
              <a:gd name="adj" fmla="val 8208"/>
            </a:avLst>
          </a:prstGeom>
          <a:solidFill>
            <a:srgbClr val="1C1C1E"/>
          </a:solidFill>
          <a:ln w="9525">
            <a:solidFill>
              <a:srgbClr val="3A3A3C"/>
            </a:solidFill>
            <a:prstDash val="solid"/>
          </a:ln>
          <a:effectLst>
            <a:outerShdw sx="100000" sy="100000" kx="0" ky="0" algn="bl" rotWithShape="0" blurRad="127000" dist="38100" dir="5400000">
              <a:srgbClr val="000000">
                <a:alpha val="22000"/>
              </a:srgbClr>
            </a:outerShdw>
          </a:effectLst>
        </p:spPr>
      </p:sp>
      <p:pic>
        <p:nvPicPr>
          <p:cNvPr id="14" name="Image 0" descr="Export page with format options and the applied sensitivity level">    </p:cNvPr>
          <p:cNvPicPr>
            <a:picLocks noChangeAspect="1"/>
          </p:cNvPicPr>
          <p:nvPr/>
        </p:nvPicPr>
        <p:blipFill>
          <a:blip r:embed="rId1"/>
          <a:stretch>
            <a:fillRect/>
          </a:stretch>
        </p:blipFill>
        <p:spPr>
          <a:xfrm>
            <a:off x="6698894" y="1642262"/>
            <a:ext cx="4762195" cy="3571646"/>
          </a:xfrm>
          <a:prstGeom prst="rect">
            <a:avLst/>
          </a:prstGeom>
        </p:spPr>
      </p:pic>
      <p:sp>
        <p:nvSpPr>
          <p:cNvPr id="15" name="Shape 12"/>
          <p:cNvSpPr/>
          <p:nvPr/>
        </p:nvSpPr>
        <p:spPr>
          <a:xfrm>
            <a:off x="9052560" y="1525219"/>
            <a:ext cx="54864" cy="54864"/>
          </a:xfrm>
          <a:prstGeom prst="ellipse">
            <a:avLst/>
          </a:prstGeom>
          <a:solidFill>
            <a:srgbClr val="48484A"/>
          </a:solidFill>
          <a:ln w="12700">
            <a:solidFill>
              <a:srgbClr val="48484A"/>
            </a:solidFill>
            <a:prstDash val="solid"/>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Helvetica Neue"/>
                <a:ea typeface="Helvetica Neue"/>
                <a:cs typeface="Helvetica Neue"/>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0B2239"/>
                </a:solidFill>
                <a:latin typeface="Avenir Next" pitchFamily="34" charset="0"/>
                <a:ea typeface="Avenir Next" pitchFamily="34" charset="-122"/>
                <a:cs typeface="Avenir Next" pitchFamily="34" charset="-120"/>
              </a:rPr>
              <a:t>Oversight: who did what, and who may sign in</a:t>
            </a:r>
            <a:endParaRPr lang="en-US" sz="3600" dirty="0"/>
          </a:p>
        </p:txBody>
      </p:sp>
      <p:sp>
        <p:nvSpPr>
          <p:cNvPr id="3" name="iPad 14-audit"/>
          <p:cNvSpPr/>
          <p:nvPr/>
        </p:nvSpPr>
        <p:spPr>
          <a:xfrm>
            <a:off x="548640" y="1325880"/>
            <a:ext cx="5349240" cy="4105542"/>
          </a:xfrm>
          <a:prstGeom prst="roundRect">
            <a:avLst>
              <a:gd name="adj" fmla="val 8208"/>
            </a:avLst>
          </a:prstGeom>
          <a:solidFill>
            <a:srgbClr val="1C1C1E"/>
          </a:solidFill>
          <a:ln w="9525">
            <a:solidFill>
              <a:srgbClr val="3A3A3C"/>
            </a:solidFill>
            <a:prstDash val="solid"/>
          </a:ln>
          <a:effectLst>
            <a:outerShdw sx="100000" sy="100000" kx="0" ky="0" algn="bl" rotWithShape="0" blurRad="127000" dist="38100" dir="5400000">
              <a:srgbClr val="000000">
                <a:alpha val="22000"/>
              </a:srgbClr>
            </a:outerShdw>
          </a:effectLst>
        </p:spPr>
      </p:sp>
      <p:pic>
        <p:nvPicPr>
          <p:cNvPr id="4" name="Image 0" descr="Audits page with filters and a list of logged events">    </p:cNvPr>
          <p:cNvPicPr>
            <a:picLocks noChangeAspect="1"/>
          </p:cNvPicPr>
          <p:nvPr/>
        </p:nvPicPr>
        <p:blipFill>
          <a:blip r:embed="rId1"/>
          <a:stretch>
            <a:fillRect/>
          </a:stretch>
        </p:blipFill>
        <p:spPr>
          <a:xfrm>
            <a:off x="735863" y="1513103"/>
            <a:ext cx="4974793" cy="3731095"/>
          </a:xfrm>
          <a:prstGeom prst="rect">
            <a:avLst/>
          </a:prstGeom>
        </p:spPr>
      </p:pic>
      <p:sp>
        <p:nvSpPr>
          <p:cNvPr id="5" name="Shape 2"/>
          <p:cNvSpPr/>
          <p:nvPr/>
        </p:nvSpPr>
        <p:spPr>
          <a:xfrm>
            <a:off x="3195828" y="1392060"/>
            <a:ext cx="54864" cy="54864"/>
          </a:xfrm>
          <a:prstGeom prst="ellipse">
            <a:avLst/>
          </a:prstGeom>
          <a:solidFill>
            <a:srgbClr val="48484A"/>
          </a:solidFill>
          <a:ln w="12700">
            <a:solidFill>
              <a:srgbClr val="48484A"/>
            </a:solidFill>
            <a:prstDash val="solid"/>
          </a:ln>
        </p:spPr>
      </p:sp>
      <p:sp>
        <p:nvSpPr>
          <p:cNvPr id="6" name="Text 3"/>
          <p:cNvSpPr txBox="1"/>
          <p:nvPr/>
        </p:nvSpPr>
        <p:spPr>
          <a:xfrm>
            <a:off x="548640" y="5596014"/>
            <a:ext cx="5349240" cy="685800"/>
          </a:xfrm>
          <a:prstGeom prst="rect">
            <a:avLst/>
          </a:prstGeom>
          <a:noFill/>
          <a:ln/>
        </p:spPr>
        <p:txBody>
          <a:bodyPr wrap="square" lIns="0" tIns="0" rIns="0" bIns="0" rtlCol="0" anchor="t"/>
          <a:lstStyle/>
          <a:p>
            <a:pPr indent="0" marL="0">
              <a:buNone/>
            </a:pPr>
            <a:r>
              <a:rPr lang="en-US" sz="1400" b="1" dirty="0">
                <a:solidFill>
                  <a:srgbClr val="0B2239"/>
                </a:solidFill>
                <a:latin typeface="Helvetica Neue" pitchFamily="34" charset="0"/>
                <a:ea typeface="Helvetica Neue" pitchFamily="34" charset="-122"/>
                <a:cs typeface="Helvetica Neue" pitchFamily="34" charset="-120"/>
              </a:rPr>
              <a:t>Audit trail — </a:t>
            </a:r>
            <a:pPr indent="0" marL="0">
              <a:buNone/>
            </a:pPr>
            <a:r>
              <a:rPr lang="en-US" sz="1400" dirty="0">
                <a:solidFill>
                  <a:srgbClr val="1B2733"/>
                </a:solidFill>
                <a:latin typeface="Helvetica Neue" pitchFamily="34" charset="0"/>
                <a:ea typeface="Helvetica Neue" pitchFamily="34" charset="-122"/>
                <a:cs typeface="Helvetica Neue" pitchFamily="34" charset="-120"/>
              </a:rPr>
              <a:t>every change and every view; filter it and export it.</a:t>
            </a:r>
            <a:endParaRPr lang="en-US" sz="1400" dirty="0"/>
          </a:p>
        </p:txBody>
      </p:sp>
      <p:sp>
        <p:nvSpPr>
          <p:cNvPr id="7" name="iPad 17-users"/>
          <p:cNvSpPr/>
          <p:nvPr/>
        </p:nvSpPr>
        <p:spPr>
          <a:xfrm>
            <a:off x="6291072" y="1325880"/>
            <a:ext cx="5349240" cy="4105542"/>
          </a:xfrm>
          <a:prstGeom prst="roundRect">
            <a:avLst>
              <a:gd name="adj" fmla="val 8208"/>
            </a:avLst>
          </a:prstGeom>
          <a:solidFill>
            <a:srgbClr val="1C1C1E"/>
          </a:solidFill>
          <a:ln w="9525">
            <a:solidFill>
              <a:srgbClr val="3A3A3C"/>
            </a:solidFill>
            <a:prstDash val="solid"/>
          </a:ln>
          <a:effectLst>
            <a:outerShdw sx="100000" sy="100000" kx="0" ky="0" algn="bl" rotWithShape="0" blurRad="127000" dist="38100" dir="5400000">
              <a:srgbClr val="000000">
                <a:alpha val="22000"/>
              </a:srgbClr>
            </a:outerShdw>
          </a:effectLst>
        </p:spPr>
      </p:sp>
      <p:pic>
        <p:nvPicPr>
          <p:cNvPr id="8" name="Image 1" descr="Users page in the Control Panel">    </p:cNvPr>
          <p:cNvPicPr>
            <a:picLocks noChangeAspect="1"/>
          </p:cNvPicPr>
          <p:nvPr/>
        </p:nvPicPr>
        <p:blipFill>
          <a:blip r:embed="rId2"/>
          <a:stretch>
            <a:fillRect/>
          </a:stretch>
        </p:blipFill>
        <p:spPr>
          <a:xfrm>
            <a:off x="6478295" y="1513103"/>
            <a:ext cx="4974793" cy="3731095"/>
          </a:xfrm>
          <a:prstGeom prst="rect">
            <a:avLst/>
          </a:prstGeom>
        </p:spPr>
      </p:pic>
      <p:sp>
        <p:nvSpPr>
          <p:cNvPr id="9" name="Shape 5"/>
          <p:cNvSpPr/>
          <p:nvPr/>
        </p:nvSpPr>
        <p:spPr>
          <a:xfrm>
            <a:off x="8938260" y="1392060"/>
            <a:ext cx="54864" cy="54864"/>
          </a:xfrm>
          <a:prstGeom prst="ellipse">
            <a:avLst/>
          </a:prstGeom>
          <a:solidFill>
            <a:srgbClr val="48484A"/>
          </a:solidFill>
          <a:ln w="12700">
            <a:solidFill>
              <a:srgbClr val="48484A"/>
            </a:solidFill>
            <a:prstDash val="solid"/>
          </a:ln>
        </p:spPr>
      </p:sp>
      <p:sp>
        <p:nvSpPr>
          <p:cNvPr id="10" name="Text 6"/>
          <p:cNvSpPr txBox="1"/>
          <p:nvPr/>
        </p:nvSpPr>
        <p:spPr>
          <a:xfrm>
            <a:off x="6291072" y="5596014"/>
            <a:ext cx="5349240" cy="685800"/>
          </a:xfrm>
          <a:prstGeom prst="rect">
            <a:avLst/>
          </a:prstGeom>
          <a:noFill/>
          <a:ln/>
        </p:spPr>
        <p:txBody>
          <a:bodyPr wrap="square" lIns="0" tIns="0" rIns="0" bIns="0" rtlCol="0" anchor="t"/>
          <a:lstStyle/>
          <a:p>
            <a:pPr indent="0" marL="0">
              <a:buNone/>
            </a:pPr>
            <a:r>
              <a:rPr lang="en-US" sz="1400" b="1" dirty="0">
                <a:solidFill>
                  <a:srgbClr val="0B2239"/>
                </a:solidFill>
                <a:latin typeface="Helvetica Neue" pitchFamily="34" charset="0"/>
                <a:ea typeface="Helvetica Neue" pitchFamily="34" charset="-122"/>
                <a:cs typeface="Helvetica Neue" pitchFamily="34" charset="-120"/>
              </a:rPr>
              <a:t>Users — </a:t>
            </a:r>
            <a:pPr indent="0" marL="0">
              <a:buNone/>
            </a:pPr>
            <a:r>
              <a:rPr lang="en-US" sz="1400" dirty="0">
                <a:solidFill>
                  <a:srgbClr val="1B2733"/>
                </a:solidFill>
                <a:latin typeface="Helvetica Neue" pitchFamily="34" charset="0"/>
                <a:ea typeface="Helvetica Neue" pitchFamily="34" charset="-122"/>
                <a:cs typeface="Helvetica Neue" pitchFamily="34" charset="-120"/>
              </a:rPr>
              <a:t>accounts with an end date, locked after 180 days without sign-in (adjustable).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Helvetica Neue"/>
                <a:ea typeface="Helvetica Neue"/>
                <a:cs typeface="Helvetica Neue"/>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0B2239"/>
                </a:solidFill>
                <a:latin typeface="Avenir Next" pitchFamily="34" charset="0"/>
                <a:ea typeface="Avenir Next" pitchFamily="34" charset="-122"/>
                <a:cs typeface="Avenir Next" pitchFamily="34" charset="-120"/>
              </a:rPr>
              <a:t>Help built in: training and languages</a:t>
            </a:r>
            <a:endParaRPr lang="en-US" sz="3600" dirty="0"/>
          </a:p>
        </p:txBody>
      </p:sp>
      <p:sp>
        <p:nvSpPr>
          <p:cNvPr id="3" name="iPad 19-training"/>
          <p:cNvSpPr/>
          <p:nvPr/>
        </p:nvSpPr>
        <p:spPr>
          <a:xfrm>
            <a:off x="548640" y="1371600"/>
            <a:ext cx="5669280" cy="4351172"/>
          </a:xfrm>
          <a:prstGeom prst="roundRect">
            <a:avLst>
              <a:gd name="adj" fmla="val 8208"/>
            </a:avLst>
          </a:prstGeom>
          <a:solidFill>
            <a:srgbClr val="1C1C1E"/>
          </a:solidFill>
          <a:ln w="9525">
            <a:solidFill>
              <a:srgbClr val="3A3A3C"/>
            </a:solidFill>
            <a:prstDash val="solid"/>
          </a:ln>
          <a:effectLst>
            <a:outerShdw sx="100000" sy="100000" kx="0" ky="0" algn="bl" rotWithShape="0" blurRad="127000" dist="38100" dir="5400000">
              <a:srgbClr val="000000">
                <a:alpha val="22000"/>
              </a:srgbClr>
            </a:outerShdw>
          </a:effectLst>
        </p:spPr>
      </p:sp>
      <p:pic>
        <p:nvPicPr>
          <p:cNvPr id="4" name="Image 0" descr="Training page with step-by-step guides">    </p:cNvPr>
          <p:cNvPicPr>
            <a:picLocks noChangeAspect="1"/>
          </p:cNvPicPr>
          <p:nvPr/>
        </p:nvPicPr>
        <p:blipFill>
          <a:blip r:embed="rId1"/>
          <a:stretch>
            <a:fillRect/>
          </a:stretch>
        </p:blipFill>
        <p:spPr>
          <a:xfrm>
            <a:off x="747065" y="1570025"/>
            <a:ext cx="5272430" cy="3954323"/>
          </a:xfrm>
          <a:prstGeom prst="rect">
            <a:avLst/>
          </a:prstGeom>
        </p:spPr>
      </p:pic>
      <p:sp>
        <p:nvSpPr>
          <p:cNvPr id="5" name="Shape 2"/>
          <p:cNvSpPr/>
          <p:nvPr/>
        </p:nvSpPr>
        <p:spPr>
          <a:xfrm>
            <a:off x="3355848" y="1443380"/>
            <a:ext cx="54864" cy="54864"/>
          </a:xfrm>
          <a:prstGeom prst="ellipse">
            <a:avLst/>
          </a:prstGeom>
          <a:solidFill>
            <a:srgbClr val="48484A"/>
          </a:solidFill>
          <a:ln w="12700">
            <a:solidFill>
              <a:srgbClr val="48484A"/>
            </a:solidFill>
            <a:prstDash val="solid"/>
          </a:ln>
        </p:spPr>
      </p:sp>
      <p:sp>
        <p:nvSpPr>
          <p:cNvPr id="6" name="icon school"/>
          <p:cNvSpPr/>
          <p:nvPr/>
        </p:nvSpPr>
        <p:spPr>
          <a:xfrm>
            <a:off x="6583680" y="1463040"/>
            <a:ext cx="548640" cy="548640"/>
          </a:xfrm>
          <a:prstGeom prst="ellipse">
            <a:avLst/>
          </a:prstGeom>
          <a:solidFill>
            <a:srgbClr val="1F5F7A"/>
          </a:solidFill>
          <a:ln w="12700">
            <a:solidFill>
              <a:srgbClr val="1F5F7A"/>
            </a:solidFill>
            <a:prstDash val="solid"/>
          </a:ln>
        </p:spPr>
      </p:sp>
      <p:pic>
        <p:nvPicPr>
          <p:cNvPr id="7" name="Image 1" descr="school">    </p:cNvPr>
          <p:cNvPicPr>
            <a:picLocks noChangeAspect="1"/>
          </p:cNvPicPr>
          <p:nvPr/>
        </p:nvPicPr>
        <p:blipFill>
          <a:blip r:embed="rId2"/>
          <a:stretch>
            <a:fillRect/>
          </a:stretch>
        </p:blipFill>
        <p:spPr>
          <a:xfrm>
            <a:off x="6704381" y="1583741"/>
            <a:ext cx="307238" cy="307238"/>
          </a:xfrm>
          <a:prstGeom prst="rect">
            <a:avLst/>
          </a:prstGeom>
        </p:spPr>
      </p:pic>
      <p:sp>
        <p:nvSpPr>
          <p:cNvPr id="8" name="Text 4"/>
          <p:cNvSpPr txBox="1"/>
          <p:nvPr/>
        </p:nvSpPr>
        <p:spPr>
          <a:xfrm>
            <a:off x="7315200" y="1481328"/>
            <a:ext cx="4297680" cy="36576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Training guides</a:t>
            </a:r>
            <a:endParaRPr lang="en-US" sz="1800" dirty="0"/>
          </a:p>
        </p:txBody>
      </p:sp>
      <p:sp>
        <p:nvSpPr>
          <p:cNvPr id="9" name="Text 5"/>
          <p:cNvSpPr txBox="1"/>
          <p:nvPr/>
        </p:nvSpPr>
        <p:spPr>
          <a:xfrm>
            <a:off x="7315200" y="1892808"/>
            <a:ext cx="4297680" cy="82296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Step-by-step pictures for common tasks — from a new project to exporting audit trails.</a:t>
            </a:r>
            <a:endParaRPr lang="en-US" sz="1400" dirty="0"/>
          </a:p>
        </p:txBody>
      </p:sp>
      <p:sp>
        <p:nvSpPr>
          <p:cNvPr id="10" name="icon language"/>
          <p:cNvSpPr/>
          <p:nvPr/>
        </p:nvSpPr>
        <p:spPr>
          <a:xfrm>
            <a:off x="6583680" y="2926080"/>
            <a:ext cx="548640" cy="548640"/>
          </a:xfrm>
          <a:prstGeom prst="ellipse">
            <a:avLst/>
          </a:prstGeom>
          <a:solidFill>
            <a:srgbClr val="1F5F7A"/>
          </a:solidFill>
          <a:ln w="12700">
            <a:solidFill>
              <a:srgbClr val="1F5F7A"/>
            </a:solidFill>
            <a:prstDash val="solid"/>
          </a:ln>
        </p:spPr>
      </p:sp>
      <p:pic>
        <p:nvPicPr>
          <p:cNvPr id="11" name="Image 2" descr="language">    </p:cNvPr>
          <p:cNvPicPr>
            <a:picLocks noChangeAspect="1"/>
          </p:cNvPicPr>
          <p:nvPr/>
        </p:nvPicPr>
        <p:blipFill>
          <a:blip r:embed="rId3"/>
          <a:stretch>
            <a:fillRect/>
          </a:stretch>
        </p:blipFill>
        <p:spPr>
          <a:xfrm>
            <a:off x="6704381" y="3046781"/>
            <a:ext cx="307238" cy="307238"/>
          </a:xfrm>
          <a:prstGeom prst="rect">
            <a:avLst/>
          </a:prstGeom>
        </p:spPr>
      </p:pic>
      <p:sp>
        <p:nvSpPr>
          <p:cNvPr id="12" name="Text 7"/>
          <p:cNvSpPr txBox="1"/>
          <p:nvPr/>
        </p:nvSpPr>
        <p:spPr>
          <a:xfrm>
            <a:off x="7315200" y="2944368"/>
            <a:ext cx="4297680" cy="36576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Your language</a:t>
            </a:r>
            <a:endParaRPr lang="en-US" sz="1800" dirty="0"/>
          </a:p>
        </p:txBody>
      </p:sp>
      <p:sp>
        <p:nvSpPr>
          <p:cNvPr id="13" name="Text 8"/>
          <p:cNvSpPr txBox="1"/>
          <p:nvPr/>
        </p:nvSpPr>
        <p:spPr>
          <a:xfrm>
            <a:off x="7315200" y="3355848"/>
            <a:ext cx="4297680" cy="82296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Each user picks English, Norsk bokmål or Nynorsk.</a:t>
            </a:r>
            <a:endParaRPr lang="en-US" sz="1400" dirty="0"/>
          </a:p>
        </p:txBody>
      </p:sp>
      <p:sp>
        <p:nvSpPr>
          <p:cNvPr id="14" name="icon file-spreadsheet"/>
          <p:cNvSpPr/>
          <p:nvPr/>
        </p:nvSpPr>
        <p:spPr>
          <a:xfrm>
            <a:off x="6583680" y="4389120"/>
            <a:ext cx="548640" cy="548640"/>
          </a:xfrm>
          <a:prstGeom prst="ellipse">
            <a:avLst/>
          </a:prstGeom>
          <a:solidFill>
            <a:srgbClr val="1F5F7A"/>
          </a:solidFill>
          <a:ln w="12700">
            <a:solidFill>
              <a:srgbClr val="1F5F7A"/>
            </a:solidFill>
            <a:prstDash val="solid"/>
          </a:ln>
        </p:spPr>
      </p:sp>
      <p:pic>
        <p:nvPicPr>
          <p:cNvPr id="15" name="Image 3" descr="file spreadsheet">    </p:cNvPr>
          <p:cNvPicPr>
            <a:picLocks noChangeAspect="1"/>
          </p:cNvPicPr>
          <p:nvPr/>
        </p:nvPicPr>
        <p:blipFill>
          <a:blip r:embed="rId4"/>
          <a:stretch>
            <a:fillRect/>
          </a:stretch>
        </p:blipFill>
        <p:spPr>
          <a:xfrm>
            <a:off x="6704381" y="4509821"/>
            <a:ext cx="307238" cy="307238"/>
          </a:xfrm>
          <a:prstGeom prst="rect">
            <a:avLst/>
          </a:prstGeom>
        </p:spPr>
      </p:pic>
      <p:sp>
        <p:nvSpPr>
          <p:cNvPr id="16" name="Text 10"/>
          <p:cNvSpPr txBox="1"/>
          <p:nvPr/>
        </p:nvSpPr>
        <p:spPr>
          <a:xfrm>
            <a:off x="7315200" y="4407408"/>
            <a:ext cx="4297680" cy="36576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Easy to translate</a:t>
            </a:r>
            <a:endParaRPr lang="en-US" sz="1800" dirty="0"/>
          </a:p>
        </p:txBody>
      </p:sp>
      <p:sp>
        <p:nvSpPr>
          <p:cNvPr id="17" name="Text 11"/>
          <p:cNvSpPr txBox="1"/>
          <p:nvPr/>
        </p:nvSpPr>
        <p:spPr>
          <a:xfrm>
            <a:off x="7315200" y="4818888"/>
            <a:ext cx="4297680" cy="82296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Administrators export the texts as a spreadsheet, translate them, and import them again.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Helvetica Neue"/>
                <a:ea typeface="Helvetica Neue"/>
                <a:cs typeface="Helvetica Neue"/>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1463040"/>
            <a:ext cx="1828800" cy="1188720"/>
          </a:xfrm>
          <a:prstGeom prst="rect">
            <a:avLst/>
          </a:prstGeom>
          <a:noFill/>
          <a:ln/>
        </p:spPr>
        <p:txBody>
          <a:bodyPr wrap="square" lIns="0" tIns="0" rIns="0" bIns="0" rtlCol="0" anchor="t"/>
          <a:lstStyle/>
          <a:p>
            <a:pPr indent="0" marL="0">
              <a:buNone/>
            </a:pPr>
            <a:r>
              <a:rPr lang="en-US" sz="9600" b="1" dirty="0">
                <a:solidFill>
                  <a:srgbClr val="F2A93B"/>
                </a:solidFill>
                <a:latin typeface="Avenir Next" pitchFamily="34" charset="0"/>
                <a:ea typeface="Avenir Next" pitchFamily="34" charset="-122"/>
                <a:cs typeface="Avenir Next" pitchFamily="34" charset="-120"/>
              </a:rPr>
              <a:t>4</a:t>
            </a:r>
            <a:endParaRPr lang="en-US" sz="9600" dirty="0"/>
          </a:p>
        </p:txBody>
      </p:sp>
      <p:sp>
        <p:nvSpPr>
          <p:cNvPr id="3" name="Text 1"/>
          <p:cNvSpPr txBox="1"/>
          <p:nvPr/>
        </p:nvSpPr>
        <p:spPr>
          <a:xfrm>
            <a:off x="731520" y="2788920"/>
            <a:ext cx="7863840" cy="914400"/>
          </a:xfrm>
          <a:prstGeom prst="rect">
            <a:avLst/>
          </a:prstGeom>
          <a:noFill/>
          <a:ln/>
        </p:spPr>
        <p:txBody>
          <a:bodyPr wrap="square" lIns="0" tIns="0" rIns="0" bIns="0" rtlCol="0" anchor="ctr"/>
          <a:lstStyle/>
          <a:p>
            <a:pPr indent="0" marL="0">
              <a:buNone/>
            </a:pPr>
            <a:r>
              <a:rPr lang="en-US" sz="4400" b="1" dirty="0">
                <a:solidFill>
                  <a:srgbClr val="FFFFFF"/>
                </a:solidFill>
                <a:latin typeface="Avenir Next" pitchFamily="34" charset="0"/>
                <a:ea typeface="Avenir Next" pitchFamily="34" charset="-122"/>
                <a:cs typeface="Avenir Next" pitchFamily="34" charset="-120"/>
              </a:rPr>
              <a:t>Signing in and permissions</a:t>
            </a:r>
            <a:endParaRPr lang="en-US" sz="4400" dirty="0"/>
          </a:p>
        </p:txBody>
      </p:sp>
      <p:sp>
        <p:nvSpPr>
          <p:cNvPr id="4" name="Text 2"/>
          <p:cNvSpPr txBox="1"/>
          <p:nvPr/>
        </p:nvSpPr>
        <p:spPr>
          <a:xfrm>
            <a:off x="731520" y="3794760"/>
            <a:ext cx="7863840" cy="822960"/>
          </a:xfrm>
          <a:prstGeom prst="rect">
            <a:avLst/>
          </a:prstGeom>
          <a:noFill/>
          <a:ln/>
        </p:spPr>
        <p:txBody>
          <a:bodyPr wrap="square" lIns="0" tIns="0" rIns="0" bIns="0" rtlCol="0" anchor="t"/>
          <a:lstStyle/>
          <a:p>
            <a:pPr indent="0" marL="0">
              <a:buNone/>
            </a:pPr>
            <a:r>
              <a:rPr lang="en-US" sz="2000" dirty="0">
                <a:solidFill>
                  <a:srgbClr val="D6E2EC"/>
                </a:solidFill>
                <a:latin typeface="Helvetica Neue" pitchFamily="34" charset="0"/>
                <a:ea typeface="Helvetica Neue" pitchFamily="34" charset="-122"/>
                <a:cs typeface="Helvetica Neue" pitchFamily="34" charset="-120"/>
              </a:rPr>
              <a:t>Hospital names, ways to sign in, and who may do what</a:t>
            </a:r>
            <a:endParaRPr lang="en-US" sz="2000" dirty="0"/>
          </a:p>
        </p:txBody>
      </p:sp>
      <p:sp>
        <p:nvSpPr>
          <p:cNvPr id="5" name="icon fingerprint"/>
          <p:cNvSpPr/>
          <p:nvPr/>
        </p:nvSpPr>
        <p:spPr>
          <a:xfrm>
            <a:off x="9144000" y="2148840"/>
            <a:ext cx="2103120" cy="2103120"/>
          </a:xfrm>
          <a:prstGeom prst="ellipse">
            <a:avLst/>
          </a:prstGeom>
          <a:solidFill>
            <a:srgbClr val="1F5F7A"/>
          </a:solidFill>
          <a:ln w="12700">
            <a:solidFill>
              <a:srgbClr val="1F5F7A"/>
            </a:solidFill>
            <a:prstDash val="solid"/>
          </a:ln>
        </p:spPr>
      </p:sp>
      <p:pic>
        <p:nvPicPr>
          <p:cNvPr id="6" name="Image 0" descr="fingerprint">    </p:cNvPr>
          <p:cNvPicPr>
            <a:picLocks noChangeAspect="1"/>
          </p:cNvPicPr>
          <p:nvPr/>
        </p:nvPicPr>
        <p:blipFill>
          <a:blip r:embed="rId1"/>
          <a:stretch>
            <a:fillRect/>
          </a:stretch>
        </p:blipFill>
        <p:spPr>
          <a:xfrm>
            <a:off x="9606686" y="2611526"/>
            <a:ext cx="1177747" cy="1177747"/>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BA"/>
                </a:solidFill>
                <a:latin typeface="Helvetica Neue"/>
                <a:ea typeface="Helvetica Neue"/>
                <a:cs typeface="Helvetica Neue"/>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0B2239"/>
                </a:solidFill>
                <a:latin typeface="Avenir Next" pitchFamily="34" charset="0"/>
                <a:ea typeface="Avenir Next" pitchFamily="34" charset="-122"/>
                <a:cs typeface="Avenir Next" pitchFamily="34" charset="-120"/>
              </a:rPr>
              <a:t>Sign in where you work: hospital names</a:t>
            </a:r>
            <a:endParaRPr lang="en-US" sz="3600" dirty="0"/>
          </a:p>
        </p:txBody>
      </p:sp>
      <p:sp>
        <p:nvSpPr>
          <p:cNvPr id="3" name="iPad 20-login-local"/>
          <p:cNvSpPr/>
          <p:nvPr/>
        </p:nvSpPr>
        <p:spPr>
          <a:xfrm>
            <a:off x="548640" y="1417320"/>
            <a:ext cx="5120640" cy="3930091"/>
          </a:xfrm>
          <a:prstGeom prst="roundRect">
            <a:avLst>
              <a:gd name="adj" fmla="val 8208"/>
            </a:avLst>
          </a:prstGeom>
          <a:solidFill>
            <a:srgbClr val="1C1C1E"/>
          </a:solidFill>
          <a:ln w="9525">
            <a:solidFill>
              <a:srgbClr val="3A3A3C"/>
            </a:solidFill>
            <a:prstDash val="solid"/>
          </a:ln>
          <a:effectLst>
            <a:outerShdw sx="100000" sy="100000" kx="0" ky="0" algn="bl" rotWithShape="0" blurRad="127000" dist="38100" dir="5400000">
              <a:srgbClr val="000000">
                <a:alpha val="22000"/>
              </a:srgbClr>
            </a:outerShdw>
          </a:effectLst>
        </p:spPr>
      </p:sp>
      <p:pic>
        <p:nvPicPr>
          <p:cNvPr id="4" name="Image 0" descr="Sign-in page with the hospital choices Hospital 1, Hospital 2 and Local">    </p:cNvPr>
          <p:cNvPicPr>
            <a:picLocks noChangeAspect="1"/>
          </p:cNvPicPr>
          <p:nvPr/>
        </p:nvPicPr>
        <p:blipFill>
          <a:blip r:embed="rId1"/>
          <a:stretch>
            <a:fillRect/>
          </a:stretch>
        </p:blipFill>
        <p:spPr>
          <a:xfrm>
            <a:off x="727862" y="1596542"/>
            <a:ext cx="4762195" cy="3571646"/>
          </a:xfrm>
          <a:prstGeom prst="rect">
            <a:avLst/>
          </a:prstGeom>
        </p:spPr>
      </p:pic>
      <p:sp>
        <p:nvSpPr>
          <p:cNvPr id="5" name="Shape 2"/>
          <p:cNvSpPr/>
          <p:nvPr/>
        </p:nvSpPr>
        <p:spPr>
          <a:xfrm>
            <a:off x="3081528" y="1479499"/>
            <a:ext cx="54864" cy="54864"/>
          </a:xfrm>
          <a:prstGeom prst="ellipse">
            <a:avLst/>
          </a:prstGeom>
          <a:solidFill>
            <a:srgbClr val="48484A"/>
          </a:solidFill>
          <a:ln w="12700">
            <a:solidFill>
              <a:srgbClr val="48484A"/>
            </a:solidFill>
            <a:prstDash val="solid"/>
          </a:ln>
        </p:spPr>
      </p:sp>
      <p:sp>
        <p:nvSpPr>
          <p:cNvPr id="6" name="Text 3"/>
          <p:cNvSpPr txBox="1"/>
          <p:nvPr/>
        </p:nvSpPr>
        <p:spPr>
          <a:xfrm>
            <a:off x="548640" y="5512003"/>
            <a:ext cx="5120640" cy="54864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The sign-in page: pick your hospital, then sign in the way that hospital uses.</a:t>
            </a:r>
            <a:endParaRPr lang="en-US" sz="1400" dirty="0"/>
          </a:p>
        </p:txBody>
      </p:sp>
      <p:sp>
        <p:nvSpPr>
          <p:cNvPr id="7" name="Text 4"/>
          <p:cNvSpPr txBox="1"/>
          <p:nvPr/>
        </p:nvSpPr>
        <p:spPr>
          <a:xfrm>
            <a:off x="6172200" y="1325880"/>
            <a:ext cx="1828800" cy="274320"/>
          </a:xfrm>
          <a:prstGeom prst="rect">
            <a:avLst/>
          </a:prstGeom>
          <a:noFill/>
          <a:ln/>
        </p:spPr>
        <p:txBody>
          <a:bodyPr wrap="square" lIns="0" tIns="0" rIns="0" bIns="0" rtlCol="0" anchor="t"/>
          <a:lstStyle/>
          <a:p>
            <a:pPr indent="0" marL="0">
              <a:buNone/>
            </a:pPr>
            <a:r>
              <a:rPr lang="en-US" sz="1200" b="1" dirty="0">
                <a:solidFill>
                  <a:srgbClr val="5B6B7A"/>
                </a:solidFill>
                <a:latin typeface="Helvetica Neue" pitchFamily="34" charset="0"/>
                <a:ea typeface="Helvetica Neue" pitchFamily="34" charset="-122"/>
                <a:cs typeface="Helvetica Neue" pitchFamily="34" charset="-120"/>
              </a:rPr>
              <a:t>Example</a:t>
            </a:r>
            <a:endParaRPr lang="en-US" sz="1200" dirty="0"/>
          </a:p>
        </p:txBody>
      </p:sp>
      <p:sp>
        <p:nvSpPr>
          <p:cNvPr id="8" name="Shape 5"/>
          <p:cNvSpPr/>
          <p:nvPr/>
        </p:nvSpPr>
        <p:spPr>
          <a:xfrm>
            <a:off x="6172200" y="1965960"/>
            <a:ext cx="1737360" cy="502920"/>
          </a:xfrm>
          <a:prstGeom prst="roundRect">
            <a:avLst>
              <a:gd name="adj" fmla="val 50000"/>
            </a:avLst>
          </a:prstGeom>
          <a:solidFill>
            <a:srgbClr val="F2A93B"/>
          </a:solidFill>
          <a:ln w="12700">
            <a:solidFill>
              <a:srgbClr val="F2A93B"/>
            </a:solidFill>
            <a:prstDash val="solid"/>
          </a:ln>
        </p:spPr>
      </p:sp>
      <p:sp>
        <p:nvSpPr>
          <p:cNvPr id="9" name="Text 6"/>
          <p:cNvSpPr txBox="1"/>
          <p:nvPr/>
        </p:nvSpPr>
        <p:spPr>
          <a:xfrm>
            <a:off x="6172200" y="1965960"/>
            <a:ext cx="1737360" cy="502920"/>
          </a:xfrm>
          <a:prstGeom prst="rect">
            <a:avLst/>
          </a:prstGeom>
          <a:noFill/>
          <a:ln/>
        </p:spPr>
        <p:txBody>
          <a:bodyPr wrap="square" lIns="0" tIns="0" rIns="0" bIns="0" rtlCol="0" anchor="ctr"/>
          <a:lstStyle/>
          <a:p>
            <a:pPr algn="ctr" indent="0" marL="0">
              <a:buNone/>
            </a:pPr>
            <a:r>
              <a:rPr lang="en-US" sz="1400" b="1" dirty="0">
                <a:solidFill>
                  <a:srgbClr val="0B2239"/>
                </a:solidFill>
                <a:latin typeface="Helvetica Neue" pitchFamily="34" charset="0"/>
                <a:ea typeface="Helvetica Neue" pitchFamily="34" charset="-122"/>
                <a:cs typeface="Helvetica Neue" pitchFamily="34" charset="-120"/>
              </a:rPr>
              <a:t>Hospital 1</a:t>
            </a:r>
            <a:endParaRPr lang="en-US" sz="1400" dirty="0"/>
          </a:p>
        </p:txBody>
      </p:sp>
      <p:sp>
        <p:nvSpPr>
          <p:cNvPr id="10" name="Shape 7"/>
          <p:cNvSpPr/>
          <p:nvPr/>
        </p:nvSpPr>
        <p:spPr>
          <a:xfrm flipV="1">
            <a:off x="7909560" y="1655064"/>
            <a:ext cx="365760" cy="562356"/>
          </a:xfrm>
          <a:prstGeom prst="line">
            <a:avLst/>
          </a:prstGeom>
          <a:noFill/>
          <a:ln w="22225">
            <a:solidFill>
              <a:srgbClr val="5B6B7A"/>
            </a:solidFill>
            <a:prstDash val="solid"/>
          </a:ln>
        </p:spPr>
      </p:sp>
      <p:sp>
        <p:nvSpPr>
          <p:cNvPr id="11" name="Hospital single sign-on (OAuth2)"/>
          <p:cNvSpPr/>
          <p:nvPr/>
        </p:nvSpPr>
        <p:spPr>
          <a:xfrm>
            <a:off x="8275320" y="1371600"/>
            <a:ext cx="3364992" cy="566928"/>
          </a:xfrm>
          <a:prstGeom prst="roundRect">
            <a:avLst>
              <a:gd name="adj" fmla="val 19355"/>
            </a:avLst>
          </a:prstGeom>
          <a:solidFill>
            <a:srgbClr val="EEF3F7"/>
          </a:solidFill>
          <a:ln w="12700">
            <a:solidFill>
              <a:srgbClr val="EEF3F7"/>
            </a:solidFill>
            <a:prstDash val="solid"/>
          </a:ln>
        </p:spPr>
      </p:sp>
      <p:sp>
        <p:nvSpPr>
          <p:cNvPr id="12" name="Text 9"/>
          <p:cNvSpPr txBox="1"/>
          <p:nvPr/>
        </p:nvSpPr>
        <p:spPr>
          <a:xfrm>
            <a:off x="8412480" y="1371600"/>
            <a:ext cx="3154680" cy="566928"/>
          </a:xfrm>
          <a:prstGeom prst="rect">
            <a:avLst/>
          </a:prstGeom>
          <a:noFill/>
          <a:ln/>
        </p:spPr>
        <p:txBody>
          <a:bodyPr wrap="square" lIns="0" tIns="0" rIns="0" bIns="0" rtlCol="0" anchor="ctr"/>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Hospital single sign-on (OAuth2)</a:t>
            </a:r>
            <a:endParaRPr lang="en-US" sz="1400" dirty="0"/>
          </a:p>
        </p:txBody>
      </p:sp>
      <p:sp>
        <p:nvSpPr>
          <p:cNvPr id="13" name="Shape 10"/>
          <p:cNvSpPr/>
          <p:nvPr/>
        </p:nvSpPr>
        <p:spPr>
          <a:xfrm>
            <a:off x="7909560" y="2217420"/>
            <a:ext cx="365760" cy="96012"/>
          </a:xfrm>
          <a:prstGeom prst="line">
            <a:avLst/>
          </a:prstGeom>
          <a:noFill/>
          <a:ln w="22225">
            <a:solidFill>
              <a:srgbClr val="5B6B7A"/>
            </a:solidFill>
            <a:prstDash val="solid"/>
          </a:ln>
        </p:spPr>
      </p:sp>
      <p:sp>
        <p:nvSpPr>
          <p:cNvPr id="14" name="Hospital directory (LDAP)"/>
          <p:cNvSpPr/>
          <p:nvPr/>
        </p:nvSpPr>
        <p:spPr>
          <a:xfrm>
            <a:off x="8275320" y="2029968"/>
            <a:ext cx="3364992" cy="566928"/>
          </a:xfrm>
          <a:prstGeom prst="roundRect">
            <a:avLst>
              <a:gd name="adj" fmla="val 19355"/>
            </a:avLst>
          </a:prstGeom>
          <a:solidFill>
            <a:srgbClr val="EEF3F7"/>
          </a:solidFill>
          <a:ln w="12700">
            <a:solidFill>
              <a:srgbClr val="EEF3F7"/>
            </a:solidFill>
            <a:prstDash val="solid"/>
          </a:ln>
        </p:spPr>
      </p:sp>
      <p:sp>
        <p:nvSpPr>
          <p:cNvPr id="15" name="Text 12"/>
          <p:cNvSpPr txBox="1"/>
          <p:nvPr/>
        </p:nvSpPr>
        <p:spPr>
          <a:xfrm>
            <a:off x="8412480" y="2029968"/>
            <a:ext cx="3154680" cy="566928"/>
          </a:xfrm>
          <a:prstGeom prst="rect">
            <a:avLst/>
          </a:prstGeom>
          <a:noFill/>
          <a:ln/>
        </p:spPr>
        <p:txBody>
          <a:bodyPr wrap="square" lIns="0" tIns="0" rIns="0" bIns="0" rtlCol="0" anchor="ctr"/>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Hospital directory (LDAP)</a:t>
            </a:r>
            <a:endParaRPr lang="en-US" sz="1400" dirty="0"/>
          </a:p>
        </p:txBody>
      </p:sp>
      <p:sp>
        <p:nvSpPr>
          <p:cNvPr id="16" name="Shape 13"/>
          <p:cNvSpPr/>
          <p:nvPr/>
        </p:nvSpPr>
        <p:spPr>
          <a:xfrm>
            <a:off x="7909560" y="2217420"/>
            <a:ext cx="365760" cy="754380"/>
          </a:xfrm>
          <a:prstGeom prst="line">
            <a:avLst/>
          </a:prstGeom>
          <a:noFill/>
          <a:ln w="22225">
            <a:solidFill>
              <a:srgbClr val="5B6B7A"/>
            </a:solidFill>
            <a:prstDash val="solid"/>
          </a:ln>
        </p:spPr>
      </p:sp>
      <p:sp>
        <p:nvSpPr>
          <p:cNvPr id="17" name="CLARA account (password)"/>
          <p:cNvSpPr/>
          <p:nvPr/>
        </p:nvSpPr>
        <p:spPr>
          <a:xfrm>
            <a:off x="8275320" y="2688336"/>
            <a:ext cx="3364992" cy="566928"/>
          </a:xfrm>
          <a:prstGeom prst="roundRect">
            <a:avLst>
              <a:gd name="adj" fmla="val 19355"/>
            </a:avLst>
          </a:prstGeom>
          <a:solidFill>
            <a:srgbClr val="EEF3F7"/>
          </a:solidFill>
          <a:ln w="12700">
            <a:solidFill>
              <a:srgbClr val="EEF3F7"/>
            </a:solidFill>
            <a:prstDash val="solid"/>
          </a:ln>
        </p:spPr>
      </p:sp>
      <p:sp>
        <p:nvSpPr>
          <p:cNvPr id="18" name="Text 15"/>
          <p:cNvSpPr txBox="1"/>
          <p:nvPr/>
        </p:nvSpPr>
        <p:spPr>
          <a:xfrm>
            <a:off x="8412480" y="2688336"/>
            <a:ext cx="3154680" cy="566928"/>
          </a:xfrm>
          <a:prstGeom prst="rect">
            <a:avLst/>
          </a:prstGeom>
          <a:noFill/>
          <a:ln/>
        </p:spPr>
        <p:txBody>
          <a:bodyPr wrap="square" lIns="0" tIns="0" rIns="0" bIns="0" rtlCol="0" anchor="ctr"/>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CLARA account (password)</a:t>
            </a:r>
            <a:endParaRPr lang="en-US" sz="1400" dirty="0"/>
          </a:p>
        </p:txBody>
      </p:sp>
      <p:sp>
        <p:nvSpPr>
          <p:cNvPr id="19" name="icon checks"/>
          <p:cNvSpPr/>
          <p:nvPr/>
        </p:nvSpPr>
        <p:spPr>
          <a:xfrm>
            <a:off x="6172200" y="3566160"/>
            <a:ext cx="347472" cy="347472"/>
          </a:xfrm>
          <a:prstGeom prst="ellipse">
            <a:avLst/>
          </a:prstGeom>
          <a:solidFill>
            <a:srgbClr val="1F5F7A"/>
          </a:solidFill>
          <a:ln w="12700">
            <a:solidFill>
              <a:srgbClr val="1F5F7A"/>
            </a:solidFill>
            <a:prstDash val="solid"/>
          </a:ln>
        </p:spPr>
      </p:sp>
      <p:pic>
        <p:nvPicPr>
          <p:cNvPr id="20" name="Image 1" descr="checks">    </p:cNvPr>
          <p:cNvPicPr>
            <a:picLocks noChangeAspect="1"/>
          </p:cNvPicPr>
          <p:nvPr/>
        </p:nvPicPr>
        <p:blipFill>
          <a:blip r:embed="rId2"/>
          <a:stretch>
            <a:fillRect/>
          </a:stretch>
        </p:blipFill>
        <p:spPr>
          <a:xfrm>
            <a:off x="6248644" y="3642604"/>
            <a:ext cx="194584" cy="194584"/>
          </a:xfrm>
          <a:prstGeom prst="rect">
            <a:avLst/>
          </a:prstGeom>
        </p:spPr>
      </p:pic>
      <p:sp>
        <p:nvSpPr>
          <p:cNvPr id="21" name="Text 17"/>
          <p:cNvSpPr txBox="1"/>
          <p:nvPr/>
        </p:nvSpPr>
        <p:spPr>
          <a:xfrm>
            <a:off x="6675120" y="3566160"/>
            <a:ext cx="4937760" cy="347472"/>
          </a:xfrm>
          <a:prstGeom prst="rect">
            <a:avLst/>
          </a:prstGeom>
          <a:noFill/>
          <a:ln/>
        </p:spPr>
        <p:txBody>
          <a:bodyPr wrap="square" lIns="0" tIns="0" rIns="0" bIns="0" rtlCol="0" anchor="ctr"/>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A name can stand for several sign-in services — they are tried at the same time, and the first success wins.</a:t>
            </a:r>
            <a:endParaRPr lang="en-US" sz="1400" dirty="0"/>
          </a:p>
        </p:txBody>
      </p:sp>
      <p:sp>
        <p:nvSpPr>
          <p:cNvPr id="22" name="icon checks"/>
          <p:cNvSpPr/>
          <p:nvPr/>
        </p:nvSpPr>
        <p:spPr>
          <a:xfrm>
            <a:off x="6172200" y="4251960"/>
            <a:ext cx="347472" cy="347472"/>
          </a:xfrm>
          <a:prstGeom prst="ellipse">
            <a:avLst/>
          </a:prstGeom>
          <a:solidFill>
            <a:srgbClr val="1F5F7A"/>
          </a:solidFill>
          <a:ln w="12700">
            <a:solidFill>
              <a:srgbClr val="1F5F7A"/>
            </a:solidFill>
            <a:prstDash val="solid"/>
          </a:ln>
        </p:spPr>
      </p:sp>
      <p:pic>
        <p:nvPicPr>
          <p:cNvPr id="23" name="Image 2" descr="checks">    </p:cNvPr>
          <p:cNvPicPr>
            <a:picLocks noChangeAspect="1"/>
          </p:cNvPicPr>
          <p:nvPr/>
        </p:nvPicPr>
        <p:blipFill>
          <a:blip r:embed="rId3"/>
          <a:stretch>
            <a:fillRect/>
          </a:stretch>
        </p:blipFill>
        <p:spPr>
          <a:xfrm>
            <a:off x="6248644" y="4328404"/>
            <a:ext cx="194584" cy="194584"/>
          </a:xfrm>
          <a:prstGeom prst="rect">
            <a:avLst/>
          </a:prstGeom>
        </p:spPr>
      </p:pic>
      <p:sp>
        <p:nvSpPr>
          <p:cNvPr id="24" name="Text 19"/>
          <p:cNvSpPr txBox="1"/>
          <p:nvPr/>
        </p:nvSpPr>
        <p:spPr>
          <a:xfrm>
            <a:off x="6675120" y="4251960"/>
            <a:ext cx="4937760" cy="347472"/>
          </a:xfrm>
          <a:prstGeom prst="rect">
            <a:avLst/>
          </a:prstGeom>
          <a:noFill/>
          <a:ln/>
        </p:spPr>
        <p:txBody>
          <a:bodyPr wrap="square" lIns="0" tIns="0" rIns="0" bIns="0" rtlCol="0" anchor="ctr"/>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One service can appear under several names.</a:t>
            </a:r>
            <a:endParaRPr lang="en-US" sz="1400" dirty="0"/>
          </a:p>
        </p:txBody>
      </p:sp>
      <p:sp>
        <p:nvSpPr>
          <p:cNvPr id="25" name="icon checks"/>
          <p:cNvSpPr/>
          <p:nvPr/>
        </p:nvSpPr>
        <p:spPr>
          <a:xfrm>
            <a:off x="6172200" y="4937760"/>
            <a:ext cx="347472" cy="347472"/>
          </a:xfrm>
          <a:prstGeom prst="ellipse">
            <a:avLst/>
          </a:prstGeom>
          <a:solidFill>
            <a:srgbClr val="1F5F7A"/>
          </a:solidFill>
          <a:ln w="12700">
            <a:solidFill>
              <a:srgbClr val="1F5F7A"/>
            </a:solidFill>
            <a:prstDash val="solid"/>
          </a:ln>
        </p:spPr>
      </p:sp>
      <p:pic>
        <p:nvPicPr>
          <p:cNvPr id="26" name="Image 3" descr="checks">    </p:cNvPr>
          <p:cNvPicPr>
            <a:picLocks noChangeAspect="1"/>
          </p:cNvPicPr>
          <p:nvPr/>
        </p:nvPicPr>
        <p:blipFill>
          <a:blip r:embed="rId4"/>
          <a:stretch>
            <a:fillRect/>
          </a:stretch>
        </p:blipFill>
        <p:spPr>
          <a:xfrm>
            <a:off x="6248644" y="5014204"/>
            <a:ext cx="194584" cy="194584"/>
          </a:xfrm>
          <a:prstGeom prst="rect">
            <a:avLst/>
          </a:prstGeom>
        </p:spPr>
      </p:pic>
      <p:sp>
        <p:nvSpPr>
          <p:cNvPr id="27" name="Text 21"/>
          <p:cNvSpPr txBox="1"/>
          <p:nvPr/>
        </p:nvSpPr>
        <p:spPr>
          <a:xfrm>
            <a:off x="6675120" y="4937760"/>
            <a:ext cx="4937760" cy="347472"/>
          </a:xfrm>
          <a:prstGeom prst="rect">
            <a:avLst/>
          </a:prstGeom>
          <a:noFill/>
          <a:ln/>
        </p:spPr>
        <p:txBody>
          <a:bodyPr wrap="square" lIns="0" tIns="0" rIns="0" bIns="0" rtlCol="0" anchor="ctr"/>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With only one name configured, the choice is skipped.</a:t>
            </a:r>
            <a:endParaRPr lang="en-US" sz="1400" dirty="0"/>
          </a:p>
        </p:txBody>
      </p:sp>
      <p:sp>
        <p:nvSpPr>
          <p:cNvPr id="28" name="icon checks"/>
          <p:cNvSpPr/>
          <p:nvPr/>
        </p:nvSpPr>
        <p:spPr>
          <a:xfrm>
            <a:off x="6172200" y="5623560"/>
            <a:ext cx="347472" cy="347472"/>
          </a:xfrm>
          <a:prstGeom prst="ellipse">
            <a:avLst/>
          </a:prstGeom>
          <a:solidFill>
            <a:srgbClr val="1F5F7A"/>
          </a:solidFill>
          <a:ln w="12700">
            <a:solidFill>
              <a:srgbClr val="1F5F7A"/>
            </a:solidFill>
            <a:prstDash val="solid"/>
          </a:ln>
        </p:spPr>
      </p:sp>
      <p:pic>
        <p:nvPicPr>
          <p:cNvPr id="29" name="Image 4" descr="checks">    </p:cNvPr>
          <p:cNvPicPr>
            <a:picLocks noChangeAspect="1"/>
          </p:cNvPicPr>
          <p:nvPr/>
        </p:nvPicPr>
        <p:blipFill>
          <a:blip r:embed="rId5"/>
          <a:stretch>
            <a:fillRect/>
          </a:stretch>
        </p:blipFill>
        <p:spPr>
          <a:xfrm>
            <a:off x="6248644" y="5700004"/>
            <a:ext cx="194584" cy="194584"/>
          </a:xfrm>
          <a:prstGeom prst="rect">
            <a:avLst/>
          </a:prstGeom>
        </p:spPr>
      </p:pic>
      <p:sp>
        <p:nvSpPr>
          <p:cNvPr id="30" name="Text 23"/>
          <p:cNvSpPr txBox="1"/>
          <p:nvPr/>
        </p:nvSpPr>
        <p:spPr>
          <a:xfrm>
            <a:off x="6675120" y="5623560"/>
            <a:ext cx="4937760" cy="347472"/>
          </a:xfrm>
          <a:prstGeom prst="rect">
            <a:avLst/>
          </a:prstGeom>
          <a:noFill/>
          <a:ln/>
        </p:spPr>
        <p:txBody>
          <a:bodyPr wrap="square" lIns="0" tIns="0" rIns="0" bIns="0" rtlCol="0" anchor="ctr"/>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Your e-mail address identifies you, whichever way you sign in.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Helvetica Neue"/>
                <a:ea typeface="Helvetica Neue"/>
                <a:cs typeface="Helvetica Neue"/>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0B2239"/>
                </a:solidFill>
                <a:latin typeface="Avenir Next" pitchFamily="34" charset="0"/>
                <a:ea typeface="Avenir Next" pitchFamily="34" charset="-122"/>
                <a:cs typeface="Avenir Next" pitchFamily="34" charset="-120"/>
              </a:rPr>
              <a:t>Ways to sign in — and what protects them</a:t>
            </a:r>
            <a:endParaRPr lang="en-US" sz="3600" dirty="0"/>
          </a:p>
        </p:txBody>
      </p:sp>
      <p:sp>
        <p:nvSpPr>
          <p:cNvPr id="3" name="Text 1"/>
          <p:cNvSpPr txBox="1"/>
          <p:nvPr/>
        </p:nvSpPr>
        <p:spPr>
          <a:xfrm>
            <a:off x="548640" y="1325880"/>
            <a:ext cx="5394960" cy="41148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Sign-in methods</a:t>
            </a:r>
            <a:endParaRPr lang="en-US" sz="1800" dirty="0"/>
          </a:p>
        </p:txBody>
      </p:sp>
      <p:sp>
        <p:nvSpPr>
          <p:cNvPr id="4" name="Hospital single sign-on"/>
          <p:cNvSpPr/>
          <p:nvPr/>
        </p:nvSpPr>
        <p:spPr>
          <a:xfrm>
            <a:off x="548640" y="1874520"/>
            <a:ext cx="5394960" cy="1234440"/>
          </a:xfrm>
          <a:prstGeom prst="roundRect">
            <a:avLst>
              <a:gd name="adj" fmla="val 8889"/>
            </a:avLst>
          </a:prstGeom>
          <a:solidFill>
            <a:srgbClr val="EEF3F7"/>
          </a:solidFill>
          <a:ln w="12700">
            <a:solidFill>
              <a:srgbClr val="EEF3F7"/>
            </a:solidFill>
            <a:prstDash val="solid"/>
          </a:ln>
        </p:spPr>
      </p:sp>
      <p:sp>
        <p:nvSpPr>
          <p:cNvPr id="5" name="icon login"/>
          <p:cNvSpPr/>
          <p:nvPr/>
        </p:nvSpPr>
        <p:spPr>
          <a:xfrm>
            <a:off x="731520" y="2057400"/>
            <a:ext cx="548640" cy="548640"/>
          </a:xfrm>
          <a:prstGeom prst="ellipse">
            <a:avLst/>
          </a:prstGeom>
          <a:solidFill>
            <a:srgbClr val="1F5F7A"/>
          </a:solidFill>
          <a:ln w="12700">
            <a:solidFill>
              <a:srgbClr val="1F5F7A"/>
            </a:solidFill>
            <a:prstDash val="solid"/>
          </a:ln>
        </p:spPr>
      </p:sp>
      <p:pic>
        <p:nvPicPr>
          <p:cNvPr id="6" name="Image 0" descr="login">    </p:cNvPr>
          <p:cNvPicPr>
            <a:picLocks noChangeAspect="1"/>
          </p:cNvPicPr>
          <p:nvPr/>
        </p:nvPicPr>
        <p:blipFill>
          <a:blip r:embed="rId1"/>
          <a:stretch>
            <a:fillRect/>
          </a:stretch>
        </p:blipFill>
        <p:spPr>
          <a:xfrm>
            <a:off x="852221" y="2178101"/>
            <a:ext cx="307238" cy="307238"/>
          </a:xfrm>
          <a:prstGeom prst="rect">
            <a:avLst/>
          </a:prstGeom>
        </p:spPr>
      </p:pic>
      <p:sp>
        <p:nvSpPr>
          <p:cNvPr id="7" name="Text 4"/>
          <p:cNvSpPr txBox="1"/>
          <p:nvPr/>
        </p:nvSpPr>
        <p:spPr>
          <a:xfrm>
            <a:off x="1463040" y="2011680"/>
            <a:ext cx="4343400" cy="347472"/>
          </a:xfrm>
          <a:prstGeom prst="rect">
            <a:avLst/>
          </a:prstGeom>
          <a:noFill/>
          <a:ln/>
        </p:spPr>
        <p:txBody>
          <a:bodyPr wrap="square" lIns="0" tIns="0" rIns="0" bIns="0" rtlCol="0" anchor="t"/>
          <a:lstStyle/>
          <a:p>
            <a:pPr indent="0" marL="0">
              <a:buNone/>
            </a:pPr>
            <a:r>
              <a:rPr lang="en-US" sz="1600" b="1" dirty="0">
                <a:solidFill>
                  <a:srgbClr val="0B2239"/>
                </a:solidFill>
                <a:latin typeface="Avenir Next" pitchFamily="34" charset="0"/>
                <a:ea typeface="Avenir Next" pitchFamily="34" charset="-122"/>
                <a:cs typeface="Avenir Next" pitchFamily="34" charset="-120"/>
              </a:rPr>
              <a:t>Hospital single sign-on</a:t>
            </a:r>
            <a:endParaRPr lang="en-US" sz="1600" dirty="0"/>
          </a:p>
        </p:txBody>
      </p:sp>
      <p:sp>
        <p:nvSpPr>
          <p:cNvPr id="8" name="Text 5"/>
          <p:cNvSpPr txBox="1"/>
          <p:nvPr/>
        </p:nvSpPr>
        <p:spPr>
          <a:xfrm>
            <a:off x="1463040" y="2359152"/>
            <a:ext cx="4343400" cy="68580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OAuth2 / OpenID Connect, several providers possible. The hospital's own login handles its second factor.</a:t>
            </a:r>
            <a:endParaRPr lang="en-US" sz="1400" dirty="0"/>
          </a:p>
        </p:txBody>
      </p:sp>
      <p:sp>
        <p:nvSpPr>
          <p:cNvPr id="9" name="Hospital directory"/>
          <p:cNvSpPr/>
          <p:nvPr/>
        </p:nvSpPr>
        <p:spPr>
          <a:xfrm>
            <a:off x="548640" y="3246120"/>
            <a:ext cx="5394960" cy="1234440"/>
          </a:xfrm>
          <a:prstGeom prst="roundRect">
            <a:avLst>
              <a:gd name="adj" fmla="val 8889"/>
            </a:avLst>
          </a:prstGeom>
          <a:solidFill>
            <a:srgbClr val="EEF3F7"/>
          </a:solidFill>
          <a:ln w="12700">
            <a:solidFill>
              <a:srgbClr val="EEF3F7"/>
            </a:solidFill>
            <a:prstDash val="solid"/>
          </a:ln>
        </p:spPr>
      </p:sp>
      <p:sp>
        <p:nvSpPr>
          <p:cNvPr id="10" name="icon server"/>
          <p:cNvSpPr/>
          <p:nvPr/>
        </p:nvSpPr>
        <p:spPr>
          <a:xfrm>
            <a:off x="731520" y="3429000"/>
            <a:ext cx="548640" cy="548640"/>
          </a:xfrm>
          <a:prstGeom prst="ellipse">
            <a:avLst/>
          </a:prstGeom>
          <a:solidFill>
            <a:srgbClr val="1F5F7A"/>
          </a:solidFill>
          <a:ln w="12700">
            <a:solidFill>
              <a:srgbClr val="1F5F7A"/>
            </a:solidFill>
            <a:prstDash val="solid"/>
          </a:ln>
        </p:spPr>
      </p:sp>
      <p:pic>
        <p:nvPicPr>
          <p:cNvPr id="11" name="Image 1" descr="server">    </p:cNvPr>
          <p:cNvPicPr>
            <a:picLocks noChangeAspect="1"/>
          </p:cNvPicPr>
          <p:nvPr/>
        </p:nvPicPr>
        <p:blipFill>
          <a:blip r:embed="rId2"/>
          <a:stretch>
            <a:fillRect/>
          </a:stretch>
        </p:blipFill>
        <p:spPr>
          <a:xfrm>
            <a:off x="852221" y="3549701"/>
            <a:ext cx="307238" cy="307238"/>
          </a:xfrm>
          <a:prstGeom prst="rect">
            <a:avLst/>
          </a:prstGeom>
        </p:spPr>
      </p:pic>
      <p:sp>
        <p:nvSpPr>
          <p:cNvPr id="12" name="Text 8"/>
          <p:cNvSpPr txBox="1"/>
          <p:nvPr/>
        </p:nvSpPr>
        <p:spPr>
          <a:xfrm>
            <a:off x="1463040" y="3383280"/>
            <a:ext cx="4343400" cy="347472"/>
          </a:xfrm>
          <a:prstGeom prst="rect">
            <a:avLst/>
          </a:prstGeom>
          <a:noFill/>
          <a:ln/>
        </p:spPr>
        <p:txBody>
          <a:bodyPr wrap="square" lIns="0" tIns="0" rIns="0" bIns="0" rtlCol="0" anchor="t"/>
          <a:lstStyle/>
          <a:p>
            <a:pPr indent="0" marL="0">
              <a:buNone/>
            </a:pPr>
            <a:r>
              <a:rPr lang="en-US" sz="1600" b="1" dirty="0">
                <a:solidFill>
                  <a:srgbClr val="0B2239"/>
                </a:solidFill>
                <a:latin typeface="Avenir Next" pitchFamily="34" charset="0"/>
                <a:ea typeface="Avenir Next" pitchFamily="34" charset="-122"/>
                <a:cs typeface="Avenir Next" pitchFamily="34" charset="-120"/>
              </a:rPr>
              <a:t>Hospital directory</a:t>
            </a:r>
            <a:endParaRPr lang="en-US" sz="1600" dirty="0"/>
          </a:p>
        </p:txBody>
      </p:sp>
      <p:sp>
        <p:nvSpPr>
          <p:cNvPr id="13" name="Text 9"/>
          <p:cNvSpPr txBox="1"/>
          <p:nvPr/>
        </p:nvSpPr>
        <p:spPr>
          <a:xfrm>
            <a:off x="1463040" y="3730752"/>
            <a:ext cx="4343400" cy="68580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LDAP or LDAPS — several directory servers, asked at the same time.</a:t>
            </a:r>
            <a:endParaRPr lang="en-US" sz="1400" dirty="0"/>
          </a:p>
        </p:txBody>
      </p:sp>
      <p:sp>
        <p:nvSpPr>
          <p:cNvPr id="14" name="CLARA accounts"/>
          <p:cNvSpPr/>
          <p:nvPr/>
        </p:nvSpPr>
        <p:spPr>
          <a:xfrm>
            <a:off x="548640" y="4617720"/>
            <a:ext cx="5394960" cy="1234440"/>
          </a:xfrm>
          <a:prstGeom prst="roundRect">
            <a:avLst>
              <a:gd name="adj" fmla="val 8889"/>
            </a:avLst>
          </a:prstGeom>
          <a:solidFill>
            <a:srgbClr val="EEF3F7"/>
          </a:solidFill>
          <a:ln w="12700">
            <a:solidFill>
              <a:srgbClr val="EEF3F7"/>
            </a:solidFill>
            <a:prstDash val="solid"/>
          </a:ln>
        </p:spPr>
      </p:sp>
      <p:sp>
        <p:nvSpPr>
          <p:cNvPr id="15" name="icon key"/>
          <p:cNvSpPr/>
          <p:nvPr/>
        </p:nvSpPr>
        <p:spPr>
          <a:xfrm>
            <a:off x="731520" y="4800600"/>
            <a:ext cx="548640" cy="548640"/>
          </a:xfrm>
          <a:prstGeom prst="ellipse">
            <a:avLst/>
          </a:prstGeom>
          <a:solidFill>
            <a:srgbClr val="1F5F7A"/>
          </a:solidFill>
          <a:ln w="12700">
            <a:solidFill>
              <a:srgbClr val="1F5F7A"/>
            </a:solidFill>
            <a:prstDash val="solid"/>
          </a:ln>
        </p:spPr>
      </p:sp>
      <p:pic>
        <p:nvPicPr>
          <p:cNvPr id="16" name="Image 2" descr="key">    </p:cNvPr>
          <p:cNvPicPr>
            <a:picLocks noChangeAspect="1"/>
          </p:cNvPicPr>
          <p:nvPr/>
        </p:nvPicPr>
        <p:blipFill>
          <a:blip r:embed="rId3"/>
          <a:stretch>
            <a:fillRect/>
          </a:stretch>
        </p:blipFill>
        <p:spPr>
          <a:xfrm>
            <a:off x="852221" y="4921301"/>
            <a:ext cx="307238" cy="307238"/>
          </a:xfrm>
          <a:prstGeom prst="rect">
            <a:avLst/>
          </a:prstGeom>
        </p:spPr>
      </p:pic>
      <p:sp>
        <p:nvSpPr>
          <p:cNvPr id="17" name="Text 12"/>
          <p:cNvSpPr txBox="1"/>
          <p:nvPr/>
        </p:nvSpPr>
        <p:spPr>
          <a:xfrm>
            <a:off x="1463040" y="4754880"/>
            <a:ext cx="4343400" cy="347472"/>
          </a:xfrm>
          <a:prstGeom prst="rect">
            <a:avLst/>
          </a:prstGeom>
          <a:noFill/>
          <a:ln/>
        </p:spPr>
        <p:txBody>
          <a:bodyPr wrap="square" lIns="0" tIns="0" rIns="0" bIns="0" rtlCol="0" anchor="t"/>
          <a:lstStyle/>
          <a:p>
            <a:pPr indent="0" marL="0">
              <a:buNone/>
            </a:pPr>
            <a:r>
              <a:rPr lang="en-US" sz="1600" b="1" dirty="0">
                <a:solidFill>
                  <a:srgbClr val="0B2239"/>
                </a:solidFill>
                <a:latin typeface="Avenir Next" pitchFamily="34" charset="0"/>
                <a:ea typeface="Avenir Next" pitchFamily="34" charset="-122"/>
                <a:cs typeface="Avenir Next" pitchFamily="34" charset="-120"/>
              </a:rPr>
              <a:t>CLARA accounts</a:t>
            </a:r>
            <a:endParaRPr lang="en-US" sz="1600" dirty="0"/>
          </a:p>
        </p:txBody>
      </p:sp>
      <p:sp>
        <p:nvSpPr>
          <p:cNvPr id="18" name="Text 13"/>
          <p:cNvSpPr txBox="1"/>
          <p:nvPr/>
        </p:nvSpPr>
        <p:spPr>
          <a:xfrm>
            <a:off x="1463040" y="5102352"/>
            <a:ext cx="4343400" cy="685800"/>
          </a:xfrm>
          <a:prstGeom prst="rect">
            <a:avLst/>
          </a:prstGeom>
          <a:noFill/>
          <a:ln/>
        </p:spPr>
        <p:txBody>
          <a:bodyPr wrap="square" lIns="0" tIns="0" rIns="0" bIns="0" rtlCol="0" anchor="t"/>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E-mail invitation, forgotten-password reset and password change; passwords are kept only as a one-way hash.</a:t>
            </a:r>
            <a:endParaRPr lang="en-US" sz="1400" dirty="0"/>
          </a:p>
        </p:txBody>
      </p:sp>
      <p:sp>
        <p:nvSpPr>
          <p:cNvPr id="19" name="Text 14"/>
          <p:cNvSpPr txBox="1"/>
          <p:nvPr/>
        </p:nvSpPr>
        <p:spPr>
          <a:xfrm>
            <a:off x="6245352" y="1325880"/>
            <a:ext cx="5394960" cy="411480"/>
          </a:xfrm>
          <a:prstGeom prst="rect">
            <a:avLst/>
          </a:prstGeom>
          <a:noFill/>
          <a:ln/>
        </p:spPr>
        <p:txBody>
          <a:bodyPr wrap="square" lIns="0" tIns="0" rIns="0" bIns="0" rtlCol="0" anchor="t"/>
          <a:lstStyle/>
          <a:p>
            <a:pPr indent="0" marL="0">
              <a:buNone/>
            </a:pPr>
            <a:r>
              <a:rPr lang="en-US" sz="1800" b="1" dirty="0">
                <a:solidFill>
                  <a:srgbClr val="0B2239"/>
                </a:solidFill>
                <a:latin typeface="Avenir Next" pitchFamily="34" charset="0"/>
                <a:ea typeface="Avenir Next" pitchFamily="34" charset="-122"/>
                <a:cs typeface="Avenir Next" pitchFamily="34" charset="-120"/>
              </a:rPr>
              <a:t>Protection</a:t>
            </a:r>
            <a:endParaRPr lang="en-US" sz="1800" dirty="0"/>
          </a:p>
        </p:txBody>
      </p:sp>
      <p:sp>
        <p:nvSpPr>
          <p:cNvPr id="20" name="icon device-mobile"/>
          <p:cNvSpPr/>
          <p:nvPr/>
        </p:nvSpPr>
        <p:spPr>
          <a:xfrm>
            <a:off x="6245352" y="1965960"/>
            <a:ext cx="457200" cy="457200"/>
          </a:xfrm>
          <a:prstGeom prst="ellipse">
            <a:avLst/>
          </a:prstGeom>
          <a:solidFill>
            <a:srgbClr val="0B2239"/>
          </a:solidFill>
          <a:ln w="12700">
            <a:solidFill>
              <a:srgbClr val="0B2239"/>
            </a:solidFill>
            <a:prstDash val="solid"/>
          </a:ln>
        </p:spPr>
      </p:sp>
      <p:pic>
        <p:nvPicPr>
          <p:cNvPr id="21" name="Image 3" descr="device mobile">    </p:cNvPr>
          <p:cNvPicPr>
            <a:picLocks noChangeAspect="1"/>
          </p:cNvPicPr>
          <p:nvPr/>
        </p:nvPicPr>
        <p:blipFill>
          <a:blip r:embed="rId4"/>
          <a:stretch>
            <a:fillRect/>
          </a:stretch>
        </p:blipFill>
        <p:spPr>
          <a:xfrm>
            <a:off x="6345936" y="2066544"/>
            <a:ext cx="256032" cy="256032"/>
          </a:xfrm>
          <a:prstGeom prst="rect">
            <a:avLst/>
          </a:prstGeom>
        </p:spPr>
      </p:pic>
      <p:sp>
        <p:nvSpPr>
          <p:cNvPr id="22" name="Text 16"/>
          <p:cNvSpPr txBox="1"/>
          <p:nvPr/>
        </p:nvSpPr>
        <p:spPr>
          <a:xfrm>
            <a:off x="6858000" y="1874520"/>
            <a:ext cx="4754880" cy="713232"/>
          </a:xfrm>
          <a:prstGeom prst="rect">
            <a:avLst/>
          </a:prstGeom>
          <a:noFill/>
          <a:ln/>
        </p:spPr>
        <p:txBody>
          <a:bodyPr wrap="square" lIns="0" tIns="0" rIns="0" bIns="0" rtlCol="0" anchor="ctr"/>
          <a:lstStyle/>
          <a:p>
            <a:pPr indent="0" marL="0">
              <a:buNone/>
            </a:pPr>
            <a:r>
              <a:rPr lang="en-US" sz="1400" b="1" dirty="0">
                <a:solidFill>
                  <a:srgbClr val="0B2239"/>
                </a:solidFill>
                <a:latin typeface="Helvetica Neue" pitchFamily="34" charset="0"/>
                <a:ea typeface="Helvetica Neue" pitchFamily="34" charset="-122"/>
                <a:cs typeface="Helvetica Neue" pitchFamily="34" charset="-120"/>
              </a:rPr>
              <a:t>Two-factor sign-in: </a:t>
            </a:r>
            <a:pPr indent="0" marL="0">
              <a:buNone/>
            </a:pPr>
            <a:r>
              <a:rPr lang="en-US" sz="1400" dirty="0">
                <a:solidFill>
                  <a:srgbClr val="1B2733"/>
                </a:solidFill>
                <a:latin typeface="Helvetica Neue" pitchFamily="34" charset="0"/>
                <a:ea typeface="Helvetica Neue" pitchFamily="34" charset="-122"/>
                <a:cs typeface="Helvetica Neue" pitchFamily="34" charset="-120"/>
              </a:rPr>
              <a:t>authenticator app or e-mail code, recovery codes; can be required for everyone.</a:t>
            </a:r>
            <a:endParaRPr lang="en-US" sz="1400" dirty="0"/>
          </a:p>
        </p:txBody>
      </p:sp>
      <p:sp>
        <p:nvSpPr>
          <p:cNvPr id="23" name="icon lock"/>
          <p:cNvSpPr/>
          <p:nvPr/>
        </p:nvSpPr>
        <p:spPr>
          <a:xfrm>
            <a:off x="6245352" y="2770632"/>
            <a:ext cx="457200" cy="457200"/>
          </a:xfrm>
          <a:prstGeom prst="ellipse">
            <a:avLst/>
          </a:prstGeom>
          <a:solidFill>
            <a:srgbClr val="0B2239"/>
          </a:solidFill>
          <a:ln w="12700">
            <a:solidFill>
              <a:srgbClr val="0B2239"/>
            </a:solidFill>
            <a:prstDash val="solid"/>
          </a:ln>
        </p:spPr>
      </p:sp>
      <p:pic>
        <p:nvPicPr>
          <p:cNvPr id="24" name="Image 4" descr="lock">    </p:cNvPr>
          <p:cNvPicPr>
            <a:picLocks noChangeAspect="1"/>
          </p:cNvPicPr>
          <p:nvPr/>
        </p:nvPicPr>
        <p:blipFill>
          <a:blip r:embed="rId5"/>
          <a:stretch>
            <a:fillRect/>
          </a:stretch>
        </p:blipFill>
        <p:spPr>
          <a:xfrm>
            <a:off x="6345936" y="2871216"/>
            <a:ext cx="256032" cy="256032"/>
          </a:xfrm>
          <a:prstGeom prst="rect">
            <a:avLst/>
          </a:prstGeom>
        </p:spPr>
      </p:pic>
      <p:sp>
        <p:nvSpPr>
          <p:cNvPr id="25" name="Text 18"/>
          <p:cNvSpPr txBox="1"/>
          <p:nvPr/>
        </p:nvSpPr>
        <p:spPr>
          <a:xfrm>
            <a:off x="6858000" y="2679192"/>
            <a:ext cx="4754880" cy="713232"/>
          </a:xfrm>
          <a:prstGeom prst="rect">
            <a:avLst/>
          </a:prstGeom>
          <a:noFill/>
          <a:ln/>
        </p:spPr>
        <p:txBody>
          <a:bodyPr wrap="square" lIns="0" tIns="0" rIns="0" bIns="0" rtlCol="0" anchor="ctr"/>
          <a:lstStyle/>
          <a:p>
            <a:pPr indent="0" marL="0">
              <a:buNone/>
            </a:pPr>
            <a:r>
              <a:rPr lang="en-US" sz="1400" b="1" dirty="0">
                <a:solidFill>
                  <a:srgbClr val="0B2239"/>
                </a:solidFill>
                <a:latin typeface="Helvetica Neue" pitchFamily="34" charset="0"/>
                <a:ea typeface="Helvetica Neue" pitchFamily="34" charset="-122"/>
                <a:cs typeface="Helvetica Neue" pitchFamily="34" charset="-120"/>
              </a:rPr>
              <a:t>Lockout: </a:t>
            </a:r>
            <a:pPr indent="0" marL="0">
              <a:buNone/>
            </a:pPr>
            <a:r>
              <a:rPr lang="en-US" sz="1400" dirty="0">
                <a:solidFill>
                  <a:srgbClr val="1B2733"/>
                </a:solidFill>
                <a:latin typeface="Helvetica Neue" pitchFamily="34" charset="0"/>
                <a:ea typeface="Helvetica Neue" pitchFamily="34" charset="-122"/>
                <a:cs typeface="Helvetica Neue" pitchFamily="34" charset="-120"/>
              </a:rPr>
              <a:t>5 failed attempts within 10 minutes pause that account for 15 minutes.</a:t>
            </a:r>
            <a:endParaRPr lang="en-US" sz="1400" dirty="0"/>
          </a:p>
        </p:txBody>
      </p:sp>
      <p:sp>
        <p:nvSpPr>
          <p:cNvPr id="26" name="icon user-off"/>
          <p:cNvSpPr/>
          <p:nvPr/>
        </p:nvSpPr>
        <p:spPr>
          <a:xfrm>
            <a:off x="6245352" y="3575304"/>
            <a:ext cx="457200" cy="457200"/>
          </a:xfrm>
          <a:prstGeom prst="ellipse">
            <a:avLst/>
          </a:prstGeom>
          <a:solidFill>
            <a:srgbClr val="0B2239"/>
          </a:solidFill>
          <a:ln w="12700">
            <a:solidFill>
              <a:srgbClr val="0B2239"/>
            </a:solidFill>
            <a:prstDash val="solid"/>
          </a:ln>
        </p:spPr>
      </p:sp>
      <p:pic>
        <p:nvPicPr>
          <p:cNvPr id="27" name="Image 5" descr="user off">    </p:cNvPr>
          <p:cNvPicPr>
            <a:picLocks noChangeAspect="1"/>
          </p:cNvPicPr>
          <p:nvPr/>
        </p:nvPicPr>
        <p:blipFill>
          <a:blip r:embed="rId6"/>
          <a:stretch>
            <a:fillRect/>
          </a:stretch>
        </p:blipFill>
        <p:spPr>
          <a:xfrm>
            <a:off x="6345936" y="3675888"/>
            <a:ext cx="256032" cy="256032"/>
          </a:xfrm>
          <a:prstGeom prst="rect">
            <a:avLst/>
          </a:prstGeom>
        </p:spPr>
      </p:pic>
      <p:sp>
        <p:nvSpPr>
          <p:cNvPr id="28" name="Text 20"/>
          <p:cNvSpPr txBox="1"/>
          <p:nvPr/>
        </p:nvSpPr>
        <p:spPr>
          <a:xfrm>
            <a:off x="6858000" y="3483864"/>
            <a:ext cx="4754880" cy="713232"/>
          </a:xfrm>
          <a:prstGeom prst="rect">
            <a:avLst/>
          </a:prstGeom>
          <a:noFill/>
          <a:ln/>
        </p:spPr>
        <p:txBody>
          <a:bodyPr wrap="square" lIns="0" tIns="0" rIns="0" bIns="0" rtlCol="0" anchor="ctr"/>
          <a:lstStyle/>
          <a:p>
            <a:pPr indent="0" marL="0">
              <a:buNone/>
            </a:pPr>
            <a:r>
              <a:rPr lang="en-US" sz="1400" b="1" dirty="0">
                <a:solidFill>
                  <a:srgbClr val="0B2239"/>
                </a:solidFill>
                <a:latin typeface="Helvetica Neue" pitchFamily="34" charset="0"/>
                <a:ea typeface="Helvetica Neue" pitchFamily="34" charset="-122"/>
                <a:cs typeface="Helvetica Neue" pitchFamily="34" charset="-120"/>
              </a:rPr>
              <a:t>Account limits: </a:t>
            </a:r>
            <a:pPr indent="0" marL="0">
              <a:buNone/>
            </a:pPr>
            <a:r>
              <a:rPr lang="en-US" sz="1400" dirty="0">
                <a:solidFill>
                  <a:srgbClr val="1B2733"/>
                </a:solidFill>
                <a:latin typeface="Helvetica Neue" pitchFamily="34" charset="0"/>
                <a:ea typeface="Helvetica Neue" pitchFamily="34" charset="-122"/>
                <a:cs typeface="Helvetica Neue" pitchFamily="34" charset="-120"/>
              </a:rPr>
              <a:t>an end date per account; disabled after 180 days without sign-in.</a:t>
            </a:r>
            <a:endParaRPr lang="en-US" sz="1400" dirty="0"/>
          </a:p>
        </p:txBody>
      </p:sp>
      <p:sp>
        <p:nvSpPr>
          <p:cNvPr id="29" name="icon clock-hour-4"/>
          <p:cNvSpPr/>
          <p:nvPr/>
        </p:nvSpPr>
        <p:spPr>
          <a:xfrm>
            <a:off x="6245352" y="4379976"/>
            <a:ext cx="457200" cy="457200"/>
          </a:xfrm>
          <a:prstGeom prst="ellipse">
            <a:avLst/>
          </a:prstGeom>
          <a:solidFill>
            <a:srgbClr val="0B2239"/>
          </a:solidFill>
          <a:ln w="12700">
            <a:solidFill>
              <a:srgbClr val="0B2239"/>
            </a:solidFill>
            <a:prstDash val="solid"/>
          </a:ln>
        </p:spPr>
      </p:sp>
      <p:pic>
        <p:nvPicPr>
          <p:cNvPr id="30" name="Image 6" descr="clock hour 4">    </p:cNvPr>
          <p:cNvPicPr>
            <a:picLocks noChangeAspect="1"/>
          </p:cNvPicPr>
          <p:nvPr/>
        </p:nvPicPr>
        <p:blipFill>
          <a:blip r:embed="rId7"/>
          <a:stretch>
            <a:fillRect/>
          </a:stretch>
        </p:blipFill>
        <p:spPr>
          <a:xfrm>
            <a:off x="6345936" y="4480560"/>
            <a:ext cx="256032" cy="256032"/>
          </a:xfrm>
          <a:prstGeom prst="rect">
            <a:avLst/>
          </a:prstGeom>
        </p:spPr>
      </p:pic>
      <p:sp>
        <p:nvSpPr>
          <p:cNvPr id="31" name="Text 22"/>
          <p:cNvSpPr txBox="1"/>
          <p:nvPr/>
        </p:nvSpPr>
        <p:spPr>
          <a:xfrm>
            <a:off x="6858000" y="4288536"/>
            <a:ext cx="4754880" cy="713232"/>
          </a:xfrm>
          <a:prstGeom prst="rect">
            <a:avLst/>
          </a:prstGeom>
          <a:noFill/>
          <a:ln/>
        </p:spPr>
        <p:txBody>
          <a:bodyPr wrap="square" lIns="0" tIns="0" rIns="0" bIns="0" rtlCol="0" anchor="ctr"/>
          <a:lstStyle/>
          <a:p>
            <a:pPr indent="0" marL="0">
              <a:buNone/>
            </a:pPr>
            <a:r>
              <a:rPr lang="en-US" sz="1400" b="1" dirty="0">
                <a:solidFill>
                  <a:srgbClr val="0B2239"/>
                </a:solidFill>
                <a:latin typeface="Helvetica Neue" pitchFamily="34" charset="0"/>
                <a:ea typeface="Helvetica Neue" pitchFamily="34" charset="-122"/>
                <a:cs typeface="Helvetica Neue" pitchFamily="34" charset="-120"/>
              </a:rPr>
              <a:t>Sessions: </a:t>
            </a:r>
            <a:pPr indent="0" marL="0">
              <a:buNone/>
            </a:pPr>
            <a:r>
              <a:rPr lang="en-US" sz="1400" dirty="0">
                <a:solidFill>
                  <a:srgbClr val="1B2733"/>
                </a:solidFill>
                <a:latin typeface="Helvetica Neue" pitchFamily="34" charset="0"/>
                <a:ea typeface="Helvetica Neue" pitchFamily="34" charset="-122"/>
                <a:cs typeface="Helvetica Neue" pitchFamily="34" charset="-120"/>
              </a:rPr>
              <a:t>end after 30 minutes idle, or 8 hours in total.</a:t>
            </a:r>
            <a:endParaRPr lang="en-US" sz="1400" dirty="0"/>
          </a:p>
        </p:txBody>
      </p:sp>
      <p:sp>
        <p:nvSpPr>
          <p:cNvPr id="32" name="icon history"/>
          <p:cNvSpPr/>
          <p:nvPr/>
        </p:nvSpPr>
        <p:spPr>
          <a:xfrm>
            <a:off x="6245352" y="5184648"/>
            <a:ext cx="457200" cy="457200"/>
          </a:xfrm>
          <a:prstGeom prst="ellipse">
            <a:avLst/>
          </a:prstGeom>
          <a:solidFill>
            <a:srgbClr val="0B2239"/>
          </a:solidFill>
          <a:ln w="12700">
            <a:solidFill>
              <a:srgbClr val="0B2239"/>
            </a:solidFill>
            <a:prstDash val="solid"/>
          </a:ln>
        </p:spPr>
      </p:sp>
      <p:pic>
        <p:nvPicPr>
          <p:cNvPr id="33" name="Image 7" descr="history">    </p:cNvPr>
          <p:cNvPicPr>
            <a:picLocks noChangeAspect="1"/>
          </p:cNvPicPr>
          <p:nvPr/>
        </p:nvPicPr>
        <p:blipFill>
          <a:blip r:embed="rId8"/>
          <a:stretch>
            <a:fillRect/>
          </a:stretch>
        </p:blipFill>
        <p:spPr>
          <a:xfrm>
            <a:off x="6345936" y="5285232"/>
            <a:ext cx="256032" cy="256032"/>
          </a:xfrm>
          <a:prstGeom prst="rect">
            <a:avLst/>
          </a:prstGeom>
        </p:spPr>
      </p:pic>
      <p:sp>
        <p:nvSpPr>
          <p:cNvPr id="34" name="Text 24"/>
          <p:cNvSpPr txBox="1"/>
          <p:nvPr/>
        </p:nvSpPr>
        <p:spPr>
          <a:xfrm>
            <a:off x="6858000" y="5093208"/>
            <a:ext cx="4754880" cy="713232"/>
          </a:xfrm>
          <a:prstGeom prst="rect">
            <a:avLst/>
          </a:prstGeom>
          <a:noFill/>
          <a:ln/>
        </p:spPr>
        <p:txBody>
          <a:bodyPr wrap="square" lIns="0" tIns="0" rIns="0" bIns="0" rtlCol="0" anchor="ctr"/>
          <a:lstStyle/>
          <a:p>
            <a:pPr indent="0" marL="0">
              <a:buNone/>
            </a:pPr>
            <a:r>
              <a:rPr lang="en-US" sz="1400" b="1" dirty="0">
                <a:solidFill>
                  <a:srgbClr val="0B2239"/>
                </a:solidFill>
                <a:latin typeface="Helvetica Neue" pitchFamily="34" charset="0"/>
                <a:ea typeface="Helvetica Neue" pitchFamily="34" charset="-122"/>
                <a:cs typeface="Helvetica Neue" pitchFamily="34" charset="-120"/>
              </a:rPr>
              <a:t>Logged: </a:t>
            </a:r>
            <a:pPr indent="0" marL="0">
              <a:buNone/>
            </a:pPr>
            <a:r>
              <a:rPr lang="en-US" sz="1400" dirty="0">
                <a:solidFill>
                  <a:srgbClr val="1B2733"/>
                </a:solidFill>
                <a:latin typeface="Helvetica Neue" pitchFamily="34" charset="0"/>
                <a:ea typeface="Helvetica Neue" pitchFamily="34" charset="-122"/>
                <a:cs typeface="Helvetica Neue" pitchFamily="34" charset="-120"/>
              </a:rPr>
              <a:t>every sign-in, failed attempt and sign-out.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Helvetica Neue"/>
                <a:ea typeface="Helvetica Neue"/>
                <a:cs typeface="Helvetica Neue"/>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rgbClr val="0B2239"/>
                </a:solidFill>
                <a:latin typeface="Avenir Next" pitchFamily="34" charset="0"/>
                <a:ea typeface="Avenir Next" pitchFamily="34" charset="-122"/>
                <a:cs typeface="Avenir Next" pitchFamily="34" charset="-120"/>
              </a:rPr>
              <a:t>Who may do what: roles and permissions</a:t>
            </a:r>
            <a:endParaRPr lang="en-US" sz="3600" dirty="0"/>
          </a:p>
        </p:txBody>
      </p:sp>
      <p:sp>
        <p:nvSpPr>
          <p:cNvPr id="3" name="Text 1"/>
          <p:cNvSpPr txBox="1"/>
          <p:nvPr/>
        </p:nvSpPr>
        <p:spPr>
          <a:xfrm>
            <a:off x="548640" y="1371600"/>
            <a:ext cx="5486400" cy="320040"/>
          </a:xfrm>
          <a:prstGeom prst="rect">
            <a:avLst/>
          </a:prstGeom>
          <a:noFill/>
          <a:ln/>
        </p:spPr>
        <p:txBody>
          <a:bodyPr wrap="square" lIns="0" tIns="0" rIns="0" bIns="0" rtlCol="0" anchor="t"/>
          <a:lstStyle/>
          <a:p>
            <a:pPr indent="0" marL="0">
              <a:buNone/>
            </a:pPr>
            <a:r>
              <a:rPr lang="en-US" sz="1400" b="1" dirty="0">
                <a:solidFill>
                  <a:srgbClr val="5B6B7A"/>
                </a:solidFill>
                <a:latin typeface="Helvetica Neue" pitchFamily="34" charset="0"/>
                <a:ea typeface="Helvetica Neue" pitchFamily="34" charset="-122"/>
                <a:cs typeface="Helvetica Neue" pitchFamily="34" charset="-120"/>
              </a:rPr>
              <a:t>Data access</a:t>
            </a:r>
            <a:endParaRPr lang="en-US" sz="1400" dirty="0"/>
          </a:p>
        </p:txBody>
      </p:sp>
      <p:sp>
        <p:nvSpPr>
          <p:cNvPr id="4" name="Shape 2"/>
          <p:cNvSpPr/>
          <p:nvPr/>
        </p:nvSpPr>
        <p:spPr>
          <a:xfrm>
            <a:off x="548640" y="1737360"/>
            <a:ext cx="1783080" cy="457200"/>
          </a:xfrm>
          <a:prstGeom prst="roundRect">
            <a:avLst>
              <a:gd name="adj" fmla="val 50000"/>
            </a:avLst>
          </a:prstGeom>
          <a:solidFill>
            <a:srgbClr val="D6E2EC"/>
          </a:solidFill>
          <a:ln w="12700">
            <a:solidFill>
              <a:srgbClr val="D6E2EC"/>
            </a:solidFill>
            <a:prstDash val="solid"/>
          </a:ln>
        </p:spPr>
      </p:sp>
      <p:sp>
        <p:nvSpPr>
          <p:cNvPr id="5" name="Text 3"/>
          <p:cNvSpPr txBox="1"/>
          <p:nvPr/>
        </p:nvSpPr>
        <p:spPr>
          <a:xfrm>
            <a:off x="548640" y="1737360"/>
            <a:ext cx="1783080" cy="457200"/>
          </a:xfrm>
          <a:prstGeom prst="rect">
            <a:avLst/>
          </a:prstGeom>
          <a:noFill/>
          <a:ln/>
        </p:spPr>
        <p:txBody>
          <a:bodyPr wrap="square" lIns="0" tIns="0" rIns="0" bIns="0" rtlCol="0" anchor="ctr"/>
          <a:lstStyle/>
          <a:p>
            <a:pPr algn="ctr" indent="0" marL="0">
              <a:buNone/>
            </a:pPr>
            <a:r>
              <a:rPr lang="en-US" sz="1400" b="1" dirty="0">
                <a:solidFill>
                  <a:srgbClr val="0B2239"/>
                </a:solidFill>
                <a:latin typeface="Helvetica Neue" pitchFamily="34" charset="0"/>
                <a:ea typeface="Helvetica Neue" pitchFamily="34" charset="-122"/>
                <a:cs typeface="Helvetica Neue" pitchFamily="34" charset="-120"/>
              </a:rPr>
              <a:t>No access</a:t>
            </a:r>
            <a:endParaRPr lang="en-US" sz="1400" dirty="0"/>
          </a:p>
        </p:txBody>
      </p:sp>
      <p:sp>
        <p:nvSpPr>
          <p:cNvPr id="6" name="Shape 4"/>
          <p:cNvSpPr/>
          <p:nvPr/>
        </p:nvSpPr>
        <p:spPr>
          <a:xfrm>
            <a:off x="2468880" y="1737360"/>
            <a:ext cx="1783080" cy="457200"/>
          </a:xfrm>
          <a:prstGeom prst="roundRect">
            <a:avLst>
              <a:gd name="adj" fmla="val 50000"/>
            </a:avLst>
          </a:prstGeom>
          <a:solidFill>
            <a:srgbClr val="A9C4D3"/>
          </a:solidFill>
          <a:ln w="12700">
            <a:solidFill>
              <a:srgbClr val="A9C4D3"/>
            </a:solidFill>
            <a:prstDash val="solid"/>
          </a:ln>
        </p:spPr>
      </p:sp>
      <p:sp>
        <p:nvSpPr>
          <p:cNvPr id="7" name="Text 5"/>
          <p:cNvSpPr txBox="1"/>
          <p:nvPr/>
        </p:nvSpPr>
        <p:spPr>
          <a:xfrm>
            <a:off x="2468880" y="1737360"/>
            <a:ext cx="1783080" cy="457200"/>
          </a:xfrm>
          <a:prstGeom prst="rect">
            <a:avLst/>
          </a:prstGeom>
          <a:noFill/>
          <a:ln/>
        </p:spPr>
        <p:txBody>
          <a:bodyPr wrap="square" lIns="0" tIns="0" rIns="0" bIns="0" rtlCol="0" anchor="ctr"/>
          <a:lstStyle/>
          <a:p>
            <a:pPr algn="ctr" indent="0" marL="0">
              <a:buNone/>
            </a:pPr>
            <a:r>
              <a:rPr lang="en-US" sz="1400" b="1" dirty="0">
                <a:solidFill>
                  <a:srgbClr val="0B2239"/>
                </a:solidFill>
                <a:latin typeface="Helvetica Neue" pitchFamily="34" charset="0"/>
                <a:ea typeface="Helvetica Neue" pitchFamily="34" charset="-122"/>
                <a:cs typeface="Helvetica Neue" pitchFamily="34" charset="-120"/>
              </a:rPr>
              <a:t>Read only</a:t>
            </a:r>
            <a:endParaRPr lang="en-US" sz="1400" dirty="0"/>
          </a:p>
        </p:txBody>
      </p:sp>
      <p:sp>
        <p:nvSpPr>
          <p:cNvPr id="8" name="Shape 6"/>
          <p:cNvSpPr/>
          <p:nvPr/>
        </p:nvSpPr>
        <p:spPr>
          <a:xfrm>
            <a:off x="4389120" y="1737360"/>
            <a:ext cx="1783080" cy="457200"/>
          </a:xfrm>
          <a:prstGeom prst="roundRect">
            <a:avLst>
              <a:gd name="adj" fmla="val 50000"/>
            </a:avLst>
          </a:prstGeom>
          <a:solidFill>
            <a:srgbClr val="0B2239"/>
          </a:solidFill>
          <a:ln w="12700">
            <a:solidFill>
              <a:srgbClr val="0B2239"/>
            </a:solidFill>
            <a:prstDash val="solid"/>
          </a:ln>
        </p:spPr>
      </p:sp>
      <p:sp>
        <p:nvSpPr>
          <p:cNvPr id="9" name="Text 7"/>
          <p:cNvSpPr txBox="1"/>
          <p:nvPr/>
        </p:nvSpPr>
        <p:spPr>
          <a:xfrm>
            <a:off x="4389120" y="1737360"/>
            <a:ext cx="17830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View &amp; edit</a:t>
            </a:r>
            <a:endParaRPr lang="en-US" sz="1400" dirty="0"/>
          </a:p>
        </p:txBody>
      </p:sp>
      <p:sp>
        <p:nvSpPr>
          <p:cNvPr id="10" name="Text 8"/>
          <p:cNvSpPr txBox="1"/>
          <p:nvPr/>
        </p:nvSpPr>
        <p:spPr>
          <a:xfrm>
            <a:off x="548640" y="2423160"/>
            <a:ext cx="5486400" cy="320040"/>
          </a:xfrm>
          <a:prstGeom prst="rect">
            <a:avLst/>
          </a:prstGeom>
          <a:noFill/>
          <a:ln/>
        </p:spPr>
        <p:txBody>
          <a:bodyPr wrap="square" lIns="0" tIns="0" rIns="0" bIns="0" rtlCol="0" anchor="t"/>
          <a:lstStyle/>
          <a:p>
            <a:pPr indent="0" marL="0">
              <a:buNone/>
            </a:pPr>
            <a:r>
              <a:rPr lang="en-US" sz="1400" b="1" dirty="0">
                <a:solidFill>
                  <a:srgbClr val="5B6B7A"/>
                </a:solidFill>
                <a:latin typeface="Helvetica Neue" pitchFamily="34" charset="0"/>
                <a:ea typeface="Helvetica Neue" pitchFamily="34" charset="-122"/>
                <a:cs typeface="Helvetica Neue" pitchFamily="34" charset="-120"/>
              </a:rPr>
              <a:t>Export</a:t>
            </a:r>
            <a:endParaRPr lang="en-US" sz="1400" dirty="0"/>
          </a:p>
        </p:txBody>
      </p:sp>
      <p:sp>
        <p:nvSpPr>
          <p:cNvPr id="11" name="Shape 9"/>
          <p:cNvSpPr/>
          <p:nvPr/>
        </p:nvSpPr>
        <p:spPr>
          <a:xfrm>
            <a:off x="548640" y="2788920"/>
            <a:ext cx="1325880" cy="457200"/>
          </a:xfrm>
          <a:prstGeom prst="roundRect">
            <a:avLst>
              <a:gd name="adj" fmla="val 50000"/>
            </a:avLst>
          </a:prstGeom>
          <a:solidFill>
            <a:srgbClr val="D6E2EC"/>
          </a:solidFill>
          <a:ln w="12700">
            <a:solidFill>
              <a:srgbClr val="D6E2EC"/>
            </a:solidFill>
            <a:prstDash val="solid"/>
          </a:ln>
        </p:spPr>
      </p:sp>
      <p:sp>
        <p:nvSpPr>
          <p:cNvPr id="12" name="Text 10"/>
          <p:cNvSpPr txBox="1"/>
          <p:nvPr/>
        </p:nvSpPr>
        <p:spPr>
          <a:xfrm>
            <a:off x="548640" y="2788920"/>
            <a:ext cx="1325880" cy="457200"/>
          </a:xfrm>
          <a:prstGeom prst="rect">
            <a:avLst/>
          </a:prstGeom>
          <a:noFill/>
          <a:ln/>
        </p:spPr>
        <p:txBody>
          <a:bodyPr wrap="square" lIns="0" tIns="0" rIns="0" bIns="0" rtlCol="0" anchor="ctr"/>
          <a:lstStyle/>
          <a:p>
            <a:pPr algn="ctr" indent="0" marL="0">
              <a:buNone/>
            </a:pPr>
            <a:r>
              <a:rPr lang="en-US" sz="1400" b="1" dirty="0">
                <a:solidFill>
                  <a:srgbClr val="0B2239"/>
                </a:solidFill>
                <a:latin typeface="Helvetica Neue" pitchFamily="34" charset="0"/>
                <a:ea typeface="Helvetica Neue" pitchFamily="34" charset="-122"/>
                <a:cs typeface="Helvetica Neue" pitchFamily="34" charset="-120"/>
              </a:rPr>
              <a:t>None</a:t>
            </a:r>
            <a:endParaRPr lang="en-US" sz="1400" dirty="0"/>
          </a:p>
        </p:txBody>
      </p:sp>
      <p:sp>
        <p:nvSpPr>
          <p:cNvPr id="13" name="Shape 11"/>
          <p:cNvSpPr/>
          <p:nvPr/>
        </p:nvSpPr>
        <p:spPr>
          <a:xfrm>
            <a:off x="1993392" y="2788920"/>
            <a:ext cx="1325880" cy="457200"/>
          </a:xfrm>
          <a:prstGeom prst="roundRect">
            <a:avLst>
              <a:gd name="adj" fmla="val 50000"/>
            </a:avLst>
          </a:prstGeom>
          <a:solidFill>
            <a:srgbClr val="A9C4D3"/>
          </a:solidFill>
          <a:ln w="12700">
            <a:solidFill>
              <a:srgbClr val="A9C4D3"/>
            </a:solidFill>
            <a:prstDash val="solid"/>
          </a:ln>
        </p:spPr>
      </p:sp>
      <p:sp>
        <p:nvSpPr>
          <p:cNvPr id="14" name="Text 12"/>
          <p:cNvSpPr txBox="1"/>
          <p:nvPr/>
        </p:nvSpPr>
        <p:spPr>
          <a:xfrm>
            <a:off x="1993392" y="2788920"/>
            <a:ext cx="1325880" cy="457200"/>
          </a:xfrm>
          <a:prstGeom prst="rect">
            <a:avLst/>
          </a:prstGeom>
          <a:noFill/>
          <a:ln/>
        </p:spPr>
        <p:txBody>
          <a:bodyPr wrap="square" lIns="0" tIns="0" rIns="0" bIns="0" rtlCol="0" anchor="ctr"/>
          <a:lstStyle/>
          <a:p>
            <a:pPr algn="ctr" indent="0" marL="0">
              <a:buNone/>
            </a:pPr>
            <a:r>
              <a:rPr lang="en-US" sz="1400" b="1" dirty="0">
                <a:solidFill>
                  <a:srgbClr val="0B2239"/>
                </a:solidFill>
                <a:latin typeface="Helvetica Neue" pitchFamily="34" charset="0"/>
                <a:ea typeface="Helvetica Neue" pitchFamily="34" charset="-122"/>
                <a:cs typeface="Helvetica Neue" pitchFamily="34" charset="-120"/>
              </a:rPr>
              <a:t>De-identified</a:t>
            </a:r>
            <a:endParaRPr lang="en-US" sz="1400" dirty="0"/>
          </a:p>
        </p:txBody>
      </p:sp>
      <p:sp>
        <p:nvSpPr>
          <p:cNvPr id="15" name="Shape 13"/>
          <p:cNvSpPr/>
          <p:nvPr/>
        </p:nvSpPr>
        <p:spPr>
          <a:xfrm>
            <a:off x="3438144" y="2788920"/>
            <a:ext cx="1325880" cy="457200"/>
          </a:xfrm>
          <a:prstGeom prst="roundRect">
            <a:avLst>
              <a:gd name="adj" fmla="val 50000"/>
            </a:avLst>
          </a:prstGeom>
          <a:solidFill>
            <a:srgbClr val="1F5F7A"/>
          </a:solidFill>
          <a:ln w="12700">
            <a:solidFill>
              <a:srgbClr val="1F5F7A"/>
            </a:solidFill>
            <a:prstDash val="solid"/>
          </a:ln>
        </p:spPr>
      </p:sp>
      <p:sp>
        <p:nvSpPr>
          <p:cNvPr id="16" name="Text 14"/>
          <p:cNvSpPr txBox="1"/>
          <p:nvPr/>
        </p:nvSpPr>
        <p:spPr>
          <a:xfrm>
            <a:off x="3438144" y="2788920"/>
            <a:ext cx="13258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No identifiers</a:t>
            </a:r>
            <a:endParaRPr lang="en-US" sz="1400" dirty="0"/>
          </a:p>
        </p:txBody>
      </p:sp>
      <p:sp>
        <p:nvSpPr>
          <p:cNvPr id="17" name="Shape 15"/>
          <p:cNvSpPr/>
          <p:nvPr/>
        </p:nvSpPr>
        <p:spPr>
          <a:xfrm>
            <a:off x="4882896" y="2788920"/>
            <a:ext cx="1325880" cy="457200"/>
          </a:xfrm>
          <a:prstGeom prst="roundRect">
            <a:avLst>
              <a:gd name="adj" fmla="val 50000"/>
            </a:avLst>
          </a:prstGeom>
          <a:solidFill>
            <a:srgbClr val="0B2239"/>
          </a:solidFill>
          <a:ln w="12700">
            <a:solidFill>
              <a:srgbClr val="0B2239"/>
            </a:solidFill>
            <a:prstDash val="solid"/>
          </a:ln>
        </p:spPr>
      </p:sp>
      <p:sp>
        <p:nvSpPr>
          <p:cNvPr id="18" name="Text 16"/>
          <p:cNvSpPr txBox="1"/>
          <p:nvPr/>
        </p:nvSpPr>
        <p:spPr>
          <a:xfrm>
            <a:off x="4882896" y="2788920"/>
            <a:ext cx="13258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Full</a:t>
            </a:r>
            <a:endParaRPr lang="en-US" sz="1400" dirty="0"/>
          </a:p>
        </p:txBody>
      </p:sp>
      <p:sp>
        <p:nvSpPr>
          <p:cNvPr id="19" name="icon hierarchy-2"/>
          <p:cNvSpPr/>
          <p:nvPr/>
        </p:nvSpPr>
        <p:spPr>
          <a:xfrm>
            <a:off x="548640" y="3721608"/>
            <a:ext cx="457200" cy="457200"/>
          </a:xfrm>
          <a:prstGeom prst="ellipse">
            <a:avLst/>
          </a:prstGeom>
          <a:solidFill>
            <a:srgbClr val="1F5F7A"/>
          </a:solidFill>
          <a:ln w="12700">
            <a:solidFill>
              <a:srgbClr val="1F5F7A"/>
            </a:solidFill>
            <a:prstDash val="solid"/>
          </a:ln>
        </p:spPr>
      </p:sp>
      <p:pic>
        <p:nvPicPr>
          <p:cNvPr id="20" name="Image 0" descr="hierarchy 2">    </p:cNvPr>
          <p:cNvPicPr>
            <a:picLocks noChangeAspect="1"/>
          </p:cNvPicPr>
          <p:nvPr/>
        </p:nvPicPr>
        <p:blipFill>
          <a:blip r:embed="rId1"/>
          <a:stretch>
            <a:fillRect/>
          </a:stretch>
        </p:blipFill>
        <p:spPr>
          <a:xfrm>
            <a:off x="649224" y="3822192"/>
            <a:ext cx="256032" cy="256032"/>
          </a:xfrm>
          <a:prstGeom prst="rect">
            <a:avLst/>
          </a:prstGeom>
        </p:spPr>
      </p:pic>
      <p:sp>
        <p:nvSpPr>
          <p:cNvPr id="21" name="Text 18"/>
          <p:cNvSpPr txBox="1"/>
          <p:nvPr/>
        </p:nvSpPr>
        <p:spPr>
          <a:xfrm>
            <a:off x="1188720" y="3657600"/>
            <a:ext cx="4937760" cy="594360"/>
          </a:xfrm>
          <a:prstGeom prst="rect">
            <a:avLst/>
          </a:prstGeom>
          <a:noFill/>
          <a:ln/>
        </p:spPr>
        <p:txBody>
          <a:bodyPr wrap="square" lIns="0" tIns="0" rIns="0" bIns="0" rtlCol="0" anchor="ctr"/>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Set per form and visit for each role — roles are defined per project.</a:t>
            </a:r>
            <a:endParaRPr lang="en-US" sz="1400" dirty="0"/>
          </a:p>
        </p:txBody>
      </p:sp>
      <p:sp>
        <p:nvSpPr>
          <p:cNvPr id="22" name="icon user-shield"/>
          <p:cNvSpPr/>
          <p:nvPr/>
        </p:nvSpPr>
        <p:spPr>
          <a:xfrm>
            <a:off x="548640" y="4498848"/>
            <a:ext cx="457200" cy="457200"/>
          </a:xfrm>
          <a:prstGeom prst="ellipse">
            <a:avLst/>
          </a:prstGeom>
          <a:solidFill>
            <a:srgbClr val="1F5F7A"/>
          </a:solidFill>
          <a:ln w="12700">
            <a:solidFill>
              <a:srgbClr val="1F5F7A"/>
            </a:solidFill>
            <a:prstDash val="solid"/>
          </a:ln>
        </p:spPr>
      </p:sp>
      <p:pic>
        <p:nvPicPr>
          <p:cNvPr id="23" name="Image 1" descr="user shield">    </p:cNvPr>
          <p:cNvPicPr>
            <a:picLocks noChangeAspect="1"/>
          </p:cNvPicPr>
          <p:nvPr/>
        </p:nvPicPr>
        <p:blipFill>
          <a:blip r:embed="rId2"/>
          <a:stretch>
            <a:fillRect/>
          </a:stretch>
        </p:blipFill>
        <p:spPr>
          <a:xfrm>
            <a:off x="649224" y="4599432"/>
            <a:ext cx="256032" cy="256032"/>
          </a:xfrm>
          <a:prstGeom prst="rect">
            <a:avLst/>
          </a:prstGeom>
        </p:spPr>
      </p:pic>
      <p:sp>
        <p:nvSpPr>
          <p:cNvPr id="24" name="Text 20"/>
          <p:cNvSpPr txBox="1"/>
          <p:nvPr/>
        </p:nvSpPr>
        <p:spPr>
          <a:xfrm>
            <a:off x="1188720" y="4434840"/>
            <a:ext cx="4937760" cy="594360"/>
          </a:xfrm>
          <a:prstGeom prst="rect">
            <a:avLst/>
          </a:prstGeom>
          <a:noFill/>
          <a:ln/>
        </p:spPr>
        <p:txBody>
          <a:bodyPr wrap="square" lIns="0" tIns="0" rIns="0" bIns="0" rtlCol="0" anchor="ctr"/>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Project administrators change the setup; system administrators see every project.</a:t>
            </a:r>
            <a:endParaRPr lang="en-US" sz="1400" dirty="0"/>
          </a:p>
        </p:txBody>
      </p:sp>
      <p:sp>
        <p:nvSpPr>
          <p:cNvPr id="25" name="icon building-community"/>
          <p:cNvSpPr/>
          <p:nvPr/>
        </p:nvSpPr>
        <p:spPr>
          <a:xfrm>
            <a:off x="548640" y="5276088"/>
            <a:ext cx="457200" cy="457200"/>
          </a:xfrm>
          <a:prstGeom prst="ellipse">
            <a:avLst/>
          </a:prstGeom>
          <a:solidFill>
            <a:srgbClr val="1F5F7A"/>
          </a:solidFill>
          <a:ln w="12700">
            <a:solidFill>
              <a:srgbClr val="1F5F7A"/>
            </a:solidFill>
            <a:prstDash val="solid"/>
          </a:ln>
        </p:spPr>
      </p:sp>
      <p:pic>
        <p:nvPicPr>
          <p:cNvPr id="26" name="Image 2" descr="building community">    </p:cNvPr>
          <p:cNvPicPr>
            <a:picLocks noChangeAspect="1"/>
          </p:cNvPicPr>
          <p:nvPr/>
        </p:nvPicPr>
        <p:blipFill>
          <a:blip r:embed="rId3"/>
          <a:stretch>
            <a:fillRect/>
          </a:stretch>
        </p:blipFill>
        <p:spPr>
          <a:xfrm>
            <a:off x="649224" y="5376672"/>
            <a:ext cx="256032" cy="256032"/>
          </a:xfrm>
          <a:prstGeom prst="rect">
            <a:avLst/>
          </a:prstGeom>
        </p:spPr>
      </p:pic>
      <p:sp>
        <p:nvSpPr>
          <p:cNvPr id="27" name="Text 22"/>
          <p:cNvSpPr txBox="1"/>
          <p:nvPr/>
        </p:nvSpPr>
        <p:spPr>
          <a:xfrm>
            <a:off x="1188720" y="5212080"/>
            <a:ext cx="4937760" cy="594360"/>
          </a:xfrm>
          <a:prstGeom prst="rect">
            <a:avLst/>
          </a:prstGeom>
          <a:noFill/>
          <a:ln/>
        </p:spPr>
        <p:txBody>
          <a:bodyPr wrap="square" lIns="0" tIns="0" rIns="0" bIns="0" rtlCol="0" anchor="ctr"/>
          <a:lstStyle/>
          <a:p>
            <a:pPr indent="0" marL="0">
              <a:buNone/>
            </a:pPr>
            <a:r>
              <a:rPr lang="en-US" sz="1400" dirty="0">
                <a:solidFill>
                  <a:srgbClr val="1B2733"/>
                </a:solidFill>
                <a:latin typeface="Helvetica Neue" pitchFamily="34" charset="0"/>
                <a:ea typeface="Helvetica Neue" pitchFamily="34" charset="-122"/>
                <a:cs typeface="Helvetica Neue" pitchFamily="34" charset="-120"/>
              </a:rPr>
              <a:t>Data access groups keep each site's records apart in a shared project.</a:t>
            </a:r>
            <a:endParaRPr lang="en-US" sz="1400" dirty="0"/>
          </a:p>
        </p:txBody>
      </p:sp>
      <p:sp>
        <p:nvSpPr>
          <p:cNvPr id="28" name="iPad 16-roles"/>
          <p:cNvSpPr/>
          <p:nvPr/>
        </p:nvSpPr>
        <p:spPr>
          <a:xfrm>
            <a:off x="6519672" y="1417320"/>
            <a:ext cx="5120640" cy="3930091"/>
          </a:xfrm>
          <a:prstGeom prst="roundRect">
            <a:avLst>
              <a:gd name="adj" fmla="val 8208"/>
            </a:avLst>
          </a:prstGeom>
          <a:solidFill>
            <a:srgbClr val="1C1C1E"/>
          </a:solidFill>
          <a:ln w="9525">
            <a:solidFill>
              <a:srgbClr val="3A3A3C"/>
            </a:solidFill>
            <a:prstDash val="solid"/>
          </a:ln>
          <a:effectLst>
            <a:outerShdw sx="100000" sy="100000" kx="0" ky="0" algn="bl" rotWithShape="0" blurRad="127000" dist="38100" dir="5400000">
              <a:srgbClr val="000000">
                <a:alpha val="22000"/>
              </a:srgbClr>
            </a:outerShdw>
          </a:effectLst>
        </p:spPr>
      </p:sp>
      <p:pic>
        <p:nvPicPr>
          <p:cNvPr id="29" name="Image 3" descr="Roles page with the permission table per instrument and event">    </p:cNvPr>
          <p:cNvPicPr>
            <a:picLocks noChangeAspect="1"/>
          </p:cNvPicPr>
          <p:nvPr/>
        </p:nvPicPr>
        <p:blipFill>
          <a:blip r:embed="rId4"/>
          <a:stretch>
            <a:fillRect/>
          </a:stretch>
        </p:blipFill>
        <p:spPr>
          <a:xfrm>
            <a:off x="6698894" y="1596542"/>
            <a:ext cx="4762195" cy="3571646"/>
          </a:xfrm>
          <a:prstGeom prst="rect">
            <a:avLst/>
          </a:prstGeom>
        </p:spPr>
      </p:pic>
      <p:sp>
        <p:nvSpPr>
          <p:cNvPr id="30" name="Shape 24"/>
          <p:cNvSpPr/>
          <p:nvPr/>
        </p:nvSpPr>
        <p:spPr>
          <a:xfrm>
            <a:off x="9052560" y="1479499"/>
            <a:ext cx="54864" cy="54864"/>
          </a:xfrm>
          <a:prstGeom prst="ellipse">
            <a:avLst/>
          </a:prstGeom>
          <a:solidFill>
            <a:srgbClr val="48484A"/>
          </a:solidFill>
          <a:ln w="12700">
            <a:solidFill>
              <a:srgbClr val="48484A"/>
            </a:solidFill>
            <a:prstDash val="solid"/>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latin typeface="Helvetica Neue"/>
                <a:ea typeface="Helvetica Neue"/>
                <a:cs typeface="Helvetica Neue"/>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731520" y="640080"/>
            <a:ext cx="10058400" cy="822960"/>
          </a:xfrm>
          <a:prstGeom prst="rect">
            <a:avLst/>
          </a:prstGeom>
          <a:noFill/>
          <a:ln/>
        </p:spPr>
        <p:txBody>
          <a:bodyPr wrap="square" lIns="0" tIns="0" rIns="0" bIns="0" rtlCol="0" anchor="ctr"/>
          <a:lstStyle/>
          <a:p>
            <a:pPr indent="0" marL="0">
              <a:buNone/>
            </a:pPr>
            <a:r>
              <a:rPr lang="en-US" sz="4000" b="1" dirty="0">
                <a:solidFill>
                  <a:srgbClr val="FFFFFF"/>
                </a:solidFill>
                <a:latin typeface="Avenir Next" pitchFamily="34" charset="0"/>
                <a:ea typeface="Avenir Next" pitchFamily="34" charset="-122"/>
                <a:cs typeface="Avenir Next" pitchFamily="34" charset="-120"/>
              </a:rPr>
              <a:t>In short</a:t>
            </a:r>
            <a:endParaRPr lang="en-US" sz="4000" dirty="0"/>
          </a:p>
        </p:txBody>
      </p:sp>
      <p:sp>
        <p:nvSpPr>
          <p:cNvPr id="3" name="Text 1"/>
          <p:cNvSpPr txBox="1"/>
          <p:nvPr/>
        </p:nvSpPr>
        <p:spPr>
          <a:xfrm>
            <a:off x="731520" y="1783080"/>
            <a:ext cx="914400" cy="685800"/>
          </a:xfrm>
          <a:prstGeom prst="rect">
            <a:avLst/>
          </a:prstGeom>
          <a:noFill/>
          <a:ln/>
        </p:spPr>
        <p:txBody>
          <a:bodyPr wrap="square" lIns="0" tIns="0" rIns="0" bIns="0" rtlCol="0" anchor="t"/>
          <a:lstStyle/>
          <a:p>
            <a:pPr indent="0" marL="0">
              <a:buNone/>
            </a:pPr>
            <a:r>
              <a:rPr lang="en-US" sz="4000" b="1" dirty="0">
                <a:solidFill>
                  <a:srgbClr val="F2A93B"/>
                </a:solidFill>
                <a:latin typeface="Avenir Next" pitchFamily="34" charset="0"/>
                <a:ea typeface="Avenir Next" pitchFamily="34" charset="-122"/>
                <a:cs typeface="Avenir Next" pitchFamily="34" charset="-120"/>
              </a:rPr>
              <a:t>1</a:t>
            </a:r>
            <a:endParaRPr lang="en-US" sz="4000" dirty="0"/>
          </a:p>
        </p:txBody>
      </p:sp>
      <p:sp>
        <p:nvSpPr>
          <p:cNvPr id="4" name="Text 2"/>
          <p:cNvSpPr txBox="1"/>
          <p:nvPr/>
        </p:nvSpPr>
        <p:spPr>
          <a:xfrm>
            <a:off x="731520" y="2560320"/>
            <a:ext cx="3291840" cy="731520"/>
          </a:xfrm>
          <a:prstGeom prst="rect">
            <a:avLst/>
          </a:prstGeom>
          <a:noFill/>
          <a:ln/>
        </p:spPr>
        <p:txBody>
          <a:bodyPr wrap="square" lIns="0" tIns="0" rIns="0" bIns="0" rtlCol="0" anchor="t"/>
          <a:lstStyle/>
          <a:p>
            <a:pPr indent="0" marL="0">
              <a:buNone/>
            </a:pPr>
            <a:r>
              <a:rPr lang="en-US" sz="2000" b="1" dirty="0">
                <a:solidFill>
                  <a:srgbClr val="FFFFFF"/>
                </a:solidFill>
                <a:latin typeface="Avenir Next" pitchFamily="34" charset="0"/>
                <a:ea typeface="Avenir Next" pitchFamily="34" charset="-122"/>
                <a:cs typeface="Avenir Next" pitchFamily="34" charset="-120"/>
              </a:rPr>
              <a:t>FIONA keeps working</a:t>
            </a:r>
            <a:endParaRPr lang="en-US" sz="2000" dirty="0"/>
          </a:p>
        </p:txBody>
      </p:sp>
      <p:sp>
        <p:nvSpPr>
          <p:cNvPr id="5" name="Text 3"/>
          <p:cNvSpPr txBox="1"/>
          <p:nvPr/>
        </p:nvSpPr>
        <p:spPr>
          <a:xfrm>
            <a:off x="731520" y="3429000"/>
            <a:ext cx="3291840" cy="914400"/>
          </a:xfrm>
          <a:prstGeom prst="rect">
            <a:avLst/>
          </a:prstGeom>
          <a:noFill/>
          <a:ln/>
        </p:spPr>
        <p:txBody>
          <a:bodyPr wrap="square" lIns="0" tIns="0" rIns="0" bIns="0" rtlCol="0" anchor="t"/>
          <a:lstStyle/>
          <a:p>
            <a:pPr indent="0" marL="0">
              <a:buNone/>
            </a:pPr>
            <a:r>
              <a:rPr lang="en-US" sz="1600" dirty="0">
                <a:solidFill>
                  <a:srgbClr val="D6E2EC"/>
                </a:solidFill>
                <a:latin typeface="Helvetica Neue" pitchFamily="34" charset="0"/>
                <a:ea typeface="Helvetica Neue" pitchFamily="34" charset="-122"/>
                <a:cs typeface="Helvetica Neue" pitchFamily="34" charset="-120"/>
              </a:rPr>
              <a:t>CLARA speaks REDCap's language, so FIONA needs no change.</a:t>
            </a:r>
            <a:endParaRPr lang="en-US" sz="1600" dirty="0"/>
          </a:p>
        </p:txBody>
      </p:sp>
      <p:sp>
        <p:nvSpPr>
          <p:cNvPr id="6" name="Text 4"/>
          <p:cNvSpPr txBox="1"/>
          <p:nvPr/>
        </p:nvSpPr>
        <p:spPr>
          <a:xfrm>
            <a:off x="4480560" y="1783080"/>
            <a:ext cx="914400" cy="685800"/>
          </a:xfrm>
          <a:prstGeom prst="rect">
            <a:avLst/>
          </a:prstGeom>
          <a:noFill/>
          <a:ln/>
        </p:spPr>
        <p:txBody>
          <a:bodyPr wrap="square" lIns="0" tIns="0" rIns="0" bIns="0" rtlCol="0" anchor="t"/>
          <a:lstStyle/>
          <a:p>
            <a:pPr indent="0" marL="0">
              <a:buNone/>
            </a:pPr>
            <a:r>
              <a:rPr lang="en-US" sz="4000" b="1" dirty="0">
                <a:solidFill>
                  <a:srgbClr val="F2A93B"/>
                </a:solidFill>
                <a:latin typeface="Avenir Next" pitchFamily="34" charset="0"/>
                <a:ea typeface="Avenir Next" pitchFamily="34" charset="-122"/>
                <a:cs typeface="Avenir Next" pitchFamily="34" charset="-120"/>
              </a:rPr>
              <a:t>2</a:t>
            </a:r>
            <a:endParaRPr lang="en-US" sz="4000" dirty="0"/>
          </a:p>
        </p:txBody>
      </p:sp>
      <p:sp>
        <p:nvSpPr>
          <p:cNvPr id="7" name="Text 5"/>
          <p:cNvSpPr txBox="1"/>
          <p:nvPr/>
        </p:nvSpPr>
        <p:spPr>
          <a:xfrm>
            <a:off x="4480560" y="2560320"/>
            <a:ext cx="3291840" cy="731520"/>
          </a:xfrm>
          <a:prstGeom prst="rect">
            <a:avLst/>
          </a:prstGeom>
          <a:noFill/>
          <a:ln/>
        </p:spPr>
        <p:txBody>
          <a:bodyPr wrap="square" lIns="0" tIns="0" rIns="0" bIns="0" rtlCol="0" anchor="t"/>
          <a:lstStyle/>
          <a:p>
            <a:pPr indent="0" marL="0">
              <a:buNone/>
            </a:pPr>
            <a:r>
              <a:rPr lang="en-US" sz="2000" b="1" dirty="0">
                <a:solidFill>
                  <a:srgbClr val="FFFFFF"/>
                </a:solidFill>
                <a:latin typeface="Avenir Next" pitchFamily="34" charset="0"/>
                <a:ea typeface="Avenir Next" pitchFamily="34" charset="-122"/>
                <a:cs typeface="Avenir Next" pitchFamily="34" charset="-120"/>
              </a:rPr>
              <a:t>Every hospital signs in its own way</a:t>
            </a:r>
            <a:endParaRPr lang="en-US" sz="2000" dirty="0"/>
          </a:p>
        </p:txBody>
      </p:sp>
      <p:sp>
        <p:nvSpPr>
          <p:cNvPr id="8" name="Text 6"/>
          <p:cNvSpPr txBox="1"/>
          <p:nvPr/>
        </p:nvSpPr>
        <p:spPr>
          <a:xfrm>
            <a:off x="4480560" y="3429000"/>
            <a:ext cx="3291840" cy="914400"/>
          </a:xfrm>
          <a:prstGeom prst="rect">
            <a:avLst/>
          </a:prstGeom>
          <a:noFill/>
          <a:ln/>
        </p:spPr>
        <p:txBody>
          <a:bodyPr wrap="square" lIns="0" tIns="0" rIns="0" bIns="0" rtlCol="0" anchor="t"/>
          <a:lstStyle/>
          <a:p>
            <a:pPr indent="0" marL="0">
              <a:buNone/>
            </a:pPr>
            <a:r>
              <a:rPr lang="en-US" sz="1600" dirty="0">
                <a:solidFill>
                  <a:srgbClr val="D6E2EC"/>
                </a:solidFill>
                <a:latin typeface="Helvetica Neue" pitchFamily="34" charset="0"/>
                <a:ea typeface="Helvetica Neue" pitchFamily="34" charset="-122"/>
                <a:cs typeface="Helvetica Neue" pitchFamily="34" charset="-120"/>
              </a:rPr>
              <a:t>Hospital names connect each site to its own login service.</a:t>
            </a:r>
            <a:endParaRPr lang="en-US" sz="1600" dirty="0"/>
          </a:p>
        </p:txBody>
      </p:sp>
      <p:sp>
        <p:nvSpPr>
          <p:cNvPr id="9" name="Text 7"/>
          <p:cNvSpPr txBox="1"/>
          <p:nvPr/>
        </p:nvSpPr>
        <p:spPr>
          <a:xfrm>
            <a:off x="8229600" y="1783080"/>
            <a:ext cx="914400" cy="685800"/>
          </a:xfrm>
          <a:prstGeom prst="rect">
            <a:avLst/>
          </a:prstGeom>
          <a:noFill/>
          <a:ln/>
        </p:spPr>
        <p:txBody>
          <a:bodyPr wrap="square" lIns="0" tIns="0" rIns="0" bIns="0" rtlCol="0" anchor="t"/>
          <a:lstStyle/>
          <a:p>
            <a:pPr indent="0" marL="0">
              <a:buNone/>
            </a:pPr>
            <a:r>
              <a:rPr lang="en-US" sz="4000" b="1" dirty="0">
                <a:solidFill>
                  <a:srgbClr val="F2A93B"/>
                </a:solidFill>
                <a:latin typeface="Avenir Next" pitchFamily="34" charset="0"/>
                <a:ea typeface="Avenir Next" pitchFamily="34" charset="-122"/>
                <a:cs typeface="Avenir Next" pitchFamily="34" charset="-120"/>
              </a:rPr>
              <a:t>3</a:t>
            </a:r>
            <a:endParaRPr lang="en-US" sz="4000" dirty="0"/>
          </a:p>
        </p:txBody>
      </p:sp>
      <p:sp>
        <p:nvSpPr>
          <p:cNvPr id="10" name="Text 8"/>
          <p:cNvSpPr txBox="1"/>
          <p:nvPr/>
        </p:nvSpPr>
        <p:spPr>
          <a:xfrm>
            <a:off x="8229600" y="2560320"/>
            <a:ext cx="3291840" cy="731520"/>
          </a:xfrm>
          <a:prstGeom prst="rect">
            <a:avLst/>
          </a:prstGeom>
          <a:noFill/>
          <a:ln/>
        </p:spPr>
        <p:txBody>
          <a:bodyPr wrap="square" lIns="0" tIns="0" rIns="0" bIns="0" rtlCol="0" anchor="t"/>
          <a:lstStyle/>
          <a:p>
            <a:pPr indent="0" marL="0">
              <a:buNone/>
            </a:pPr>
            <a:r>
              <a:rPr lang="en-US" sz="2000" b="1" dirty="0">
                <a:solidFill>
                  <a:srgbClr val="FFFFFF"/>
                </a:solidFill>
                <a:latin typeface="Avenir Next" pitchFamily="34" charset="0"/>
                <a:ea typeface="Avenir Next" pitchFamily="34" charset="-122"/>
                <a:cs typeface="Avenir Next" pitchFamily="34" charset="-120"/>
              </a:rPr>
              <a:t>A complete tool for study teams</a:t>
            </a:r>
            <a:endParaRPr lang="en-US" sz="2000" dirty="0"/>
          </a:p>
        </p:txBody>
      </p:sp>
      <p:sp>
        <p:nvSpPr>
          <p:cNvPr id="11" name="Text 9"/>
          <p:cNvSpPr txBox="1"/>
          <p:nvPr/>
        </p:nvSpPr>
        <p:spPr>
          <a:xfrm>
            <a:off x="8229600" y="3429000"/>
            <a:ext cx="3291840" cy="914400"/>
          </a:xfrm>
          <a:prstGeom prst="rect">
            <a:avLst/>
          </a:prstGeom>
          <a:noFill/>
          <a:ln/>
        </p:spPr>
        <p:txBody>
          <a:bodyPr wrap="square" lIns="0" tIns="0" rIns="0" bIns="0" rtlCol="0" anchor="t"/>
          <a:lstStyle/>
          <a:p>
            <a:pPr indent="0" marL="0">
              <a:buNone/>
            </a:pPr>
            <a:r>
              <a:rPr lang="en-US" sz="1600" dirty="0">
                <a:solidFill>
                  <a:srgbClr val="D6E2EC"/>
                </a:solidFill>
                <a:latin typeface="Helvetica Neue" pitchFamily="34" charset="0"/>
                <a:ea typeface="Helvetica Neue" pitchFamily="34" charset="-122"/>
                <a:cs typeface="Helvetica Neue" pitchFamily="34" charset="-120"/>
              </a:rPr>
              <a:t>Design, collect, export and audit — with permissions per form and visit.</a:t>
            </a:r>
            <a:endParaRPr lang="en-US" sz="1600" dirty="0"/>
          </a:p>
        </p:txBody>
      </p:sp>
      <p:sp>
        <p:nvSpPr>
          <p:cNvPr id="12" name="Text 10"/>
          <p:cNvSpPr txBox="1"/>
          <p:nvPr/>
        </p:nvSpPr>
        <p:spPr>
          <a:xfrm>
            <a:off x="731520" y="4709160"/>
            <a:ext cx="10058400" cy="365760"/>
          </a:xfrm>
          <a:prstGeom prst="rect">
            <a:avLst/>
          </a:prstGeom>
          <a:noFill/>
          <a:ln/>
        </p:spPr>
        <p:txBody>
          <a:bodyPr wrap="square" lIns="0" tIns="0" rIns="0" bIns="0" rtlCol="0" anchor="t"/>
          <a:lstStyle/>
          <a:p>
            <a:pPr indent="0" marL="0">
              <a:buNone/>
            </a:pPr>
            <a:r>
              <a:rPr lang="en-US" sz="1800" b="1" dirty="0">
                <a:solidFill>
                  <a:srgbClr val="F2A93B"/>
                </a:solidFill>
                <a:latin typeface="Avenir Next" pitchFamily="34" charset="0"/>
                <a:ea typeface="Avenir Next" pitchFamily="34" charset="-122"/>
                <a:cs typeface="Avenir Next" pitchFamily="34" charset="-120"/>
              </a:rPr>
              <a:t>Next steps</a:t>
            </a:r>
            <a:endParaRPr lang="en-US" sz="1800" dirty="0"/>
          </a:p>
        </p:txBody>
      </p:sp>
      <p:sp>
        <p:nvSpPr>
          <p:cNvPr id="13" name="Text 11"/>
          <p:cNvSpPr txBox="1"/>
          <p:nvPr/>
        </p:nvSpPr>
        <p:spPr>
          <a:xfrm>
            <a:off x="731520" y="5120640"/>
            <a:ext cx="10698480" cy="731520"/>
          </a:xfrm>
          <a:prstGeom prst="rect">
            <a:avLst/>
          </a:prstGeom>
          <a:noFill/>
          <a:ln/>
        </p:spPr>
        <p:txBody>
          <a:bodyPr wrap="square" lIns="0" tIns="0" rIns="0" bIns="0" rtlCol="0" anchor="t"/>
          <a:lstStyle/>
          <a:p>
            <a:pPr indent="0" marL="0">
              <a:buNone/>
            </a:pPr>
            <a:r>
              <a:rPr lang="en-US" sz="1600" dirty="0">
                <a:solidFill>
                  <a:srgbClr val="D6E2EC"/>
                </a:solidFill>
                <a:latin typeface="Helvetica Neue" pitchFamily="34" charset="0"/>
                <a:ea typeface="Helvetica Neue" pitchFamily="34" charset="-122"/>
                <a:cs typeface="Helvetica Neue" pitchFamily="34" charset="-120"/>
              </a:rPr>
              <a:t>Configuration check  ·  Performance measurements  ·  Versioned upgrades  ·  Technical-debt list</a:t>
            </a:r>
            <a:endParaRPr lang="en-US" sz="1600" dirty="0"/>
          </a:p>
        </p:txBody>
      </p:sp>
      <p:sp>
        <p:nvSpPr>
          <p:cNvPr id="14" name="icon building-lighthouse"/>
          <p:cNvSpPr/>
          <p:nvPr/>
        </p:nvSpPr>
        <p:spPr>
          <a:xfrm>
            <a:off x="10744200" y="685800"/>
            <a:ext cx="731520" cy="731520"/>
          </a:xfrm>
          <a:prstGeom prst="ellipse">
            <a:avLst/>
          </a:prstGeom>
          <a:solidFill>
            <a:srgbClr val="F2A93B"/>
          </a:solidFill>
          <a:ln w="12700">
            <a:solidFill>
              <a:srgbClr val="F2A93B"/>
            </a:solidFill>
            <a:prstDash val="solid"/>
          </a:ln>
        </p:spPr>
      </p:sp>
      <p:pic>
        <p:nvPicPr>
          <p:cNvPr id="15" name="Image 0" descr="building lighthouse">    </p:cNvPr>
          <p:cNvPicPr>
            <a:picLocks noChangeAspect="1"/>
          </p:cNvPicPr>
          <p:nvPr/>
        </p:nvPicPr>
        <p:blipFill>
          <a:blip r:embed="rId1"/>
          <a:stretch>
            <a:fillRect/>
          </a:stretch>
        </p:blipFill>
        <p:spPr>
          <a:xfrm>
            <a:off x="10905134" y="846734"/>
            <a:ext cx="409651" cy="40965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venir N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CLARA — an introduction</dc:title>
  <dc:subject>Clinical Logbook for Automated Research Assistance</dc:subject>
  <dc:creator>CLARA project</dc:creator>
  <cp:lastModifiedBy>CLARA project</cp:lastModifiedBy>
  <cp:revision>1</cp:revision>
  <dcterms:created xsi:type="dcterms:W3CDTF">2026-10-13T13:12:34Z</dcterms:created>
  <dcterms:modified xsi:type="dcterms:W3CDTF">2026-10-13T13:12:34Z</dcterms:modified>
</cp:coreProperties>
</file>